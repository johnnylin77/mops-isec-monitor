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dPt>
            <c:idx val="2"/>
            <c:spPr>
              <a:solidFill>
                <a:srgbClr val="27A6C4"/>
              </a:solidFill>
            </c:spPr>
          </c:dPt>
          <c:dPt>
            <c:idx val="3"/>
            <c:spPr>
              <a:solidFill>
                <a:srgbClr val="5C6679"/>
              </a:solidFill>
            </c:spPr>
          </c:dPt>
          <c:cat>
            <c:strRef>
              <c:f>Sheet1!$A$2:$A$5</c:f>
              <c:strCache>
                <c:ptCount val="4"/>
                <c:pt idx="0">
                  <c:v>駭客攻擊</c:v>
                </c:pt>
                <c:pt idx="1">
                  <c:v>勒索病毒/加密</c:v>
                </c:pt>
                <c:pt idx="2">
                  <c:v>個資外洩</c:v>
                </c:pt>
                <c:pt idx="3">
                  <c:v>其他</c:v>
                </c:pt>
              </c:strCache>
            </c:strRef>
          </c:cat>
          <c:val>
            <c:numRef>
              <c:f>Sheet1!$B$2:$B$5</c:f>
              <c:numCache>
                <c:formatCode>General</c:formatCode>
                <c:ptCount val="4"/>
                <c:pt idx="0">
                  <c:v>7</c:v>
                </c:pt>
                <c:pt idx="1">
                  <c:v>3</c:v>
                </c:pt>
                <c:pt idx="2">
                  <c:v>1</c:v>
                </c:pt>
                <c:pt idx="3">
                  <c:v>1</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2026-08-30 ~ 2026-09-30　｜　MOPS 重大訊息全文檢索　｜　12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12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12</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4</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27432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274320">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評估對本公司營運、財務及服務提供無重大影響。</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09/29</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274320">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09/23</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09/18</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274320">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目前評估對公司所有業務均不受影響。</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經初步評估，核心資訊系統及營運業務運作皆維持正常，尚未發現公司及涉客…</a:t>
                      </a:r>
                    </a:p>
                  </a:txBody>
                  <a:tcPr anchor="ctr" marL="73152" marT="9144" marB="9144">
                    <a:solidFill>
                      <a:srgbClr val="EEF2F9"/>
                    </a:solidFill>
                  </a:tcPr>
                </a:tc>
              </a:tr>
              <a:tr h="274320">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09/14</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經初步評估，本次資安事件未影響公司工廠生產作業，生產活動均維持正常運…</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受影響系統非屬公司現行主要營運系統，亦非對外提供服務之系統，目前評估…</a:t>
                      </a:r>
                    </a:p>
                  </a:txBody>
                  <a:tcPr anchor="ctr" marL="73152" marT="9144" marB="9144">
                    <a:solidFill>
                      <a:srgbClr val="EEF2F9"/>
                    </a:solidFill>
                  </a:tcPr>
                </a:tc>
              </a:tr>
              <a:tr h="274320">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經初步評估，本事件目前尚未對本公司整體營運及財務造成重大影響。</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09/07</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EEF2F9"/>
                    </a:solidFill>
                  </a:tcPr>
                </a:tc>
              </a:tr>
              <a:tr h="274320">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09/02</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FFFFFF"/>
                    </a:solidFill>
                  </a:tcPr>
                </a:tc>
              </a:tr>
              <a:tr h="274320">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08/31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本公司目前正積極會同技術專家協助調查，初步評估對公司營運暫無重大影響…</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7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神腦、友訊、長榮航、長榮航太、達爾膚、大車隊、杭特</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3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崴寶、富爾特、創新服務</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1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柏文</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24" name="Rounded Rectangle 23"/>
          <p:cNvSpPr/>
          <p:nvPr/>
        </p:nvSpPr>
        <p:spPr>
          <a:xfrm>
            <a:off x="5669280" y="5669279"/>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69280" y="5669279"/>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97880" y="5779007"/>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7" name="TextBox 26"/>
          <p:cNvSpPr txBox="1"/>
          <p:nvPr/>
        </p:nvSpPr>
        <p:spPr>
          <a:xfrm>
            <a:off x="10058400" y="5779007"/>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1 起</a:t>
            </a:r>
          </a:p>
        </p:txBody>
      </p:sp>
      <p:sp>
        <p:nvSpPr>
          <p:cNvPr id="28" name="TextBox 27"/>
          <p:cNvSpPr txBox="1"/>
          <p:nvPr/>
        </p:nvSpPr>
        <p:spPr>
          <a:xfrm>
            <a:off x="5897880" y="617219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鈊象</a:t>
            </a:r>
          </a:p>
        </p:txBody>
      </p:sp>
      <p:sp>
        <p:nvSpPr>
          <p:cNvPr id="29" name="TextBox 28"/>
          <p:cNvSpPr txBox="1"/>
          <p:nvPr/>
        </p:nvSpPr>
        <p:spPr>
          <a:xfrm>
            <a:off x="5897880" y="643737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34465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344658">
                <a:tc>
                  <a:txBody>
                    <a:bodyPr/>
                    <a:lstStyle/>
                    <a:p>
                      <a:r>
                        <a:rPr sz="1150" b="0">
                          <a:solidFill>
                            <a:srgbClr val="1A2233"/>
                          </a:solidFill>
                          <a:latin typeface="Microsoft JhengHei"/>
                          <a:ea typeface="Microsoft JhengHei"/>
                          <a:cs typeface="Microsoft JhengHei"/>
                        </a:rPr>
                        <a:t>神腦</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2450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王銘義、林永智</a:t>
                      </a:r>
                    </a:p>
                  </a:txBody>
                  <a:tcPr anchor="ctr" marL="73152" marT="9144" marB="9144">
                    <a:solidFill>
                      <a:srgbClr val="FFFFFF"/>
                    </a:solidFill>
                  </a:tcPr>
                </a:tc>
              </a:tr>
              <a:tr h="344658">
                <a:tc>
                  <a:txBody>
                    <a:bodyPr/>
                    <a:lstStyle/>
                    <a:p>
                      <a:r>
                        <a:rPr sz="1150" b="0">
                          <a:solidFill>
                            <a:srgbClr val="1A2233"/>
                          </a:solidFill>
                          <a:latin typeface="Microsoft JhengHei"/>
                          <a:ea typeface="Microsoft JhengHei"/>
                          <a:cs typeface="Microsoft JhengHei"/>
                        </a:rPr>
                        <a:t>鈊象</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周仕杰、李東峰</a:t>
                      </a:r>
                    </a:p>
                  </a:txBody>
                  <a:tcPr anchor="ctr" marL="73152" marT="9144" marB="9144">
                    <a:solidFill>
                      <a:srgbClr val="EEF2F9"/>
                    </a:solidFill>
                  </a:tcPr>
                </a:tc>
              </a:tr>
              <a:tr h="344658">
                <a:tc>
                  <a:txBody>
                    <a:bodyPr/>
                    <a:lstStyle/>
                    <a:p>
                      <a:r>
                        <a:rPr sz="1150" b="0">
                          <a:solidFill>
                            <a:srgbClr val="1A2233"/>
                          </a:solidFill>
                          <a:latin typeface="Microsoft JhengHei"/>
                          <a:ea typeface="Microsoft JhengHei"/>
                          <a:cs typeface="Microsoft JhengHei"/>
                        </a:rPr>
                        <a:t>柏文</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8462</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陳政初、洪國森</a:t>
                      </a:r>
                    </a:p>
                  </a:txBody>
                  <a:tcPr anchor="ctr" marL="73152" marT="9144" marB="9144">
                    <a:solidFill>
                      <a:srgbClr val="FFFFFF"/>
                    </a:solidFill>
                  </a:tcPr>
                </a:tc>
              </a:tr>
              <a:tr h="344658">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梅元貞、謝秋華</a:t>
                      </a:r>
                    </a:p>
                  </a:txBody>
                  <a:tcPr anchor="ctr" marL="73152" marT="9144" marB="9144">
                    <a:solidFill>
                      <a:srgbClr val="EEF2F9"/>
                    </a:solidFill>
                  </a:tcPr>
                </a:tc>
              </a:tr>
              <a:tr h="344658">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陳雅琳、楊雲筑</a:t>
                      </a:r>
                    </a:p>
                  </a:txBody>
                  <a:tcPr anchor="ctr" marL="73152" marT="9144" marB="9144">
                    <a:solidFill>
                      <a:srgbClr val="FFFFFF"/>
                    </a:solidFill>
                  </a:tcPr>
                </a:tc>
              </a:tr>
              <a:tr h="344658">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陳雅琳、鄭博仁</a:t>
                      </a:r>
                    </a:p>
                  </a:txBody>
                  <a:tcPr anchor="ctr" marL="73152" marT="9144" marB="9144">
                    <a:solidFill>
                      <a:srgbClr val="EEF2F9"/>
                    </a:solidFill>
                  </a:tcPr>
                </a:tc>
              </a:tr>
              <a:tr h="344658">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黃宇廷、黃子評</a:t>
                      </a:r>
                    </a:p>
                  </a:txBody>
                  <a:tcPr anchor="ctr" marL="73152" marT="9144" marB="9144">
                    <a:solidFill>
                      <a:srgbClr val="FFFFFF"/>
                    </a:solidFill>
                  </a:tcPr>
                </a:tc>
              </a:tr>
              <a:tr h="344658">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于智帆、葉翠苗</a:t>
                      </a:r>
                    </a:p>
                  </a:txBody>
                  <a:tcPr anchor="ctr" marL="73152" marT="9144" marB="9144">
                    <a:solidFill>
                      <a:srgbClr val="EEF2F9"/>
                    </a:solidFill>
                  </a:tcPr>
                </a:tc>
              </a:tr>
              <a:tr h="344658">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支秉鈞、涂展源</a:t>
                      </a:r>
                    </a:p>
                  </a:txBody>
                  <a:tcPr anchor="ctr" marL="73152" marT="9144" marB="9144">
                    <a:solidFill>
                      <a:srgbClr val="FFFFFF"/>
                    </a:solidFill>
                  </a:tcPr>
                </a:tc>
              </a:tr>
              <a:tr h="344658">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許新民、余倩如</a:t>
                      </a:r>
                    </a:p>
                  </a:txBody>
                  <a:tcPr anchor="ctr" marL="73152" marT="9144" marB="9144">
                    <a:solidFill>
                      <a:srgbClr val="EEF2F9"/>
                    </a:solidFill>
                  </a:tcPr>
                </a:tc>
              </a:tr>
              <a:tr h="344658">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蔡欣怡、白淑蒨</a:t>
                      </a:r>
                    </a:p>
                  </a:txBody>
                  <a:tcPr anchor="ctr" marL="73152" marT="9144" marB="9144">
                    <a:solidFill>
                      <a:srgbClr val="FFFFFF"/>
                    </a:solidFill>
                  </a:tcPr>
                </a:tc>
              </a:tr>
              <a:tr h="344664">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陳憲正、林瑟凱</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神腦 </a:t>
            </a:r>
            <a:r>
              <a:rPr sz="1300" b="0">
                <a:solidFill>
                  <a:srgbClr val="5C6679"/>
                </a:solidFill>
                <a:latin typeface="Microsoft JhengHei"/>
                <a:ea typeface="Microsoft JhengHei"/>
                <a:cs typeface="Microsoft JhengHei"/>
              </a:rPr>
              <a:t>2450</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本公司外部伺服器遭受自動化攻擊事件說明。</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本公司已與第三方資安廠商合作，全面強化網路偵測、系統監控與安全管控，以確保資訊安全。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鈊象 </a:t>
            </a:r>
            <a:r>
              <a:rPr sz="1300" b="0">
                <a:solidFill>
                  <a:srgbClr val="5C6679"/>
                </a:solidFill>
                <a:latin typeface="Microsoft JhengHei"/>
                <a:ea typeface="Microsoft JhengHei"/>
                <a:cs typeface="Microsoft JhengHei"/>
              </a:rPr>
              <a:t>3293</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本公司於115年9月29日發現不明IP異常侵入公司營運資訊設備。</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持續提升資安防禦，強化監控與防護層級。</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柏文 </a:t>
            </a:r>
            <a:r>
              <a:rPr sz="1300" b="0">
                <a:solidFill>
                  <a:srgbClr val="5C6679"/>
                </a:solidFill>
                <a:latin typeface="Microsoft JhengHei"/>
                <a:ea typeface="Microsoft JhengHei"/>
                <a:cs typeface="Microsoft JhengHei"/>
              </a:rPr>
              <a:t>8462</a:t>
            </a:r>
          </a:p>
        </p:txBody>
      </p:sp>
      <p:sp>
        <p:nvSpPr>
          <p:cNvPr id="22" name="Rounded Rectangle 21"/>
          <p:cNvSpPr/>
          <p:nvPr/>
        </p:nvSpPr>
        <p:spPr>
          <a:xfrm>
            <a:off x="4526280" y="412394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本公司接獲系統委外廠商通知其對外服務系統遭自動化攻擊，並對客戶資料表分頁擷取，其中部分涉及本公司…</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本公司已要求系統委外廠商重新檢視造成資安疑慮因子並加以防範，同時持續針對系統委外廠商加強監控。</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友訊 </a:t>
            </a:r>
            <a:r>
              <a:rPr sz="1300" b="0">
                <a:solidFill>
                  <a:srgbClr val="5C6679"/>
                </a:solidFill>
                <a:latin typeface="Microsoft JhengHei"/>
                <a:ea typeface="Microsoft JhengHei"/>
                <a:cs typeface="Microsoft JhengHei"/>
              </a:rPr>
              <a:t>2332</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本公司網站監控中發現登入記錄異常，查知外部攻擊者利用既有登入機制，以大量帳號密碼進行網站登入驗證…</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(1)強化網站登入驗證、存取控制及異常行為偵測機制。(2)強化網頁應用程式防火牆，降低大量或異常登入嘗試之可行性。(3)…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 </a:t>
            </a:r>
            <a:r>
              <a:rPr sz="1300" b="0">
                <a:solidFill>
                  <a:srgbClr val="5C6679"/>
                </a:solidFill>
                <a:latin typeface="Microsoft JhengHei"/>
                <a:ea typeface="Microsoft JhengHei"/>
                <a:cs typeface="Microsoft JhengHei"/>
              </a:rPr>
              <a:t>2618</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本公司發現有不明人士透過惡意IP入侵本公司內部資訊環境，取得員工姓名與公務聯繫資訊。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本公司已重新檢視可能造成資安疑慮的因子並加以防範，同時持續加強監控。</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長榮航太 </a:t>
            </a:r>
            <a:r>
              <a:rPr sz="1300" b="0">
                <a:solidFill>
                  <a:srgbClr val="5C6679"/>
                </a:solidFill>
                <a:latin typeface="Microsoft JhengHei"/>
                <a:ea typeface="Microsoft JhengHei"/>
                <a:cs typeface="Microsoft JhengHei"/>
              </a:rPr>
              <a:t>2645</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本公司發現部分內部資訊系統遭受網路攻擊。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本公司將持續監控公司整體資訊系統運作狀況，並檢討強化現有資安防護措施，以確保資訊安全。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崴寶 </a:t>
            </a:r>
            <a:r>
              <a:rPr sz="1300" b="0">
                <a:solidFill>
                  <a:srgbClr val="5C6679"/>
                </a:solidFill>
                <a:latin typeface="Microsoft JhengHei"/>
                <a:ea typeface="Microsoft JhengHei"/>
                <a:cs typeface="Microsoft JhengHei"/>
              </a:rPr>
              <a:t>7744</a:t>
            </a:r>
          </a:p>
        </p:txBody>
      </p:sp>
      <p:sp>
        <p:nvSpPr>
          <p:cNvPr id="22" name="Rounded Rectangle 21"/>
          <p:cNvSpPr/>
          <p:nvPr/>
        </p:nvSpPr>
        <p:spPr>
          <a:xfrm>
            <a:off x="452628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本公司於115年9月14日上午發現資訊系統遭駭客入侵，部分系統資料遭加密鎖定。本公司立即啟動資安…</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本公司將持續配合專業資安團隊進行事件調查與監控，並加強資訊安全管理措施，包括提升端點防護機制、強化網路監控能力、落實帳號…</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達爾膚 </a:t>
            </a:r>
            <a:r>
              <a:rPr sz="1300" b="0">
                <a:solidFill>
                  <a:srgbClr val="5C6679"/>
                </a:solidFill>
                <a:latin typeface="Microsoft JhengHei"/>
                <a:ea typeface="Microsoft JhengHei"/>
                <a:cs typeface="Microsoft JhengHei"/>
              </a:rPr>
              <a:t>6523</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本公司部分內部資訊系統遭受網路攻擊事件，初步評估對公司營運無重大影響。</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本公司將持續強化網路與資訊基礎架構之安全管控，以確保資訊安全。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大車隊 </a:t>
            </a:r>
            <a:r>
              <a:rPr sz="1300" b="0">
                <a:solidFill>
                  <a:srgbClr val="5C6679"/>
                </a:solidFill>
                <a:latin typeface="Microsoft JhengHei"/>
                <a:ea typeface="Microsoft JhengHei"/>
                <a:cs typeface="Microsoft JhengHei"/>
              </a:rPr>
              <a:t>2640</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本公司重要子公司全球商務科技股份有限公司於今日發現部分資訊系統遭受網路攻擊，已立即啟動資安應變機…</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公司將持續進行資安鑑識、系統安全強化及相關風險控管作業，受影響系統預期可於短期內逐步恢復正常運作；後續如調查結果或事件發…</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富爾特 </a:t>
            </a:r>
            <a:r>
              <a:rPr sz="1300" b="0">
                <a:solidFill>
                  <a:srgbClr val="5C6679"/>
                </a:solidFill>
                <a:latin typeface="Microsoft JhengHei"/>
                <a:ea typeface="Microsoft JhengHei"/>
                <a:cs typeface="Microsoft JhengHei"/>
              </a:rPr>
              <a:t>6136</a:t>
            </a:r>
          </a:p>
        </p:txBody>
      </p:sp>
      <p:sp>
        <p:nvSpPr>
          <p:cNvPr id="15" name="Rounded Rectangle 14"/>
          <p:cNvSpPr/>
          <p:nvPr/>
        </p:nvSpPr>
        <p:spPr>
          <a:xfrm>
            <a:off x="1014984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本公司之子公司格帝控股股份有限公司偵測到部份伺服器遭受網路勒索病毒攻擊，致使包含ERP在內之部份…</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本公司及所屬子公司將持續密集監控，並強化網路與資訊基礎架構之管控，以確保資訊系統安全。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創新服務 </a:t>
            </a:r>
            <a:r>
              <a:rPr sz="1300" b="0">
                <a:solidFill>
                  <a:srgbClr val="5C6679"/>
                </a:solidFill>
                <a:latin typeface="Microsoft JhengHei"/>
                <a:ea typeface="Microsoft JhengHei"/>
                <a:cs typeface="Microsoft JhengHei"/>
              </a:rPr>
              <a:t>7828</a:t>
            </a:r>
          </a:p>
        </p:txBody>
      </p:sp>
      <p:sp>
        <p:nvSpPr>
          <p:cNvPr id="22" name="Rounded Rectangle 21"/>
          <p:cNvSpPr/>
          <p:nvPr/>
        </p:nvSpPr>
        <p:spPr>
          <a:xfrm>
            <a:off x="452628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本公司將持續密集監控，並強化網路與資訊基礎架構之管控，以確保資訊系統安全。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杭特 </a:t>
            </a:r>
            <a:r>
              <a:rPr sz="1300" b="0">
                <a:solidFill>
                  <a:srgbClr val="5C6679"/>
                </a:solidFill>
                <a:latin typeface="Microsoft JhengHei"/>
                <a:ea typeface="Microsoft JhengHei"/>
                <a:cs typeface="Microsoft JhengHei"/>
              </a:rPr>
              <a:t>3297</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本公司資訊系統遭受駭客網路攻擊，初步評估對公司營運暫無重大影響。</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