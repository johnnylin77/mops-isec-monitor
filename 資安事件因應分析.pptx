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dPt>
            <c:idx val="3"/>
            <c:spPr>
              <a:solidFill>
                <a:srgbClr val="5C6679"/>
              </a:solidFill>
            </c:spPr>
          </c:dPt>
          <c:cat>
            <c:strRef>
              <c:f>Sheet1!$A$2:$A$5</c:f>
              <c:strCache>
                <c:ptCount val="4"/>
                <c:pt idx="0">
                  <c:v>駭客攻擊</c:v>
                </c:pt>
                <c:pt idx="1">
                  <c:v>勒索病毒/加密</c:v>
                </c:pt>
                <c:pt idx="2">
                  <c:v>個資外洩</c:v>
                </c:pt>
                <c:pt idx="3">
                  <c:v>其他</c:v>
                </c:pt>
              </c:strCache>
            </c:strRef>
          </c:cat>
          <c:val>
            <c:numRef>
              <c:f>Sheet1!$B$2:$B$5</c:f>
              <c:numCache>
                <c:formatCode>General</c:formatCode>
                <c:ptCount val="4"/>
                <c:pt idx="0">
                  <c:v>6</c:v>
                </c:pt>
                <c:pt idx="1">
                  <c:v>1</c:v>
                </c:pt>
                <c:pt idx="2">
                  <c:v>4</c:v>
                </c:pt>
                <c:pt idx="3">
                  <c:v>4</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2026-09-09 ~ 2026-10-09　｜　MOPS 重大訊息全文檢索　｜　15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15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15</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4</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22885">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22885">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10/09</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目前公司整體系統與營運正常運作，對公司尚無重大影響。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目前評估沒有個資、亦沒有機密或重要文件資料外洩等情事發生，對本公司營…</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目前系統與營運正常運作，對公司尚無重大影響。相關影響仍持續評估中。</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10/01</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評估對本公司營運、財務及服務提供無重大影響。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目前評估對公司所有業務均不受影響。</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經初步評估，核心資訊系統及營運業務運作皆維持正常，尚未發現公司及涉客…</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FFFFFF"/>
                    </a:solidFill>
                  </a:tcPr>
                </a:tc>
              </a:tr>
              <a:tr h="222885">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EEF2F9"/>
                    </a:solidFill>
                  </a:tcPr>
                </a:tc>
              </a:tr>
              <a:tr h="222885">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6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神腦、友訊、長榮航、長榮航太、達爾膚、大車隊</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4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杏一、鈊象、安心、柏文</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24" name="Rounded Rectangle 23"/>
          <p:cNvSpPr/>
          <p:nvPr/>
        </p:nvSpPr>
        <p:spPr>
          <a:xfrm>
            <a:off x="5669280" y="5669279"/>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0" y="5669279"/>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5779007"/>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7" name="TextBox 26"/>
          <p:cNvSpPr txBox="1"/>
          <p:nvPr/>
        </p:nvSpPr>
        <p:spPr>
          <a:xfrm>
            <a:off x="10058400" y="5779007"/>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4 起</a:t>
            </a:r>
          </a:p>
        </p:txBody>
      </p:sp>
      <p:sp>
        <p:nvSpPr>
          <p:cNvPr id="28" name="TextBox 27"/>
          <p:cNvSpPr txBox="1"/>
          <p:nvPr/>
        </p:nvSpPr>
        <p:spPr>
          <a:xfrm>
            <a:off x="5897880" y="617219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緯致、上福、一零四、鈊象</a:t>
            </a:r>
          </a:p>
        </p:txBody>
      </p:sp>
      <p:sp>
        <p:nvSpPr>
          <p:cNvPr id="29" name="TextBox 28"/>
          <p:cNvSpPr txBox="1"/>
          <p:nvPr/>
        </p:nvSpPr>
        <p:spPr>
          <a:xfrm>
            <a:off x="5897880" y="643737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280035">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280035">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唐嘉鍵、楊雲筑</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池瑞全、蔡宗遠</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趙敏如、江家齊</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徐明釧、陳怡婷</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王銘義、林永智</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洪福讚、陳政初</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梅元貞、謝秋華</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陳雅琳、楊雲筑</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陳雅琳、鄭博仁</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FFFFFF"/>
                    </a:solidFill>
                  </a:tcPr>
                </a:tc>
              </a:tr>
              <a:tr h="280035">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EEF2F9"/>
                    </a:solidFill>
                  </a:tcPr>
                </a:tc>
              </a:tr>
              <a:tr h="280035">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緯致 </a:t>
            </a:r>
            <a:r>
              <a:rPr sz="1300" b="0">
                <a:solidFill>
                  <a:srgbClr val="5C6679"/>
                </a:solidFill>
                <a:latin typeface="Microsoft JhengHei"/>
                <a:ea typeface="Microsoft JhengHei"/>
                <a:cs typeface="Microsoft JhengHei"/>
              </a:rPr>
              <a:t>4953</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本公司偵測到內部系統有異常存取情形，經調查確認，部分員工資訊與公務聯繫資訊遭未經授權存取。</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本公司已採取相關防護、阻斷及修補措施，並持續強化資訊安全防護機制。</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KatunCorporation發現資訊安全異常事件，經調查發現部分資訊系統有異常存取行為。</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KatunCorporation將持續進行事件調查、鑑識分析及監控作業，並進一步強化資訊安全管理、遠端存取管控、網路安全…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杏一 </a:t>
            </a:r>
            <a:r>
              <a:rPr sz="1300" b="0">
                <a:solidFill>
                  <a:srgbClr val="5C6679"/>
                </a:solidFill>
                <a:latin typeface="Microsoft JhengHei"/>
                <a:ea typeface="Microsoft JhengHei"/>
                <a:cs typeface="Microsoft JhengHei"/>
              </a:rPr>
              <a:t>4175</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(1)本公司已立即啟動資安事件應變作業，針對相關系統、存取紀錄及可能涉及之資料範圍進行調查，並要求官網平台委外廠商同步進…</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本公司於115年9月29日發現不明IP異常侵入公司營運資訊設備，造成公司遊戲營運資料外洩，包含部…</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(1)持續提升資安防禦，強化監控與防護層級。(2)委由外部專業資安團隊協助事件調查，並於相關主機部署偵測及防護機制。(3…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一零四 </a:t>
            </a:r>
            <a:r>
              <a:rPr sz="1300" b="0">
                <a:solidFill>
                  <a:srgbClr val="5C6679"/>
                </a:solidFill>
                <a:latin typeface="Microsoft JhengHei"/>
                <a:ea typeface="Microsoft JhengHei"/>
                <a:cs typeface="Microsoft JhengHei"/>
              </a:rPr>
              <a:t>3130</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本公司偵測到APP系統有異常讀取情形，經調查確認，約12萬筆履歷資料遭未經授權讀取。</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本公司已採取相關防護及阻斷措施，並持續進行資安鑑識及強化資訊安全防護機制。本公司將依調查結果及相關法令辦理後續事宜，如有…</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安心 </a:t>
            </a:r>
            <a:r>
              <a:rPr sz="1300" b="0">
                <a:solidFill>
                  <a:srgbClr val="5C6679"/>
                </a:solidFill>
                <a:latin typeface="Microsoft JhengHei"/>
                <a:ea typeface="Microsoft JhengHei"/>
                <a:cs typeface="Microsoft JhengHei"/>
              </a:rPr>
              <a:t>1259</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消費者反應疑似個資外洩事件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本公司已立即針對本次資安事件啟動應變作業。需特別說明，本次疑似個資外洩事件之平台係由委外廠商管理，非屬本公司自有之MOS…</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神腦 </a:t>
            </a:r>
            <a:r>
              <a:rPr sz="1300" b="0">
                <a:solidFill>
                  <a:srgbClr val="5C6679"/>
                </a:solidFill>
                <a:latin typeface="Microsoft JhengHei"/>
                <a:ea typeface="Microsoft JhengHei"/>
                <a:cs typeface="Microsoft JhengHei"/>
              </a:rPr>
              <a:t>2450</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本公司外部伺服器遭受自動化攻擊事件說明。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本公司已與第三方資安廠商合作，全面強化網路偵測、系統監控與安全管控，以確保資訊安全。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持續提升資安防禦，強化監控與防護層級。</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本公司接獲系統委外廠商通知其對外服務系統遭自動化攻擊，並對客戶資料表分頁擷取，其中部分涉及本公司…</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本公司已要求系統委外廠商重新檢視造成資安疑慮因子並加以防範，同時持續針對系統委外廠商加強監控。</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友訊 </a:t>
            </a:r>
            <a:r>
              <a:rPr sz="1300" b="0">
                <a:solidFill>
                  <a:srgbClr val="5C6679"/>
                </a:solidFill>
                <a:latin typeface="Microsoft JhengHei"/>
                <a:ea typeface="Microsoft JhengHei"/>
                <a:cs typeface="Microsoft JhengHei"/>
              </a:rPr>
              <a:t>2332</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本公司網站監控中發現登入記錄異常，查知外部攻擊者利用既有登入機制，以大量帳號密碼進行網站登入驗證…</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(1)強化網站登入驗證、存取控制及異常行為偵測機制。(2)強化網頁應用程式防火牆，降低大量或異常登入嘗試之可行性。(3)…</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 </a:t>
            </a:r>
            <a:r>
              <a:rPr sz="1300" b="0">
                <a:solidFill>
                  <a:srgbClr val="5C6679"/>
                </a:solidFill>
                <a:latin typeface="Microsoft JhengHei"/>
                <a:ea typeface="Microsoft JhengHei"/>
                <a:cs typeface="Microsoft JhengHei"/>
              </a:rPr>
              <a:t>2618</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本公司發現有不明人士透過惡意IP入侵本公司內部資訊環境，取得員工姓名與公務聯繫資訊。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本公司已重新檢視可能造成資安疑慮的因子並加以防範，同時持續加強監控。</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長榮航太 </a:t>
            </a:r>
            <a:r>
              <a:rPr sz="1300" b="0">
                <a:solidFill>
                  <a:srgbClr val="5C6679"/>
                </a:solidFill>
                <a:latin typeface="Microsoft JhengHei"/>
                <a:ea typeface="Microsoft JhengHei"/>
                <a:cs typeface="Microsoft JhengHei"/>
              </a:rPr>
              <a:t>2645</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本公司發現部分內部資訊系統遭受網路攻擊。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本公司將持續監控公司整體資訊系統運作狀況，並檢討強化現有資安防護措施，以確保資訊安全。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個案因應重點（4）</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