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事件數</c:v>
                </c:pt>
              </c:strCache>
            </c:strRef>
          </c:tx>
          <c:dPt>
            <c:idx val="0"/>
            <c:spPr>
              <a:solidFill>
                <a:srgbClr val="E63946"/>
              </a:solidFill>
            </c:spPr>
          </c:dPt>
          <c:dPt>
            <c:idx val="1"/>
            <c:spPr>
              <a:solidFill>
                <a:srgbClr val="27A6C4"/>
              </a:solidFill>
            </c:spPr>
          </c:dPt>
          <c:dPt>
            <c:idx val="2"/>
            <c:spPr>
              <a:solidFill>
                <a:srgbClr val="5C6679"/>
              </a:solidFill>
            </c:spPr>
          </c:dPt>
          <c:cat>
            <c:strRef>
              <c:f>Sheet1!$A$2:$A$4</c:f>
              <c:strCache>
                <c:ptCount val="3"/>
                <c:pt idx="0">
                  <c:v>駭客攻擊</c:v>
                </c:pt>
                <c:pt idx="1">
                  <c:v>個資外洩</c:v>
                </c:pt>
                <c:pt idx="2">
                  <c:v>其他</c:v>
                </c:pt>
              </c:strCache>
            </c:strRef>
          </c:cat>
          <c:val>
            <c:numRef>
              <c:f>Sheet1!$B$2:$B$4</c:f>
              <c:numCache>
                <c:formatCode>General</c:formatCode>
                <c:ptCount val="3"/>
                <c:pt idx="0">
                  <c:v>4</c:v>
                </c:pt>
                <c:pt idx="1">
                  <c:v>1</c:v>
                </c:pt>
                <c:pt idx="2">
                  <c:v>3</c:v>
                </c:pt>
              </c:numCache>
            </c:numRef>
          </c:val>
        </c:ser>
        <c:dLbls>
          <c:numFmt formatCode="0" sourceLinked="0"/>
          <c:txPr>
            <a:bodyPr/>
            <a:lstStyle/>
            <a:p>
              <a:pPr>
                <a:defRPr sz="1300" b="1">
                  <a:solidFill>
                    <a:srgbClr val="FFFFFF"/>
                  </a:solidFill>
                </a:defRPr>
              </a:pPr>
            </a:p>
          </c:txPr>
          <c:showLegendKey val="0"/>
          <c:showVal val="0"/>
          <c:showCatName val="0"/>
          <c:showSerName val="0"/>
          <c:showPercent val="0"/>
          <c:showBubbleSize val="0"/>
          <c:showLeaderLines val="1"/>
        </c:dLbls>
        <c:firstSliceAng val="0"/>
        <c:holeSize val="50"/>
      </c:doughnutChart>
    </c:plotArea>
    <c:legend>
      <c:legendPos val="b"/>
      <c:layout/>
      <c:overlay val="0"/>
      <c:txPr>
        <a:bodyPr/>
        <a:lstStyle/>
        <a:p>
          <a:pPr>
            <a:defRPr sz="1200">
              <a:latin typeface="Microsoft JhengHei"/>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097280"/>
            <a:ext cx="3291840" cy="329184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155680" y="4754880"/>
            <a:ext cx="2560320" cy="2560320"/>
          </a:xfrm>
          <a:prstGeom prst="ellipse">
            <a:avLst/>
          </a:prstGeom>
          <a:solidFill>
            <a:srgbClr val="1E2D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868680"/>
            <a:ext cx="457200" cy="4572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80160" y="868680"/>
            <a:ext cx="4572000" cy="457200"/>
          </a:xfrm>
          <a:prstGeom prst="rect">
            <a:avLst/>
          </a:prstGeom>
          <a:noFill/>
        </p:spPr>
        <p:txBody>
          <a:bodyPr wrap="square" anchor="ctr" lIns="0" rIns="0" tIns="0" bIns="0">
            <a:spAutoFit/>
          </a:bodyPr>
          <a:lstStyle/>
          <a:p>
            <a:pPr algn="l"/>
            <a:r>
              <a:rPr sz="1400" b="1">
                <a:solidFill>
                  <a:srgbClr val="2EC4B6"/>
                </a:solidFill>
                <a:latin typeface="Microsoft JhengHei"/>
                <a:ea typeface="Microsoft JhengHei"/>
                <a:cs typeface="Microsoft JhengHei"/>
              </a:rPr>
              <a:t>資安重訊分析</a:t>
            </a:r>
          </a:p>
        </p:txBody>
      </p:sp>
      <p:sp>
        <p:nvSpPr>
          <p:cNvPr id="7" name="TextBox 6"/>
          <p:cNvSpPr txBox="1"/>
          <p:nvPr/>
        </p:nvSpPr>
        <p:spPr>
          <a:xfrm>
            <a:off x="640080" y="1828800"/>
            <a:ext cx="10515600" cy="2011680"/>
          </a:xfrm>
          <a:prstGeom prst="rect">
            <a:avLst/>
          </a:prstGeom>
          <a:noFill/>
        </p:spPr>
        <p:txBody>
          <a:bodyPr wrap="square" anchor="t" lIns="0" rIns="0" tIns="0" bIns="0">
            <a:spAutoFit/>
          </a:bodyPr>
          <a:lstStyle/>
          <a:p>
            <a:pPr algn="l">
              <a:lnSpc>
                <a:spcPts val="5400"/>
              </a:lnSpc>
            </a:pPr>
            <a:r>
              <a:rPr sz="4400" b="1">
                <a:solidFill>
                  <a:srgbClr val="FFFFFF"/>
                </a:solidFill>
                <a:latin typeface="Microsoft JhengHei"/>
                <a:ea typeface="Microsoft JhengHei"/>
                <a:cs typeface="Microsoft JhengHei"/>
              </a:rPr>
              <a:t>上市櫃公司
資安事件因應分析</a:t>
            </a:r>
          </a:p>
        </p:txBody>
      </p:sp>
      <p:sp>
        <p:nvSpPr>
          <p:cNvPr id="8" name="TextBox 7"/>
          <p:cNvSpPr txBox="1"/>
          <p:nvPr/>
        </p:nvSpPr>
        <p:spPr>
          <a:xfrm>
            <a:off x="658368" y="4114800"/>
            <a:ext cx="10515600" cy="457200"/>
          </a:xfrm>
          <a:prstGeom prst="rect">
            <a:avLst/>
          </a:prstGeom>
          <a:noFill/>
        </p:spPr>
        <p:txBody>
          <a:bodyPr wrap="square" anchor="t" lIns="0" rIns="0" tIns="0" bIns="0">
            <a:spAutoFit/>
          </a:bodyPr>
          <a:lstStyle/>
          <a:p>
            <a:pPr algn="l"/>
            <a:r>
              <a:rPr sz="1600" b="0">
                <a:solidFill>
                  <a:srgbClr val="CADCFC"/>
                </a:solidFill>
                <a:latin typeface="Microsoft JhengHei"/>
                <a:ea typeface="Microsoft JhengHei"/>
                <a:cs typeface="Microsoft JhengHei"/>
              </a:rPr>
              <a:t>資料期間 2026-06-28 ~ 2026-07-28　｜　MOPS 重大訊息全文檢索　｜　8 家公司</a:t>
            </a:r>
          </a:p>
        </p:txBody>
      </p:sp>
      <p:sp>
        <p:nvSpPr>
          <p:cNvPr id="9" name="Rectangle 8"/>
          <p:cNvSpPr/>
          <p:nvPr/>
        </p:nvSpPr>
        <p:spPr>
          <a:xfrm>
            <a:off x="685800" y="4709160"/>
            <a:ext cx="2926080" cy="36576"/>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126480"/>
            <a:ext cx="10058400" cy="365760"/>
          </a:xfrm>
          <a:prstGeom prst="rect">
            <a:avLst/>
          </a:prstGeom>
          <a:noFill/>
        </p:spPr>
        <p:txBody>
          <a:bodyPr wrap="square" anchor="t" lIns="0" rIns="0" tIns="0" bIns="0">
            <a:spAutoFit/>
          </a:bodyPr>
          <a:lstStyle/>
          <a:p>
            <a:pPr algn="l"/>
            <a:r>
              <a:rPr sz="1100" b="0">
                <a:solidFill>
                  <a:srgbClr val="8893AD"/>
                </a:solidFill>
                <a:latin typeface="Microsoft JhengHei"/>
                <a:ea typeface="Microsoft JhengHei"/>
                <a:cs typeface="Microsoft JhengHei"/>
              </a:rPr>
              <a:t>資料來源：台灣證券交易所公開資訊觀測站（mopsov.twse.com.tw）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事件總覽</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資料期間內 MOPS 揭露之 8 起資安相關重大訊息</a:t>
            </a:r>
          </a:p>
        </p:txBody>
      </p:sp>
      <p:sp>
        <p:nvSpPr>
          <p:cNvPr id="5" name="Rounded Rectangle 4"/>
          <p:cNvSpPr/>
          <p:nvPr/>
        </p:nvSpPr>
        <p:spPr>
          <a:xfrm>
            <a:off x="54864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17904"/>
            <a:ext cx="1965960" cy="548640"/>
          </a:xfrm>
          <a:prstGeom prst="rect">
            <a:avLst/>
          </a:prstGeom>
          <a:noFill/>
        </p:spPr>
        <p:txBody>
          <a:bodyPr wrap="square" anchor="ctr" lIns="0" rIns="0" tIns="0" bIns="0">
            <a:spAutoFit/>
          </a:bodyPr>
          <a:lstStyle/>
          <a:p>
            <a:pPr algn="ctr"/>
            <a:r>
              <a:rPr sz="2700" b="1">
                <a:solidFill>
                  <a:srgbClr val="2EC4B6"/>
                </a:solidFill>
                <a:latin typeface="Microsoft JhengHei"/>
                <a:ea typeface="Microsoft JhengHei"/>
                <a:cs typeface="Microsoft JhengHei"/>
              </a:rPr>
              <a:t>8</a:t>
            </a:r>
          </a:p>
        </p:txBody>
      </p:sp>
      <p:sp>
        <p:nvSpPr>
          <p:cNvPr id="7" name="TextBox 6"/>
          <p:cNvSpPr txBox="1"/>
          <p:nvPr/>
        </p:nvSpPr>
        <p:spPr>
          <a:xfrm>
            <a:off x="54864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起資安事件</a:t>
            </a:r>
          </a:p>
        </p:txBody>
      </p:sp>
      <p:sp>
        <p:nvSpPr>
          <p:cNvPr id="8" name="Rounded Rectangle 7"/>
          <p:cNvSpPr/>
          <p:nvPr/>
        </p:nvSpPr>
        <p:spPr>
          <a:xfrm>
            <a:off x="2743200"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743200" y="1517904"/>
            <a:ext cx="1965960" cy="548640"/>
          </a:xfrm>
          <a:prstGeom prst="rect">
            <a:avLst/>
          </a:prstGeom>
          <a:noFill/>
        </p:spPr>
        <p:txBody>
          <a:bodyPr wrap="square" anchor="ctr" lIns="0" rIns="0" tIns="0" bIns="0">
            <a:spAutoFit/>
          </a:bodyPr>
          <a:lstStyle/>
          <a:p>
            <a:pPr algn="ctr"/>
            <a:r>
              <a:rPr sz="2700" b="1">
                <a:solidFill>
                  <a:srgbClr val="27A6C4"/>
                </a:solidFill>
                <a:latin typeface="Microsoft JhengHei"/>
                <a:ea typeface="Microsoft JhengHei"/>
                <a:cs typeface="Microsoft JhengHei"/>
              </a:rPr>
              <a:t>3</a:t>
            </a:r>
          </a:p>
        </p:txBody>
      </p:sp>
      <p:sp>
        <p:nvSpPr>
          <p:cNvPr id="10" name="TextBox 9"/>
          <p:cNvSpPr txBox="1"/>
          <p:nvPr/>
        </p:nvSpPr>
        <p:spPr>
          <a:xfrm>
            <a:off x="2743200"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大事件類型</a:t>
            </a:r>
          </a:p>
        </p:txBody>
      </p:sp>
      <p:sp>
        <p:nvSpPr>
          <p:cNvPr id="11" name="Rounded Rectangle 10"/>
          <p:cNvSpPr/>
          <p:nvPr/>
        </p:nvSpPr>
        <p:spPr>
          <a:xfrm>
            <a:off x="4937759" y="1463040"/>
            <a:ext cx="1965960" cy="96012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937759" y="1517904"/>
            <a:ext cx="1965960" cy="548640"/>
          </a:xfrm>
          <a:prstGeom prst="rect">
            <a:avLst/>
          </a:prstGeom>
          <a:noFill/>
        </p:spPr>
        <p:txBody>
          <a:bodyPr wrap="square" anchor="ctr" lIns="0" rIns="0" tIns="0" bIns="0">
            <a:spAutoFit/>
          </a:bodyPr>
          <a:lstStyle/>
          <a:p>
            <a:pPr algn="ctr"/>
            <a:r>
              <a:rPr sz="2700" b="1">
                <a:solidFill>
                  <a:srgbClr val="E63946"/>
                </a:solidFill>
                <a:latin typeface="Microsoft JhengHei"/>
                <a:ea typeface="Microsoft JhengHei"/>
                <a:cs typeface="Microsoft JhengHei"/>
              </a:rPr>
              <a:t>第26款</a:t>
            </a:r>
          </a:p>
        </p:txBody>
      </p:sp>
      <p:sp>
        <p:nvSpPr>
          <p:cNvPr id="13" name="TextBox 12"/>
          <p:cNvSpPr txBox="1"/>
          <p:nvPr/>
        </p:nvSpPr>
        <p:spPr>
          <a:xfrm>
            <a:off x="4937759" y="2029968"/>
            <a:ext cx="1965960" cy="329184"/>
          </a:xfrm>
          <a:prstGeom prst="rect">
            <a:avLst/>
          </a:prstGeom>
          <a:noFill/>
        </p:spPr>
        <p:txBody>
          <a:bodyPr wrap="square" anchor="t" lIns="0" rIns="0" tIns="0" bIns="0">
            <a:spAutoFit/>
          </a:bodyPr>
          <a:lstStyle/>
          <a:p>
            <a:pPr algn="ctr"/>
            <a:r>
              <a:rPr sz="1150" b="0">
                <a:solidFill>
                  <a:srgbClr val="5C6679"/>
                </a:solidFill>
                <a:latin typeface="Microsoft JhengHei"/>
                <a:ea typeface="Microsoft JhengHei"/>
                <a:cs typeface="Microsoft JhengHei"/>
              </a:rPr>
              <a:t>資通安全事件</a:t>
            </a:r>
          </a:p>
        </p:txBody>
      </p:sp>
      <p:graphicFrame>
        <p:nvGraphicFramePr>
          <p:cNvPr id="14" name="Table 13"/>
          <p:cNvGraphicFramePr>
            <a:graphicFrameLocks noGrp="1"/>
          </p:cNvGraphicFramePr>
          <p:nvPr/>
        </p:nvGraphicFramePr>
        <p:xfrm>
          <a:off x="548640" y="2697480"/>
          <a:ext cx="11064240" cy="3456432"/>
        </p:xfrm>
        <a:graphic>
          <a:graphicData uri="http://schemas.openxmlformats.org/drawingml/2006/table">
            <a:tbl>
              <a:tblPr>
                <a:tableStyleId>{5C22544A-7EE6-4342-B048-85BDC9FD1C3A}</a:tableStyleId>
              </a:tblPr>
              <a:tblGrid>
                <a:gridCol w="1828800"/>
                <a:gridCol w="868680"/>
                <a:gridCol w="960120"/>
                <a:gridCol w="2286000"/>
                <a:gridCol w="5120640"/>
              </a:tblGrid>
              <a:tr h="384048">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事件日</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公司揭露之影響</a:t>
                      </a:r>
                    </a:p>
                  </a:txBody>
                  <a:tcPr anchor="ctr" marL="73152" marT="18288" marB="18288">
                    <a:solidFill>
                      <a:srgbClr val="14213D"/>
                    </a:solidFill>
                  </a:tcPr>
                </a:tc>
              </a:tr>
              <a:tr h="384048">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07/27</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對本公司財務或業務並無重大影響。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07/21</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07/20</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經評估對公司營運無重大影響。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07/17</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目前評估對公司營運無重大影響。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07/07</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本資訊網站已暫時停止服務，該事件對公司營運、資訊安全、個資等無重大影…</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07/02</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目前初步評估對公司運作無重大影響。</a:t>
                      </a:r>
                    </a:p>
                  </a:txBody>
                  <a:tcPr anchor="ctr" marL="73152" marT="9144" marB="9144">
                    <a:solidFill>
                      <a:srgbClr val="EEF2F9"/>
                    </a:solidFill>
                  </a:tcPr>
                </a:tc>
              </a:tr>
              <a:tr h="384048">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目前評估對公司營運尚無重大影響。</a:t>
                      </a:r>
                    </a:p>
                  </a:txBody>
                  <a:tcPr anchor="ctr" marL="73152" marT="9144" marB="9144">
                    <a:solidFill>
                      <a:srgbClr val="FFFFFF"/>
                    </a:solidFill>
                  </a:tcPr>
                </a:tc>
              </a:tr>
              <a:tr h="384048">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07/01</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a:t>
                      </a:r>
                    </a:p>
                  </a:txBody>
                  <a:tcPr anchor="ctr" marL="73152" marT="9144" marB="9144">
                    <a:solidFill>
                      <a:srgbClr val="EEF2F9"/>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事件類型分布</a:t>
            </a:r>
          </a:p>
        </p:txBody>
      </p:sp>
      <p:sp>
        <p:nvSpPr>
          <p:cNvPr id="4" name="TextBox 3"/>
          <p:cNvSpPr txBox="1"/>
          <p:nvPr/>
        </p:nvSpPr>
        <p:spPr>
          <a:xfrm>
            <a:off x="566928" y="1005840"/>
            <a:ext cx="91440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依公告主旨與內文關鍵字分類</a:t>
            </a:r>
          </a:p>
        </p:txBody>
      </p:sp>
      <p:graphicFrame>
        <p:nvGraphicFramePr>
          <p:cNvPr id="5" name="Chart 4"/>
          <p:cNvGraphicFramePr>
            <a:graphicFrameLocks noGrp="1"/>
          </p:cNvGraphicFramePr>
          <p:nvPr/>
        </p:nvGraphicFramePr>
        <p:xfrm>
          <a:off x="457200" y="1554480"/>
          <a:ext cx="4754880" cy="4480560"/>
        </p:xfrm>
        <a:graphic>
          <a:graphicData uri="http://schemas.openxmlformats.org/drawingml/2006/chart">
            <c:chart xmlns:c="http://schemas.openxmlformats.org/drawingml/2006/chart" r:id="rId2"/>
          </a:graphicData>
        </a:graphic>
      </p:graphicFrame>
      <p:sp>
        <p:nvSpPr>
          <p:cNvPr id="6" name="Rounded Rectangle 5"/>
          <p:cNvSpPr/>
          <p:nvPr/>
        </p:nvSpPr>
        <p:spPr>
          <a:xfrm>
            <a:off x="5669280" y="169164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691640"/>
            <a:ext cx="109728" cy="1170432"/>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180136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駭客攻擊</a:t>
            </a:r>
          </a:p>
        </p:txBody>
      </p:sp>
      <p:sp>
        <p:nvSpPr>
          <p:cNvPr id="9" name="TextBox 8"/>
          <p:cNvSpPr txBox="1"/>
          <p:nvPr/>
        </p:nvSpPr>
        <p:spPr>
          <a:xfrm>
            <a:off x="10058400" y="1801368"/>
            <a:ext cx="1463040" cy="365760"/>
          </a:xfrm>
          <a:prstGeom prst="rect">
            <a:avLst/>
          </a:prstGeom>
          <a:noFill/>
        </p:spPr>
        <p:txBody>
          <a:bodyPr wrap="square" anchor="ctr" lIns="0" rIns="0" tIns="0" bIns="0">
            <a:spAutoFit/>
          </a:bodyPr>
          <a:lstStyle/>
          <a:p>
            <a:pPr algn="r"/>
            <a:r>
              <a:rPr sz="1800" b="1">
                <a:solidFill>
                  <a:srgbClr val="E63946"/>
                </a:solidFill>
                <a:latin typeface="Microsoft JhengHei"/>
                <a:ea typeface="Microsoft JhengHei"/>
                <a:cs typeface="Microsoft JhengHei"/>
              </a:rPr>
              <a:t>4 起</a:t>
            </a:r>
          </a:p>
        </p:txBody>
      </p:sp>
      <p:sp>
        <p:nvSpPr>
          <p:cNvPr id="10" name="TextBox 9"/>
          <p:cNvSpPr txBox="1"/>
          <p:nvPr/>
        </p:nvSpPr>
        <p:spPr>
          <a:xfrm>
            <a:off x="5897880" y="219456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松上、優盛、麗清、網家</a:t>
            </a:r>
          </a:p>
        </p:txBody>
      </p:sp>
      <p:sp>
        <p:nvSpPr>
          <p:cNvPr id="11" name="TextBox 10"/>
          <p:cNvSpPr txBox="1"/>
          <p:nvPr/>
        </p:nvSpPr>
        <p:spPr>
          <a:xfrm>
            <a:off x="5897880" y="245973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系統遭外部入侵或企圖登入，立即啟動防禦機制</a:t>
            </a:r>
          </a:p>
        </p:txBody>
      </p:sp>
      <p:sp>
        <p:nvSpPr>
          <p:cNvPr id="12" name="Rounded Rectangle 11"/>
          <p:cNvSpPr/>
          <p:nvPr/>
        </p:nvSpPr>
        <p:spPr>
          <a:xfrm>
            <a:off x="5669280" y="301752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0" y="3017520"/>
            <a:ext cx="109728" cy="1170432"/>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312724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個資外洩</a:t>
            </a:r>
          </a:p>
        </p:txBody>
      </p:sp>
      <p:sp>
        <p:nvSpPr>
          <p:cNvPr id="15" name="TextBox 14"/>
          <p:cNvSpPr txBox="1"/>
          <p:nvPr/>
        </p:nvSpPr>
        <p:spPr>
          <a:xfrm>
            <a:off x="10058400" y="3127248"/>
            <a:ext cx="1463040" cy="365760"/>
          </a:xfrm>
          <a:prstGeom prst="rect">
            <a:avLst/>
          </a:prstGeom>
          <a:noFill/>
        </p:spPr>
        <p:txBody>
          <a:bodyPr wrap="square" anchor="ctr" lIns="0" rIns="0" tIns="0" bIns="0">
            <a:spAutoFit/>
          </a:bodyPr>
          <a:lstStyle/>
          <a:p>
            <a:pPr algn="r"/>
            <a:r>
              <a:rPr sz="1800" b="1">
                <a:solidFill>
                  <a:srgbClr val="27A6C4"/>
                </a:solidFill>
                <a:latin typeface="Microsoft JhengHei"/>
                <a:ea typeface="Microsoft JhengHei"/>
                <a:cs typeface="Microsoft JhengHei"/>
              </a:rPr>
              <a:t>1 起</a:t>
            </a:r>
          </a:p>
        </p:txBody>
      </p:sp>
      <p:sp>
        <p:nvSpPr>
          <p:cNvPr id="16" name="TextBox 15"/>
          <p:cNvSpPr txBox="1"/>
          <p:nvPr/>
        </p:nvSpPr>
        <p:spPr>
          <a:xfrm>
            <a:off x="5897880" y="3520439"/>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萬達寵物</a:t>
            </a:r>
          </a:p>
        </p:txBody>
      </p:sp>
      <p:sp>
        <p:nvSpPr>
          <p:cNvPr id="17" name="TextBox 16"/>
          <p:cNvSpPr txBox="1"/>
          <p:nvPr/>
        </p:nvSpPr>
        <p:spPr>
          <a:xfrm>
            <a:off x="5897880" y="3785615"/>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源自開發流程或委外廠商，須通報並通知當事人</a:t>
            </a:r>
          </a:p>
        </p:txBody>
      </p:sp>
      <p:sp>
        <p:nvSpPr>
          <p:cNvPr id="18" name="Rounded Rectangle 17"/>
          <p:cNvSpPr/>
          <p:nvPr/>
        </p:nvSpPr>
        <p:spPr>
          <a:xfrm>
            <a:off x="5669280" y="4343400"/>
            <a:ext cx="6035040" cy="1170432"/>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669280" y="4343400"/>
            <a:ext cx="109728" cy="1170432"/>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897880" y="4453128"/>
            <a:ext cx="420624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其他</a:t>
            </a:r>
          </a:p>
        </p:txBody>
      </p:sp>
      <p:sp>
        <p:nvSpPr>
          <p:cNvPr id="21" name="TextBox 20"/>
          <p:cNvSpPr txBox="1"/>
          <p:nvPr/>
        </p:nvSpPr>
        <p:spPr>
          <a:xfrm>
            <a:off x="10058400" y="4453128"/>
            <a:ext cx="1463040" cy="365760"/>
          </a:xfrm>
          <a:prstGeom prst="rect">
            <a:avLst/>
          </a:prstGeom>
          <a:noFill/>
        </p:spPr>
        <p:txBody>
          <a:bodyPr wrap="square" anchor="ctr" lIns="0" rIns="0" tIns="0" bIns="0">
            <a:spAutoFit/>
          </a:bodyPr>
          <a:lstStyle/>
          <a:p>
            <a:pPr algn="r"/>
            <a:r>
              <a:rPr sz="1800" b="1">
                <a:solidFill>
                  <a:srgbClr val="5C6679"/>
                </a:solidFill>
                <a:latin typeface="Microsoft JhengHei"/>
                <a:ea typeface="Microsoft JhengHei"/>
                <a:cs typeface="Microsoft JhengHei"/>
              </a:rPr>
              <a:t>3 起</a:t>
            </a:r>
          </a:p>
        </p:txBody>
      </p:sp>
      <p:sp>
        <p:nvSpPr>
          <p:cNvPr id="22" name="TextBox 21"/>
          <p:cNvSpPr txBox="1"/>
          <p:nvPr/>
        </p:nvSpPr>
        <p:spPr>
          <a:xfrm>
            <a:off x="5897880" y="4846320"/>
            <a:ext cx="5577840" cy="274320"/>
          </a:xfrm>
          <a:prstGeom prst="rect">
            <a:avLst/>
          </a:prstGeom>
          <a:noFill/>
        </p:spPr>
        <p:txBody>
          <a:bodyPr wrap="square" anchor="t" lIns="0" rIns="0" tIns="0" bIns="0">
            <a:spAutoFit/>
          </a:bodyPr>
          <a:lstStyle/>
          <a:p>
            <a:pPr algn="l"/>
            <a:r>
              <a:rPr sz="1150" b="1">
                <a:solidFill>
                  <a:srgbClr val="1A2233"/>
                </a:solidFill>
                <a:latin typeface="Microsoft JhengHei"/>
                <a:ea typeface="Microsoft JhengHei"/>
                <a:cs typeface="Microsoft JhengHei"/>
              </a:rPr>
              <a:t>淳安、淳安、GOGOLOOK</a:t>
            </a:r>
          </a:p>
        </p:txBody>
      </p:sp>
      <p:sp>
        <p:nvSpPr>
          <p:cNvPr id="23" name="TextBox 22"/>
          <p:cNvSpPr txBox="1"/>
          <p:nvPr/>
        </p:nvSpPr>
        <p:spPr>
          <a:xfrm>
            <a:off x="5897880" y="5111496"/>
            <a:ext cx="5669280" cy="329184"/>
          </a:xfrm>
          <a:prstGeom prst="rect">
            <a:avLst/>
          </a:prstGeom>
          <a:noFill/>
        </p:spPr>
        <p:txBody>
          <a:bodyPr wrap="square" anchor="t" lIns="0" rIns="0" tIns="0" bIns="0">
            <a:spAutoFit/>
          </a:bodyPr>
          <a:lstStyle/>
          <a:p>
            <a:pPr algn="l"/>
            <a:r>
              <a:rPr sz="1100" b="0">
                <a:solidFill>
                  <a:srgbClr val="5C6679"/>
                </a:solidFill>
                <a:latin typeface="Microsoft JhengHei"/>
                <a:ea typeface="Microsoft JhengHei"/>
                <a:cs typeface="Microsoft JhengHei"/>
              </a:rPr>
              <a:t>其他資安相關事件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簽證會計師一覽</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各公司目前之簽證會計師事務所與簽證會計師</a:t>
            </a:r>
          </a:p>
        </p:txBody>
      </p:sp>
      <p:graphicFrame>
        <p:nvGraphicFramePr>
          <p:cNvPr id="5" name="Table 4"/>
          <p:cNvGraphicFramePr>
            <a:graphicFrameLocks noGrp="1"/>
          </p:cNvGraphicFramePr>
          <p:nvPr/>
        </p:nvGraphicFramePr>
        <p:xfrm>
          <a:off x="548640" y="1600200"/>
          <a:ext cx="10789920" cy="4114800"/>
        </p:xfrm>
        <a:graphic>
          <a:graphicData uri="http://schemas.openxmlformats.org/drawingml/2006/table">
            <a:tbl>
              <a:tblPr>
                <a:tableStyleId>{5C22544A-7EE6-4342-B048-85BDC9FD1C3A}</a:tableStyleId>
              </a:tblPr>
              <a:tblGrid>
                <a:gridCol w="1828800"/>
                <a:gridCol w="868680"/>
                <a:gridCol w="2103120"/>
                <a:gridCol w="3383280"/>
                <a:gridCol w="2606040"/>
              </a:tblGrid>
              <a:tr h="457200">
                <a:tc>
                  <a:txBody>
                    <a:bodyPr/>
                    <a:lstStyle/>
                    <a:p>
                      <a:r>
                        <a:rPr sz="1250" b="1">
                          <a:solidFill>
                            <a:srgbClr val="FFFFFF"/>
                          </a:solidFill>
                          <a:latin typeface="Microsoft JhengHei"/>
                          <a:ea typeface="Microsoft JhengHei"/>
                          <a:cs typeface="Microsoft JhengHei"/>
                        </a:rPr>
                        <a:t>公司</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代號</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事件類型</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簽證會計師事務所</a:t>
                      </a:r>
                    </a:p>
                  </a:txBody>
                  <a:tcPr anchor="ctr" marL="73152" marT="18288" marB="18288">
                    <a:solidFill>
                      <a:srgbClr val="14213D"/>
                    </a:solidFill>
                  </a:tcPr>
                </a:tc>
                <a:tc>
                  <a:txBody>
                    <a:bodyPr/>
                    <a:lstStyle/>
                    <a:p>
                      <a:r>
                        <a:rPr sz="1250" b="1">
                          <a:solidFill>
                            <a:srgbClr val="FFFFFF"/>
                          </a:solidFill>
                          <a:latin typeface="Microsoft JhengHei"/>
                          <a:ea typeface="Microsoft JhengHei"/>
                          <a:cs typeface="Microsoft JhengHei"/>
                        </a:rPr>
                        <a:t>簽證會計師</a:t>
                      </a:r>
                    </a:p>
                  </a:txBody>
                  <a:tcPr anchor="ctr" marL="73152" marT="18288" marB="18288">
                    <a:solidFill>
                      <a:srgbClr val="14213D"/>
                    </a:solidFill>
                  </a:tcPr>
                </a:tc>
              </a:tr>
              <a:tr h="457200">
                <a:tc>
                  <a:txBody>
                    <a:bodyPr/>
                    <a:lstStyle/>
                    <a:p>
                      <a:r>
                        <a:rPr sz="1150" b="0">
                          <a:solidFill>
                            <a:srgbClr val="1A2233"/>
                          </a:solidFill>
                          <a:latin typeface="Microsoft JhengHei"/>
                          <a:ea typeface="Microsoft JhengHei"/>
                          <a:cs typeface="Microsoft JhengHei"/>
                        </a:rPr>
                        <a:t>萬達寵物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6968</a:t>
                      </a:r>
                    </a:p>
                  </a:txBody>
                  <a:tcPr anchor="ctr" marL="73152" marT="9144" marB="9144">
                    <a:solidFill>
                      <a:srgbClr val="FFFFFF"/>
                    </a:solidFill>
                  </a:tcPr>
                </a:tc>
                <a:tc>
                  <a:txBody>
                    <a:bodyPr/>
                    <a:lstStyle/>
                    <a:p>
                      <a:r>
                        <a:rPr sz="1150" b="1">
                          <a:solidFill>
                            <a:srgbClr val="27A6C4"/>
                          </a:solidFill>
                          <a:latin typeface="Microsoft JhengHei"/>
                          <a:ea typeface="Microsoft JhengHei"/>
                          <a:cs typeface="Microsoft JhengHei"/>
                        </a:rPr>
                        <a:t>個資外洩</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葉翠苗、黃世鈞</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EEF2F9"/>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淳安</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6283</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林永智、廖福銘</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松上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6156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安永聯合會計師事務所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羅筱靖、陳國帥</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優盛</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4121</a:t>
                      </a:r>
                    </a:p>
                  </a:txBody>
                  <a:tcPr anchor="ctr" marL="73152" marT="9144" marB="9144">
                    <a:solidFill>
                      <a:srgbClr val="FFFFFF"/>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安侯建業聯合會計師事務所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鄒依芸、毛聖崴</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麗清</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3346</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勤業眾信聯合會計師事務所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陳致源、黃堯麟</a:t>
                      </a:r>
                    </a:p>
                  </a:txBody>
                  <a:tcPr anchor="ctr" marL="73152" marT="9144" marB="9144">
                    <a:solidFill>
                      <a:srgbClr val="EEF2F9"/>
                    </a:solidFill>
                  </a:tcPr>
                </a:tc>
              </a:tr>
              <a:tr h="457200">
                <a:tc>
                  <a:txBody>
                    <a:bodyPr/>
                    <a:lstStyle/>
                    <a:p>
                      <a:r>
                        <a:rPr sz="1150" b="0">
                          <a:solidFill>
                            <a:srgbClr val="1A2233"/>
                          </a:solidFill>
                          <a:latin typeface="Microsoft JhengHei"/>
                          <a:ea typeface="Microsoft JhengHei"/>
                          <a:cs typeface="Microsoft JhengHei"/>
                        </a:rPr>
                        <a:t>GOGOLOOK</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6902</a:t>
                      </a:r>
                    </a:p>
                  </a:txBody>
                  <a:tcPr anchor="ctr" marL="73152" marT="9144" marB="9144">
                    <a:solidFill>
                      <a:srgbClr val="FFFFFF"/>
                    </a:solidFill>
                  </a:tcPr>
                </a:tc>
                <a:tc>
                  <a:txBody>
                    <a:bodyPr/>
                    <a:lstStyle/>
                    <a:p>
                      <a:r>
                        <a:rPr sz="1150" b="1">
                          <a:solidFill>
                            <a:srgbClr val="5C6679"/>
                          </a:solidFill>
                          <a:latin typeface="Microsoft JhengHei"/>
                          <a:ea typeface="Microsoft JhengHei"/>
                          <a:cs typeface="Microsoft JhengHei"/>
                        </a:rPr>
                        <a:t>其他</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FFFFFF"/>
                    </a:solidFill>
                  </a:tcPr>
                </a:tc>
                <a:tc>
                  <a:txBody>
                    <a:bodyPr/>
                    <a:lstStyle/>
                    <a:p>
                      <a:r>
                        <a:rPr sz="1150" b="0">
                          <a:solidFill>
                            <a:srgbClr val="1A2233"/>
                          </a:solidFill>
                          <a:latin typeface="Microsoft JhengHei"/>
                          <a:ea typeface="Microsoft JhengHei"/>
                          <a:cs typeface="Microsoft JhengHei"/>
                        </a:rPr>
                        <a:t>吳尚燉、王昱欣</a:t>
                      </a:r>
                    </a:p>
                  </a:txBody>
                  <a:tcPr anchor="ctr" marL="73152" marT="9144" marB="9144">
                    <a:solidFill>
                      <a:srgbClr val="FFFFFF"/>
                    </a:solidFill>
                  </a:tcPr>
                </a:tc>
              </a:tr>
              <a:tr h="457200">
                <a:tc>
                  <a:txBody>
                    <a:bodyPr/>
                    <a:lstStyle/>
                    <a:p>
                      <a:r>
                        <a:rPr sz="1150" b="0">
                          <a:solidFill>
                            <a:srgbClr val="1A2233"/>
                          </a:solidFill>
                          <a:latin typeface="Microsoft JhengHei"/>
                          <a:ea typeface="Microsoft JhengHei"/>
                          <a:cs typeface="Microsoft JhengHei"/>
                        </a:rPr>
                        <a:t>網家</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8044</a:t>
                      </a:r>
                    </a:p>
                  </a:txBody>
                  <a:tcPr anchor="ctr" marL="73152" marT="9144" marB="9144">
                    <a:solidFill>
                      <a:srgbClr val="EEF2F9"/>
                    </a:solidFill>
                  </a:tcPr>
                </a:tc>
                <a:tc>
                  <a:txBody>
                    <a:bodyPr/>
                    <a:lstStyle/>
                    <a:p>
                      <a:r>
                        <a:rPr sz="1150" b="1">
                          <a:solidFill>
                            <a:srgbClr val="E63946"/>
                          </a:solidFill>
                          <a:latin typeface="Microsoft JhengHei"/>
                          <a:ea typeface="Microsoft JhengHei"/>
                          <a:cs typeface="Microsoft JhengHei"/>
                        </a:rPr>
                        <a:t>駭客攻擊</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資誠聯合會計師事務所</a:t>
                      </a:r>
                    </a:p>
                  </a:txBody>
                  <a:tcPr anchor="ctr" marL="73152" marT="9144" marB="9144">
                    <a:solidFill>
                      <a:srgbClr val="EEF2F9"/>
                    </a:solidFill>
                  </a:tcPr>
                </a:tc>
                <a:tc>
                  <a:txBody>
                    <a:bodyPr/>
                    <a:lstStyle/>
                    <a:p>
                      <a:r>
                        <a:rPr sz="1150" b="0">
                          <a:solidFill>
                            <a:srgbClr val="1A2233"/>
                          </a:solidFill>
                          <a:latin typeface="Microsoft JhengHei"/>
                          <a:ea typeface="Microsoft JhengHei"/>
                          <a:cs typeface="Microsoft JhengHei"/>
                        </a:rPr>
                        <a:t>廖容翎、梁嬋女</a:t>
                      </a:r>
                    </a:p>
                  </a:txBody>
                  <a:tcPr anchor="ctr" marL="73152" marT="9144" marB="9144">
                    <a:solidFill>
                      <a:srgbClr val="EEF2F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82296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共通因應流程</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各公司處理過程高度一致，已形成標準應變劇本</a:t>
            </a:r>
          </a:p>
        </p:txBody>
      </p:sp>
      <p:sp>
        <p:nvSpPr>
          <p:cNvPr id="5" name="Rounded Rectangle 4"/>
          <p:cNvSpPr/>
          <p:nvPr/>
        </p:nvSpPr>
        <p:spPr>
          <a:xfrm>
            <a:off x="640080"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72768"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572768"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01</a:t>
            </a:r>
          </a:p>
        </p:txBody>
      </p:sp>
      <p:sp>
        <p:nvSpPr>
          <p:cNvPr id="8" name="TextBox 7"/>
          <p:cNvSpPr txBox="1"/>
          <p:nvPr/>
        </p:nvSpPr>
        <p:spPr>
          <a:xfrm>
            <a:off x="640080"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偵測異常</a:t>
            </a:r>
          </a:p>
        </p:txBody>
      </p:sp>
      <p:sp>
        <p:nvSpPr>
          <p:cNvPr id="9" name="TextBox 8"/>
          <p:cNvSpPr txBox="1"/>
          <p:nvPr/>
        </p:nvSpPr>
        <p:spPr>
          <a:xfrm>
            <a:off x="777240"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資安單位或外部通報
發現系統異常或入侵</a:t>
            </a:r>
          </a:p>
        </p:txBody>
      </p:sp>
      <p:sp>
        <p:nvSpPr>
          <p:cNvPr id="10" name="TextBox 9"/>
          <p:cNvSpPr txBox="1"/>
          <p:nvPr/>
        </p:nvSpPr>
        <p:spPr>
          <a:xfrm>
            <a:off x="3127248"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1" name="Rounded Rectangle 10"/>
          <p:cNvSpPr/>
          <p:nvPr/>
        </p:nvSpPr>
        <p:spPr>
          <a:xfrm>
            <a:off x="3447287"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79975"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79975"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02</a:t>
            </a:r>
          </a:p>
        </p:txBody>
      </p:sp>
      <p:sp>
        <p:nvSpPr>
          <p:cNvPr id="14" name="TextBox 13"/>
          <p:cNvSpPr txBox="1"/>
          <p:nvPr/>
        </p:nvSpPr>
        <p:spPr>
          <a:xfrm>
            <a:off x="3447287"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啟動應變</a:t>
            </a:r>
          </a:p>
        </p:txBody>
      </p:sp>
      <p:sp>
        <p:nvSpPr>
          <p:cNvPr id="15" name="TextBox 14"/>
          <p:cNvSpPr txBox="1"/>
          <p:nvPr/>
        </p:nvSpPr>
        <p:spPr>
          <a:xfrm>
            <a:off x="3584447"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立即啟動資安應變機制
系統隔離、防護強化</a:t>
            </a:r>
          </a:p>
        </p:txBody>
      </p:sp>
      <p:sp>
        <p:nvSpPr>
          <p:cNvPr id="16" name="TextBox 15"/>
          <p:cNvSpPr txBox="1"/>
          <p:nvPr/>
        </p:nvSpPr>
        <p:spPr>
          <a:xfrm>
            <a:off x="5934456"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17" name="Rounded Rectangle 16"/>
          <p:cNvSpPr/>
          <p:nvPr/>
        </p:nvSpPr>
        <p:spPr>
          <a:xfrm>
            <a:off x="6254496"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187183"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87183"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03</a:t>
            </a:r>
          </a:p>
        </p:txBody>
      </p:sp>
      <p:sp>
        <p:nvSpPr>
          <p:cNvPr id="20" name="TextBox 19"/>
          <p:cNvSpPr txBox="1"/>
          <p:nvPr/>
        </p:nvSpPr>
        <p:spPr>
          <a:xfrm>
            <a:off x="6254496"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外部協助</a:t>
            </a:r>
          </a:p>
        </p:txBody>
      </p:sp>
      <p:sp>
        <p:nvSpPr>
          <p:cNvPr id="21" name="TextBox 20"/>
          <p:cNvSpPr txBox="1"/>
          <p:nvPr/>
        </p:nvSpPr>
        <p:spPr>
          <a:xfrm>
            <a:off x="6391656"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委請外部資安專業團隊
鑑識調查與資料復原</a:t>
            </a:r>
          </a:p>
        </p:txBody>
      </p:sp>
      <p:sp>
        <p:nvSpPr>
          <p:cNvPr id="22" name="TextBox 21"/>
          <p:cNvSpPr txBox="1"/>
          <p:nvPr/>
        </p:nvSpPr>
        <p:spPr>
          <a:xfrm>
            <a:off x="8741664" y="1828800"/>
            <a:ext cx="365760" cy="2286000"/>
          </a:xfrm>
          <a:prstGeom prst="rect">
            <a:avLst/>
          </a:prstGeom>
          <a:noFill/>
        </p:spPr>
        <p:txBody>
          <a:bodyPr wrap="square" anchor="ctr" lIns="0" rIns="0" tIns="0" bIns="0">
            <a:spAutoFit/>
          </a:bodyPr>
          <a:lstStyle/>
          <a:p>
            <a:pPr algn="ctr"/>
            <a:r>
              <a:rPr sz="2800" b="1">
                <a:solidFill>
                  <a:srgbClr val="5C6679"/>
                </a:solidFill>
                <a:latin typeface="Microsoft JhengHei"/>
                <a:ea typeface="Microsoft JhengHei"/>
                <a:cs typeface="Microsoft JhengHei"/>
              </a:rPr>
              <a:t>›</a:t>
            </a:r>
          </a:p>
        </p:txBody>
      </p:sp>
      <p:sp>
        <p:nvSpPr>
          <p:cNvPr id="23" name="Rounded Rectangle 22"/>
          <p:cNvSpPr/>
          <p:nvPr/>
        </p:nvSpPr>
        <p:spPr>
          <a:xfrm>
            <a:off x="9061703" y="1828800"/>
            <a:ext cx="2514600" cy="2286000"/>
          </a:xfrm>
          <a:prstGeom prst="roundRect">
            <a:avLst/>
          </a:prstGeom>
          <a:solidFill>
            <a:srgbClr val="14213D"/>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994391" y="2057400"/>
            <a:ext cx="658368" cy="658368"/>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4391" y="2057400"/>
            <a:ext cx="658368" cy="658368"/>
          </a:xfrm>
          <a:prstGeom prst="rect">
            <a:avLst/>
          </a:prstGeom>
          <a:noFill/>
        </p:spPr>
        <p:txBody>
          <a:bodyPr wrap="square" anchor="ctr" lIns="0" rIns="0" tIns="0" bIns="0">
            <a:spAutoFit/>
          </a:bodyPr>
          <a:lstStyle/>
          <a:p>
            <a:pPr algn="ctr"/>
            <a:r>
              <a:rPr sz="1900" b="1">
                <a:solidFill>
                  <a:srgbClr val="14213D"/>
                </a:solidFill>
                <a:latin typeface="Microsoft JhengHei"/>
                <a:ea typeface="Microsoft JhengHei"/>
                <a:cs typeface="Microsoft JhengHei"/>
              </a:rPr>
              <a:t>04</a:t>
            </a:r>
          </a:p>
        </p:txBody>
      </p:sp>
      <p:sp>
        <p:nvSpPr>
          <p:cNvPr id="26" name="TextBox 25"/>
          <p:cNvSpPr txBox="1"/>
          <p:nvPr/>
        </p:nvSpPr>
        <p:spPr>
          <a:xfrm>
            <a:off x="9061703" y="2880360"/>
            <a:ext cx="2514600" cy="457200"/>
          </a:xfrm>
          <a:prstGeom prst="rect">
            <a:avLst/>
          </a:prstGeom>
          <a:noFill/>
        </p:spPr>
        <p:txBody>
          <a:bodyPr wrap="square" anchor="t" lIns="0" rIns="0" tIns="0" bIns="0">
            <a:spAutoFit/>
          </a:bodyPr>
          <a:lstStyle/>
          <a:p>
            <a:pPr algn="ctr"/>
            <a:r>
              <a:rPr sz="1800" b="1">
                <a:solidFill>
                  <a:srgbClr val="FFFFFF"/>
                </a:solidFill>
                <a:latin typeface="Microsoft JhengHei"/>
                <a:ea typeface="Microsoft JhengHei"/>
                <a:cs typeface="Microsoft JhengHei"/>
              </a:rPr>
              <a:t>強化監控</a:t>
            </a:r>
          </a:p>
        </p:txBody>
      </p:sp>
      <p:sp>
        <p:nvSpPr>
          <p:cNvPr id="27" name="TextBox 26"/>
          <p:cNvSpPr txBox="1"/>
          <p:nvPr/>
        </p:nvSpPr>
        <p:spPr>
          <a:xfrm>
            <a:off x="9198863" y="3364992"/>
            <a:ext cx="2240280" cy="685800"/>
          </a:xfrm>
          <a:prstGeom prst="rect">
            <a:avLst/>
          </a:prstGeom>
          <a:noFill/>
        </p:spPr>
        <p:txBody>
          <a:bodyPr wrap="square" anchor="t" lIns="0" rIns="0" tIns="0" bIns="0">
            <a:spAutoFit/>
          </a:bodyPr>
          <a:lstStyle/>
          <a:p>
            <a:pPr algn="ctr">
              <a:lnSpc>
                <a:spcPts val="1500"/>
              </a:lnSpc>
            </a:pPr>
            <a:r>
              <a:rPr sz="1150" b="0">
                <a:solidFill>
                  <a:srgbClr val="CADCFC"/>
                </a:solidFill>
                <a:latin typeface="Microsoft JhengHei"/>
                <a:ea typeface="Microsoft JhengHei"/>
                <a:cs typeface="Microsoft JhengHei"/>
              </a:rPr>
              <a:t>盤查系統、提升架構
持續密切監控防護</a:t>
            </a:r>
          </a:p>
        </p:txBody>
      </p:sp>
      <p:sp>
        <p:nvSpPr>
          <p:cNvPr id="28" name="Rounded Rectangle 27"/>
          <p:cNvSpPr/>
          <p:nvPr/>
        </p:nvSpPr>
        <p:spPr>
          <a:xfrm>
            <a:off x="640080" y="4572000"/>
            <a:ext cx="10881360" cy="1325880"/>
          </a:xfrm>
          <a:prstGeom prst="roundRect">
            <a:avLst/>
          </a:prstGeom>
          <a:solidFill>
            <a:srgbClr val="FF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4572000"/>
            <a:ext cx="109728" cy="1325880"/>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8680" y="4709160"/>
            <a:ext cx="10424160" cy="411480"/>
          </a:xfrm>
          <a:prstGeom prst="rect">
            <a:avLst/>
          </a:prstGeom>
          <a:noFill/>
        </p:spPr>
        <p:txBody>
          <a:bodyPr wrap="square" anchor="ctr" lIns="0" rIns="0" tIns="0" bIns="0">
            <a:spAutoFit/>
          </a:bodyPr>
          <a:lstStyle/>
          <a:p>
            <a:pPr algn="l"/>
            <a:r>
              <a:rPr sz="1500" b="1">
                <a:solidFill>
                  <a:srgbClr val="E63946"/>
                </a:solidFill>
                <a:latin typeface="Microsoft JhengHei"/>
                <a:ea typeface="Microsoft JhengHei"/>
                <a:cs typeface="Microsoft JhengHei"/>
              </a:rPr>
              <a:t>個資外洩事件額外步驟　</a:t>
            </a:r>
            <a:r>
              <a:rPr sz="1200" b="0">
                <a:solidFill>
                  <a:srgbClr val="5C6679"/>
                </a:solidFill>
                <a:latin typeface="Microsoft JhengHei"/>
                <a:ea typeface="Microsoft JhengHei"/>
                <a:cs typeface="Microsoft JhengHei"/>
              </a:rPr>
              <a:t>（依事件性質適用）</a:t>
            </a:r>
          </a:p>
        </p:txBody>
      </p:sp>
      <p:sp>
        <p:nvSpPr>
          <p:cNvPr id="31" name="TextBox 30"/>
          <p:cNvSpPr txBox="1"/>
          <p:nvPr/>
        </p:nvSpPr>
        <p:spPr>
          <a:xfrm>
            <a:off x="868680" y="5166360"/>
            <a:ext cx="10515600" cy="548640"/>
          </a:xfrm>
          <a:prstGeom prst="rect">
            <a:avLst/>
          </a:prstGeom>
          <a:noFill/>
        </p:spPr>
        <p:txBody>
          <a:bodyPr wrap="square" anchor="t" lIns="0" rIns="0" tIns="0" bIns="0">
            <a:spAutoFit/>
          </a:bodyPr>
          <a:lstStyle/>
          <a:p>
            <a:pPr algn="l">
              <a:lnSpc>
                <a:spcPts val="1600"/>
              </a:lnSpc>
            </a:pPr>
            <a:r>
              <a:rPr sz="1200" b="0">
                <a:solidFill>
                  <a:srgbClr val="1A2233"/>
                </a:solidFill>
                <a:latin typeface="Microsoft JhengHei"/>
                <a:ea typeface="Microsoft JhengHei"/>
                <a:cs typeface="Microsoft JhengHei"/>
              </a:rPr>
              <a:t>依法通報主管機關　•　主動通知受影響當事人並提供客服　•　向調查局報案　•　強化委外廠商與第三方工具管理</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個案因應重點（1）</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萬達寵物 </a:t>
            </a:r>
            <a:r>
              <a:rPr sz="1300" b="0">
                <a:solidFill>
                  <a:srgbClr val="5C6679"/>
                </a:solidFill>
                <a:latin typeface="Microsoft JhengHei"/>
                <a:ea typeface="Microsoft JhengHei"/>
                <a:cs typeface="Microsoft JhengHei"/>
              </a:rPr>
              <a:t>6968</a:t>
            </a:r>
          </a:p>
        </p:txBody>
      </p:sp>
      <p:sp>
        <p:nvSpPr>
          <p:cNvPr id="8" name="Rounded Rectangle 7"/>
          <p:cNvSpPr/>
          <p:nvPr/>
        </p:nvSpPr>
        <p:spPr>
          <a:xfrm>
            <a:off x="4526280" y="1792224"/>
            <a:ext cx="1234440" cy="347472"/>
          </a:xfrm>
          <a:prstGeom prst="roundRect">
            <a:avLst/>
          </a:prstGeom>
          <a:solidFill>
            <a:srgbClr val="27A6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個資外洩</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本公司因合作廠商資訊系統遭不明人士入侵，疑似部份資料外洩</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27A6C4"/>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本公司並無與合作廠商串接會員資料、信用卡號、銀行帳戶等敏感資訊，不會產生任何金流交易。本公司已嚴正要求合作廠商技術團隊，…</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15" name="Rounded Rectangle 14"/>
          <p:cNvSpPr/>
          <p:nvPr/>
        </p:nvSpPr>
        <p:spPr>
          <a:xfrm>
            <a:off x="10149840" y="179222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淳安 </a:t>
            </a:r>
            <a:r>
              <a:rPr sz="1300" b="0">
                <a:solidFill>
                  <a:srgbClr val="5C6679"/>
                </a:solidFill>
                <a:latin typeface="Microsoft JhengHei"/>
                <a:ea typeface="Microsoft JhengHei"/>
                <a:cs typeface="Microsoft JhengHei"/>
              </a:rPr>
              <a:t>6283</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本公司網路資安事件說明</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松上 </a:t>
            </a:r>
            <a:r>
              <a:rPr sz="1300" b="0">
                <a:solidFill>
                  <a:srgbClr val="5C6679"/>
                </a:solidFill>
                <a:latin typeface="Microsoft JhengHei"/>
                <a:ea typeface="Microsoft JhengHei"/>
                <a:cs typeface="Microsoft JhengHei"/>
              </a:rPr>
              <a:t>6156</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本公司使用之部分資訊系統遭受駭客網路攻擊。</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本公司後續仍將持續提升網路與資訊基礎架構之安全管控以確保資訊安全。</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9144000" cy="640080"/>
          </a:xfrm>
          <a:prstGeom prst="rect">
            <a:avLst/>
          </a:prstGeom>
          <a:noFill/>
        </p:spPr>
        <p:txBody>
          <a:bodyPr wrap="square" anchor="t" lIns="0" rIns="0" tIns="0" bIns="0">
            <a:spAutoFit/>
          </a:bodyPr>
          <a:lstStyle/>
          <a:p>
            <a:pPr algn="l"/>
            <a:r>
              <a:rPr sz="3000" b="1">
                <a:solidFill>
                  <a:srgbClr val="1A2233"/>
                </a:solidFill>
                <a:latin typeface="Microsoft JhengHei"/>
                <a:ea typeface="Microsoft JhengHei"/>
                <a:cs typeface="Microsoft JhengHei"/>
              </a:rPr>
              <a:t>個案因應重點（2）</a:t>
            </a:r>
          </a:p>
        </p:txBody>
      </p:sp>
      <p:sp>
        <p:nvSpPr>
          <p:cNvPr id="4" name="TextBox 3"/>
          <p:cNvSpPr txBox="1"/>
          <p:nvPr/>
        </p:nvSpPr>
        <p:spPr>
          <a:xfrm>
            <a:off x="566928" y="1005840"/>
            <a:ext cx="10058400" cy="365760"/>
          </a:xfrm>
          <a:prstGeom prst="rect">
            <a:avLst/>
          </a:prstGeom>
          <a:noFill/>
        </p:spPr>
        <p:txBody>
          <a:bodyPr wrap="square" anchor="t" lIns="0" rIns="0" tIns="0" bIns="0">
            <a:spAutoFit/>
          </a:bodyPr>
          <a:lstStyle/>
          <a:p>
            <a:pPr algn="l"/>
            <a:r>
              <a:rPr sz="1300" b="0">
                <a:solidFill>
                  <a:srgbClr val="5C6679"/>
                </a:solidFill>
                <a:latin typeface="Microsoft JhengHei"/>
                <a:ea typeface="Microsoft JhengHei"/>
                <a:cs typeface="Microsoft JhengHei"/>
              </a:rPr>
              <a:t>各公司公告之發生緣由與因應措施摘要</a:t>
            </a:r>
          </a:p>
        </p:txBody>
      </p:sp>
      <p:sp>
        <p:nvSpPr>
          <p:cNvPr id="5" name="Rounded Rectangle 4"/>
          <p:cNvSpPr/>
          <p:nvPr/>
        </p:nvSpPr>
        <p:spPr>
          <a:xfrm>
            <a:off x="54864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優盛 </a:t>
            </a:r>
            <a:r>
              <a:rPr sz="1300" b="0">
                <a:solidFill>
                  <a:srgbClr val="5C6679"/>
                </a:solidFill>
                <a:latin typeface="Microsoft JhengHei"/>
                <a:ea typeface="Microsoft JhengHei"/>
                <a:cs typeface="Microsoft JhengHei"/>
              </a:rPr>
              <a:t>4121</a:t>
            </a:r>
          </a:p>
        </p:txBody>
      </p:sp>
      <p:sp>
        <p:nvSpPr>
          <p:cNvPr id="8" name="Rounded Rectangle 7"/>
          <p:cNvSpPr/>
          <p:nvPr/>
        </p:nvSpPr>
        <p:spPr>
          <a:xfrm>
            <a:off x="452628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0" name="TextBox 9"/>
          <p:cNvSpPr txBox="1"/>
          <p:nvPr/>
        </p:nvSpPr>
        <p:spPr>
          <a:xfrm>
            <a:off x="77724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本公司之官網於今天下午遭受網路駭客攻擊</a:t>
            </a:r>
          </a:p>
        </p:txBody>
      </p:sp>
      <p:sp>
        <p:nvSpPr>
          <p:cNvPr id="11" name="TextBox 10"/>
          <p:cNvSpPr txBox="1"/>
          <p:nvPr/>
        </p:nvSpPr>
        <p:spPr>
          <a:xfrm>
            <a:off x="77724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本公司後續將持續提升網路與資訊基礎架構之安全管控以確保資訊安全。</a:t>
            </a:r>
          </a:p>
        </p:txBody>
      </p:sp>
      <p:sp>
        <p:nvSpPr>
          <p:cNvPr id="12" name="Rounded Rectangle 11"/>
          <p:cNvSpPr/>
          <p:nvPr/>
        </p:nvSpPr>
        <p:spPr>
          <a:xfrm>
            <a:off x="6172200" y="155448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55448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7393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麗清 </a:t>
            </a:r>
            <a:r>
              <a:rPr sz="1300" b="0">
                <a:solidFill>
                  <a:srgbClr val="5C6679"/>
                </a:solidFill>
                <a:latin typeface="Microsoft JhengHei"/>
                <a:ea typeface="Microsoft JhengHei"/>
                <a:cs typeface="Microsoft JhengHei"/>
              </a:rPr>
              <a:t>3346</a:t>
            </a:r>
          </a:p>
        </p:txBody>
      </p:sp>
      <p:sp>
        <p:nvSpPr>
          <p:cNvPr id="15" name="Rounded Rectangle 14"/>
          <p:cNvSpPr/>
          <p:nvPr/>
        </p:nvSpPr>
        <p:spPr>
          <a:xfrm>
            <a:off x="10149840" y="179222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0" y="179222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17" name="TextBox 16"/>
          <p:cNvSpPr txBox="1"/>
          <p:nvPr/>
        </p:nvSpPr>
        <p:spPr>
          <a:xfrm>
            <a:off x="6400800" y="226771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本公司部份資訊系統遭受駭客網路攻擊。</a:t>
            </a:r>
          </a:p>
        </p:txBody>
      </p:sp>
      <p:sp>
        <p:nvSpPr>
          <p:cNvPr id="18" name="TextBox 17"/>
          <p:cNvSpPr txBox="1"/>
          <p:nvPr/>
        </p:nvSpPr>
        <p:spPr>
          <a:xfrm>
            <a:off x="6400800" y="292608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修復安全漏洞並持續提升網路與資訊基礎架構之安全管控以確保資訊安全。</a:t>
            </a:r>
          </a:p>
        </p:txBody>
      </p:sp>
      <p:sp>
        <p:nvSpPr>
          <p:cNvPr id="19" name="Rounded Rectangle 18"/>
          <p:cNvSpPr/>
          <p:nvPr/>
        </p:nvSpPr>
        <p:spPr>
          <a:xfrm>
            <a:off x="54864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48640" y="3886200"/>
            <a:ext cx="5394960" cy="109728"/>
          </a:xfrm>
          <a:prstGeom prst="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GOGOLOOK </a:t>
            </a:r>
            <a:r>
              <a:rPr sz="1300" b="0">
                <a:solidFill>
                  <a:srgbClr val="5C6679"/>
                </a:solidFill>
                <a:latin typeface="Microsoft JhengHei"/>
                <a:ea typeface="Microsoft JhengHei"/>
                <a:cs typeface="Microsoft JhengHei"/>
              </a:rPr>
              <a:t>6902</a:t>
            </a:r>
          </a:p>
        </p:txBody>
      </p:sp>
      <p:sp>
        <p:nvSpPr>
          <p:cNvPr id="22" name="Rounded Rectangle 21"/>
          <p:cNvSpPr/>
          <p:nvPr/>
        </p:nvSpPr>
        <p:spPr>
          <a:xfrm>
            <a:off x="4526280" y="4123944"/>
            <a:ext cx="1234440" cy="347472"/>
          </a:xfrm>
          <a:prstGeom prst="roundRect">
            <a:avLst/>
          </a:prstGeom>
          <a:solidFill>
            <a:srgbClr val="5C66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2628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其他</a:t>
            </a:r>
          </a:p>
        </p:txBody>
      </p:sp>
      <p:sp>
        <p:nvSpPr>
          <p:cNvPr id="24" name="TextBox 23"/>
          <p:cNvSpPr txBox="1"/>
          <p:nvPr/>
        </p:nvSpPr>
        <p:spPr>
          <a:xfrm>
            <a:off x="777240" y="4599432"/>
            <a:ext cx="4937760" cy="640080"/>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本公司發生網路資安事件。</a:t>
            </a:r>
          </a:p>
        </p:txBody>
      </p:sp>
      <p:sp>
        <p:nvSpPr>
          <p:cNvPr id="25" name="TextBox 24"/>
          <p:cNvSpPr txBox="1"/>
          <p:nvPr/>
        </p:nvSpPr>
        <p:spPr>
          <a:xfrm>
            <a:off x="777240" y="5257800"/>
            <a:ext cx="4937760" cy="713232"/>
          </a:xfrm>
          <a:prstGeom prst="rect">
            <a:avLst/>
          </a:prstGeom>
          <a:noFill/>
        </p:spPr>
        <p:txBody>
          <a:bodyPr wrap="square" anchor="t" lIns="0" rIns="0" tIns="0" bIns="0">
            <a:spAutoFit/>
          </a:bodyPr>
          <a:lstStyle/>
          <a:p>
            <a:pPr algn="l">
              <a:lnSpc>
                <a:spcPts val="1500"/>
              </a:lnSpc>
            </a:pPr>
            <a:r>
              <a:rPr sz="1100" b="1">
                <a:solidFill>
                  <a:srgbClr val="5C6679"/>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本公司後續仍持續強化資安管控及防禦機制，確保資訊安全與服務體驗。</a:t>
            </a:r>
          </a:p>
        </p:txBody>
      </p:sp>
      <p:sp>
        <p:nvSpPr>
          <p:cNvPr id="26" name="Rounded Rectangle 25"/>
          <p:cNvSpPr/>
          <p:nvPr/>
        </p:nvSpPr>
        <p:spPr>
          <a:xfrm>
            <a:off x="6172200" y="3886200"/>
            <a:ext cx="5394960" cy="2148840"/>
          </a:xfrm>
          <a:prstGeom prst="roundRect">
            <a:avLst/>
          </a:prstGeom>
          <a:solidFill>
            <a:srgbClr val="FFFFFF"/>
          </a:solidFill>
          <a:ln w="12700">
            <a:solidFill>
              <a:srgbClr val="DD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72200" y="3886200"/>
            <a:ext cx="5394960" cy="109728"/>
          </a:xfrm>
          <a:prstGeom prst="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0" y="4105656"/>
            <a:ext cx="3657600" cy="365760"/>
          </a:xfrm>
          <a:prstGeom prst="rect">
            <a:avLst/>
          </a:prstGeom>
          <a:noFill/>
        </p:spPr>
        <p:txBody>
          <a:bodyPr wrap="square" anchor="ctr" lIns="0" rIns="0" tIns="0" bIns="0">
            <a:spAutoFit/>
          </a:bodyPr>
          <a:lstStyle/>
          <a:p>
            <a:pPr algn="l"/>
            <a:r>
              <a:rPr sz="1600" b="1">
                <a:solidFill>
                  <a:srgbClr val="1A2233"/>
                </a:solidFill>
                <a:latin typeface="Microsoft JhengHei"/>
                <a:ea typeface="Microsoft JhengHei"/>
                <a:cs typeface="Microsoft JhengHei"/>
              </a:rPr>
              <a:t>網家 </a:t>
            </a:r>
            <a:r>
              <a:rPr sz="1300" b="0">
                <a:solidFill>
                  <a:srgbClr val="5C6679"/>
                </a:solidFill>
                <a:latin typeface="Microsoft JhengHei"/>
                <a:ea typeface="Microsoft JhengHei"/>
                <a:cs typeface="Microsoft JhengHei"/>
              </a:rPr>
              <a:t>8044</a:t>
            </a:r>
          </a:p>
        </p:txBody>
      </p:sp>
      <p:sp>
        <p:nvSpPr>
          <p:cNvPr id="29" name="Rounded Rectangle 28"/>
          <p:cNvSpPr/>
          <p:nvPr/>
        </p:nvSpPr>
        <p:spPr>
          <a:xfrm>
            <a:off x="10149840" y="4123944"/>
            <a:ext cx="1234440" cy="347472"/>
          </a:xfrm>
          <a:prstGeom prst="roundRect">
            <a:avLst/>
          </a:prstGeom>
          <a:solidFill>
            <a:srgbClr val="E63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49840" y="4123944"/>
            <a:ext cx="1234440" cy="347472"/>
          </a:xfrm>
          <a:prstGeom prst="rect">
            <a:avLst/>
          </a:prstGeom>
          <a:noFill/>
        </p:spPr>
        <p:txBody>
          <a:bodyPr wrap="square" anchor="ctr" lIns="0" rIns="0" tIns="0" bIns="0">
            <a:spAutoFit/>
          </a:bodyPr>
          <a:lstStyle/>
          <a:p>
            <a:pPr algn="ctr"/>
            <a:r>
              <a:rPr sz="1050" b="1">
                <a:solidFill>
                  <a:srgbClr val="FFFFFF"/>
                </a:solidFill>
                <a:latin typeface="Microsoft JhengHei"/>
                <a:ea typeface="Microsoft JhengHei"/>
                <a:cs typeface="Microsoft JhengHei"/>
              </a:rPr>
              <a:t>駭客攻擊</a:t>
            </a:r>
          </a:p>
        </p:txBody>
      </p:sp>
      <p:sp>
        <p:nvSpPr>
          <p:cNvPr id="31" name="TextBox 30"/>
          <p:cNvSpPr txBox="1"/>
          <p:nvPr/>
        </p:nvSpPr>
        <p:spPr>
          <a:xfrm>
            <a:off x="6400800" y="4599432"/>
            <a:ext cx="4937760" cy="640080"/>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緣由　</a:t>
            </a:r>
            <a:r>
              <a:rPr sz="1100" b="0">
                <a:solidFill>
                  <a:srgbClr val="1A2233"/>
                </a:solidFill>
                <a:latin typeface="Microsoft JhengHei"/>
                <a:ea typeface="Microsoft JhengHei"/>
                <a:cs typeface="Microsoft JhengHei"/>
              </a:rPr>
              <a:t>公司對該等報導或提供訊息之說明:(1)資訊安全防線：本公司及各轉投資事業係依不同服務型態各自營運…</a:t>
            </a:r>
          </a:p>
        </p:txBody>
      </p:sp>
      <p:sp>
        <p:nvSpPr>
          <p:cNvPr id="32" name="TextBox 31"/>
          <p:cNvSpPr txBox="1"/>
          <p:nvPr/>
        </p:nvSpPr>
        <p:spPr>
          <a:xfrm>
            <a:off x="6400800" y="5257800"/>
            <a:ext cx="4937760" cy="713232"/>
          </a:xfrm>
          <a:prstGeom prst="rect">
            <a:avLst/>
          </a:prstGeom>
          <a:noFill/>
        </p:spPr>
        <p:txBody>
          <a:bodyPr wrap="square" anchor="t" lIns="0" rIns="0" tIns="0" bIns="0">
            <a:spAutoFit/>
          </a:bodyPr>
          <a:lstStyle/>
          <a:p>
            <a:pPr algn="l">
              <a:lnSpc>
                <a:spcPts val="1500"/>
              </a:lnSpc>
            </a:pPr>
            <a:r>
              <a:rPr sz="1100" b="1">
                <a:solidFill>
                  <a:srgbClr val="E63946"/>
                </a:solidFill>
                <a:latin typeface="Microsoft JhengHei"/>
                <a:ea typeface="Microsoft JhengHei"/>
                <a:cs typeface="Microsoft JhengHei"/>
              </a:rPr>
              <a:t>因應　</a:t>
            </a:r>
            <a:r>
              <a:rPr sz="1100" b="0">
                <a:solidFill>
                  <a:srgbClr val="1A2233"/>
                </a:solidFill>
                <a:latin typeface="Microsoft JhengHei"/>
                <a:ea typeface="Microsoft JhengHei"/>
                <a:cs typeface="Microsoft JhengHei"/>
              </a:rPr>
              <a:t>(1)全面啟動應變與調查：拍付國際獲悉駭客聲稱之入侵及勒索訊息後，已立即啟動資安應變程序，會同資安專家進行全面系統檢測與…</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