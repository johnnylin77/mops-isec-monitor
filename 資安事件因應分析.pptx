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事件數</c:v>
                </c:pt>
              </c:strCache>
            </c:strRef>
          </c:tx>
          <c:dPt>
            <c:idx val="0"/>
            <c:spPr>
              <a:solidFill>
                <a:srgbClr val="E63946"/>
              </a:solidFill>
            </c:spPr>
          </c:dPt>
          <c:dPt>
            <c:idx val="1"/>
            <c:spPr>
              <a:solidFill>
                <a:srgbClr val="27A6C4"/>
              </a:solidFill>
            </c:spPr>
          </c:dPt>
          <c:dPt>
            <c:idx val="2"/>
            <c:spPr>
              <a:solidFill>
                <a:srgbClr val="5C6679"/>
              </a:solidFill>
            </c:spPr>
          </c:dPt>
          <c:cat>
            <c:strRef>
              <c:f>Sheet1!$A$2:$A$4</c:f>
              <c:strCache>
                <c:ptCount val="3"/>
                <c:pt idx="0">
                  <c:v>駭客攻擊</c:v>
                </c:pt>
                <c:pt idx="1">
                  <c:v>個資外洩</c:v>
                </c:pt>
                <c:pt idx="2">
                  <c:v>其他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</c:v>
                </c:pt>
                <c:pt idx="1">
                  <c:v>5</c:v>
                </c:pt>
                <c:pt idx="2">
                  <c:v>4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300" b="1">
                  <a:solidFill>
                    <a:srgbClr val="FFFFFF"/>
                  </a:solidFill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1200">
              <a:latin typeface="Microsoft JhengHe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332720" y="-1097280"/>
            <a:ext cx="3291840" cy="3291840"/>
          </a:xfrm>
          <a:prstGeom prst="ellipse">
            <a:avLst/>
          </a:prstGeom>
          <a:solidFill>
            <a:srgbClr val="1E2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155680" y="4754880"/>
            <a:ext cx="2560320" cy="2560320"/>
          </a:xfrm>
          <a:prstGeom prst="ellipse">
            <a:avLst/>
          </a:prstGeom>
          <a:solidFill>
            <a:srgbClr val="1E2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868680"/>
            <a:ext cx="457200" cy="45720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868680"/>
            <a:ext cx="45720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資安重訊分析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5156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5400"/>
              </a:lnSpc>
            </a:pPr>
            <a:r>
              <a:rPr sz="4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上市櫃公司
資安事件因應分析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1148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資料期間 2026-09-20 ~ 2026-10-20　｜　MOPS 重大訊息全文檢索　｜　11 家公司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4709160"/>
            <a:ext cx="2926080" cy="3657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6126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893AD"/>
                </a:solidFill>
                <a:latin typeface="Microsoft JhengHei"/>
                <a:ea typeface="Microsoft JhengHei"/>
                <a:cs typeface="Microsoft JhengHei"/>
              </a:rPr>
              <a:t>資料來源：台灣證券交易所公開資訊觀測站（mopsov.twse.com.tw）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事件總覽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資料期間內 MOPS 揭露之 11 起資安相關重大訊息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196596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17904"/>
            <a:ext cx="1965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700" b="1">
                <a:solidFill>
                  <a:srgbClr val="2EC4B6"/>
                </a:solidFill>
                <a:latin typeface="Microsoft JhengHei"/>
                <a:ea typeface="Microsoft JhengHei"/>
                <a:cs typeface="Microsoft JhengHe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29968"/>
            <a:ext cx="19659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起資安事件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1463040"/>
            <a:ext cx="196596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0" y="1517904"/>
            <a:ext cx="1965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7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029968"/>
            <a:ext cx="19659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大事件類型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37759" y="1463040"/>
            <a:ext cx="196596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59" y="1517904"/>
            <a:ext cx="1965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7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第26款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59" y="2029968"/>
            <a:ext cx="19659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資通安全事件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48640" y="2697480"/>
          <a:ext cx="11064240" cy="35661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868680"/>
                <a:gridCol w="960120"/>
                <a:gridCol w="2286000"/>
                <a:gridCol w="5120640"/>
              </a:tblGrid>
              <a:tr h="29718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公司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代號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事件日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事件類型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公司揭露之影響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滿心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2916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10/19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7A6C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個資外洩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截至目前為止對公司財務及業務並無重大影響.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91APP*-KY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6741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10/16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目前評估對公司營運無重大影響。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緯致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4953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10/09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5C667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其他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目前公司整體系統與營運正常運作，對公司尚無重大影響。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上福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6128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10/07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5C667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其他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目前評估沒有個資、亦沒有機密或重要文件資料外洩等情事發生，對本公司營…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杏一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4175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10/07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7A6C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個資外洩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截至目前為止對公司財務及業務並無重大影響。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鈊象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3293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10/07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7A6C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個資外洩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目前評估對公司營運無重大影響。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一零四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3130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10/06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5C667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其他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目前系統與營運正常運作，對公司尚無重大影響。相關影響仍持續評估中。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安心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1259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10/01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7A6C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個資外洩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截至目前為止對公司財務及業務並無重大影響。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神腦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2450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09/29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評估對本公司營運、財務及服務提供無重大影響。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鈊象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3293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09/29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5C667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其他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目前評估對公司營運尚無重大影響。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柏文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8462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09/23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7A6C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個資外洩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目前評估對公司營運無重大影響。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事件類型分布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依公告主旨與內文關鍵字分類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554480"/>
          <a:ext cx="4754880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669280" y="1691640"/>
            <a:ext cx="603504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691640"/>
            <a:ext cx="109728" cy="1170432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97880" y="1801368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180136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8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2 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80" y="2194560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91APP*-KY、神腦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97880" y="2459736"/>
            <a:ext cx="56692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系統遭外部入侵或企圖登入，立即啟動防禦機制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0" y="3017520"/>
            <a:ext cx="603504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0" y="3017520"/>
            <a:ext cx="109728" cy="1170432"/>
          </a:xfrm>
          <a:prstGeom prst="rect">
            <a:avLst/>
          </a:prstGeom>
          <a:solidFill>
            <a:srgbClr val="27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97880" y="3127248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個資外洩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312724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8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5 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97880" y="3520439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滿心、杏一、鈊象、安心、柏文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97880" y="3785615"/>
            <a:ext cx="56692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源自開發流程或委外廠商，須通報並通知當事人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0" y="4343400"/>
            <a:ext cx="603504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0" y="4343400"/>
            <a:ext cx="109728" cy="1170432"/>
          </a:xfrm>
          <a:prstGeom prst="rect">
            <a:avLst/>
          </a:prstGeom>
          <a:solidFill>
            <a:srgbClr val="5C66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97880" y="4453128"/>
            <a:ext cx="42062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其他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445312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8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4 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97880" y="4846320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緯致、上福、一零四、鈊象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97880" y="5111496"/>
            <a:ext cx="56692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其他資安相關事件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簽證會計師一覽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各公司目前之簽證會計師事務所與簽證會計師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00200"/>
          <a:ext cx="10789920" cy="4480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868680"/>
                <a:gridCol w="2103120"/>
                <a:gridCol w="3383280"/>
                <a:gridCol w="2606040"/>
              </a:tblGrid>
              <a:tr h="37338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公司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代號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事件類型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簽證會計師事務所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簽證會計師</a:t>
                      </a:r>
                    </a:p>
                  </a:txBody>
                  <a:tcPr anchor="ctr" marL="73152" marT="18288" marB="18288">
                    <a:solidFill>
                      <a:srgbClr val="14213D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滿心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2916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7A6C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個資外洩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安侯建業聯合會計師事務所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陳宜君、許淑敏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91APP*-KY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6741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勤業眾信聯合會計師事務所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曾建銘、王攀發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緯致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4953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5C667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其他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安侯建業聯合會計師事務所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唐嘉鍵、楊雲筑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上福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6128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5C667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其他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安永聯合會計師事務所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黃宇廷、賴書晨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杏一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4175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7A6C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個資外洩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勤業眾信聯合會計師事務所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池瑞全、蔡宗遠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鈊象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3293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7A6C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個資外洩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勤業眾信聯合會計師事務所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周仕杰、李東峰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一零四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3130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5C667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其他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安侯建業聯合會計師事務所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趙敏如、江家齊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安心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1259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7A6C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個資外洩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資誠聯合會計師事務所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徐明釧、陳怡婷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神腦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2450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E6394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駭客攻擊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資誠聯合會計師事務所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王銘義、林永智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鈊象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3293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5C6679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其他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勤業眾信聯合會計師事務所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周仕杰、李東峰</a:t>
                      </a:r>
                    </a:p>
                  </a:txBody>
                  <a:tcPr anchor="ctr" marL="73152" marT="9144" marB="9144">
                    <a:solidFill>
                      <a:srgbClr val="EEF2F9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柏文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8462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7A6C4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個資外洩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安永聯合會計師事務所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A2233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洪福讚、陳政初</a:t>
                      </a:r>
                    </a:p>
                  </a:txBody>
                  <a:tcPr anchor="ctr" marL="73152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共通因應流程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各公司處理過程高度一致，已形成標準應變劇本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514600" cy="22860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72768" y="2057400"/>
            <a:ext cx="658368" cy="6583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72768" y="20574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偵測異常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36499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15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資安單位或外部通報
發現系統異常或入侵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27248" y="1828800"/>
            <a:ext cx="365760" cy="2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47287" y="1828800"/>
            <a:ext cx="2514600" cy="22860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379975" y="2057400"/>
            <a:ext cx="658368" cy="6583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79975" y="20574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47287" y="28803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啟動應變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4447" y="336499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15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立即啟動資安應變機制
系統隔離、防護強化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34456" y="1828800"/>
            <a:ext cx="365760" cy="2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54496" y="1828800"/>
            <a:ext cx="2514600" cy="22860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187183" y="2057400"/>
            <a:ext cx="658368" cy="6583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87183" y="20574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54496" y="28803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外部協助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1656" y="336499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15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委請外部資安專業團隊
鑑識調查與資料復原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41664" y="1828800"/>
            <a:ext cx="365760" cy="2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61703" y="1828800"/>
            <a:ext cx="2514600" cy="2286000"/>
          </a:xfrm>
          <a:prstGeom prst="roundRect">
            <a:avLst/>
          </a:prstGeom>
          <a:solidFill>
            <a:srgbClr val="14213D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994391" y="2057400"/>
            <a:ext cx="658368" cy="6583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94391" y="2057400"/>
            <a:ext cx="658368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14213D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61703" y="28803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強化監控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98863" y="336499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150" b="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盤查系統、提升架構
持續密切監控防護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4572000"/>
            <a:ext cx="10881360" cy="1325880"/>
          </a:xfrm>
          <a:prstGeom prst="roundRect">
            <a:avLst/>
          </a:prstGeom>
          <a:solidFill>
            <a:srgbClr val="FF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" y="4572000"/>
            <a:ext cx="109728" cy="1325880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4709160"/>
            <a:ext cx="104241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個資外洩事件額外步驟　</a:t>
            </a:r>
            <a:r>
              <a:rPr sz="12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（依事件性質適用）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51663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0"/>
              </a:lnSpc>
            </a:pPr>
            <a:r>
              <a:rPr sz="12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依法通報主管機關　•　主動通知受影響當事人並提供客服　•　向調查局報案　•　強化委外廠商與第三方工具管理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個案因應重點（1）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各公司公告之發生緣由與因應措施摘要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5394960" cy="109728"/>
          </a:xfrm>
          <a:prstGeom prst="rect">
            <a:avLst/>
          </a:prstGeom>
          <a:solidFill>
            <a:srgbClr val="27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滿心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2916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792224"/>
            <a:ext cx="1234440" cy="347472"/>
          </a:xfrm>
          <a:prstGeom prst="roundRect">
            <a:avLst/>
          </a:prstGeom>
          <a:solidFill>
            <a:srgbClr val="27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個資外洩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本公司委外服務平台業者所提供之資料庫發生自動化攻擊事件,部分資訊遭非法擷取,本公司近日接獲消費者…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(1)本公司已立即啟動資安事件應變作業,針對相關系統與存取紀錄及可能涉及之資料範圍進行調查,並要求委外服務平台業者同步進…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55448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91APP*-KY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6741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149840" y="179222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4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本公司CommerceCloud資料庫受到自動化攻擊事件說明。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(1)強化監控防禦：升級全天候監控，全面提升系統防護層級。(2)委外第三方公正單位調查：協同外部專家深入調查，並於相關主…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88620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886200"/>
            <a:ext cx="5394960" cy="109728"/>
          </a:xfrm>
          <a:prstGeom prst="rect">
            <a:avLst/>
          </a:prstGeom>
          <a:solidFill>
            <a:srgbClr val="5C66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0565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緯致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4953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26280" y="4123944"/>
            <a:ext cx="1234440" cy="347472"/>
          </a:xfrm>
          <a:prstGeom prst="roundRect">
            <a:avLst/>
          </a:prstGeom>
          <a:solidFill>
            <a:srgbClr val="5C66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412394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其他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59943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本公司偵測到內部系統有異常存取情形，經調查確認，部分員工資訊與公務聯繫資訊遭未經授權存取。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25780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本公司已採取相關防護、阻斷及修補措施，並持續強化資訊安全防護機制。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388620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886200"/>
            <a:ext cx="5394960" cy="109728"/>
          </a:xfrm>
          <a:prstGeom prst="rect">
            <a:avLst/>
          </a:prstGeom>
          <a:solidFill>
            <a:srgbClr val="5C66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410565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上福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6128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49840" y="4123944"/>
            <a:ext cx="1234440" cy="347472"/>
          </a:xfrm>
          <a:prstGeom prst="roundRect">
            <a:avLst/>
          </a:prstGeom>
          <a:solidFill>
            <a:srgbClr val="5C66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0" y="412394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其他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459943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KatunCorporation發現資訊安全異常事件，經調查發現部分資訊系統有異常存取行為。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525780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KatunCorporation將持續進行事件調查、鑑識分析及監控作業，並進一步強化資訊安全管理、遠端存取管控、網路安全…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個案因應重點（2）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各公司公告之發生緣由與因應措施摘要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5394960" cy="109728"/>
          </a:xfrm>
          <a:prstGeom prst="rect">
            <a:avLst/>
          </a:prstGeom>
          <a:solidFill>
            <a:srgbClr val="27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杏一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4175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792224"/>
            <a:ext cx="1234440" cy="347472"/>
          </a:xfrm>
          <a:prstGeom prst="roundRect">
            <a:avLst/>
          </a:prstGeom>
          <a:solidFill>
            <a:srgbClr val="27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個資外洩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本公司接獲消費者反映疑似個資外洩事件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(1)本公司已立即啟動資安事件應變作業，針對相關系統、存取紀錄及可能涉及之資料範圍進行調查，並要求官網平台委外廠商同步進…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554480"/>
            <a:ext cx="5394960" cy="109728"/>
          </a:xfrm>
          <a:prstGeom prst="rect">
            <a:avLst/>
          </a:prstGeom>
          <a:solidFill>
            <a:srgbClr val="27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鈊象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3293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149840" y="1792224"/>
            <a:ext cx="1234440" cy="347472"/>
          </a:xfrm>
          <a:prstGeom prst="roundRect">
            <a:avLst/>
          </a:prstGeom>
          <a:solidFill>
            <a:srgbClr val="27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4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個資外洩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本公司於115年9月29日發現不明IP異常侵入公司營運資訊設備，造成公司遊戲營運資料外洩，包含部…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(1)持續提升資安防禦，強化監控與防護層級。(2)委由外部專業資安團隊協助事件調查，並於相關主機部署偵測及防護機制。(3…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88620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886200"/>
            <a:ext cx="5394960" cy="109728"/>
          </a:xfrm>
          <a:prstGeom prst="rect">
            <a:avLst/>
          </a:prstGeom>
          <a:solidFill>
            <a:srgbClr val="5C66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0565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一零四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3130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26280" y="4123944"/>
            <a:ext cx="1234440" cy="347472"/>
          </a:xfrm>
          <a:prstGeom prst="roundRect">
            <a:avLst/>
          </a:prstGeom>
          <a:solidFill>
            <a:srgbClr val="5C66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412394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其他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59943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本公司偵測到APP系統有異常讀取情形，經調查確認，約12萬筆履歷資料遭未經授權讀取。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25780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本公司已採取相關防護及阻斷措施，並持續進行資安鑑識及強化資訊安全防護機制。本公司將依調查結果及相關法令辦理後續事宜，如有…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388620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886200"/>
            <a:ext cx="5394960" cy="109728"/>
          </a:xfrm>
          <a:prstGeom prst="rect">
            <a:avLst/>
          </a:prstGeom>
          <a:solidFill>
            <a:srgbClr val="27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410565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安心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1259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49840" y="4123944"/>
            <a:ext cx="1234440" cy="347472"/>
          </a:xfrm>
          <a:prstGeom prst="roundRect">
            <a:avLst/>
          </a:prstGeom>
          <a:solidFill>
            <a:srgbClr val="27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0" y="412394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個資外洩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459943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消費者反應疑似個資外洩事件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525780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本公司已立即針對本次資安事件啟動應變作業。需特別說明，本次疑似個資外洩事件之平台係由委外廠商管理，非屬本公司自有之MOS…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個案因應重點（3）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05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各公司公告之發生緣由與因應措施摘要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5394960" cy="109728"/>
          </a:xfrm>
          <a:prstGeom prst="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神腦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2450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792224"/>
            <a:ext cx="1234440" cy="347472"/>
          </a:xfrm>
          <a:prstGeom prst="roundRect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駭客攻擊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本公司外部伺服器遭受自動化攻擊事件說明。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E63946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本公司已與第三方資安廠商合作，全面強化網路偵測、系統監控與安全管控，以確保資訊安全。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55448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554480"/>
            <a:ext cx="5394960" cy="109728"/>
          </a:xfrm>
          <a:prstGeom prst="rect">
            <a:avLst/>
          </a:prstGeom>
          <a:solidFill>
            <a:srgbClr val="5C66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77393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鈊象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3293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149840" y="1792224"/>
            <a:ext cx="1234440" cy="347472"/>
          </a:xfrm>
          <a:prstGeom prst="roundRect">
            <a:avLst/>
          </a:prstGeom>
          <a:solidFill>
            <a:srgbClr val="5C66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40" y="179222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其他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26771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本公司於115年9月29日發現不明IP異常侵入公司營運資訊設備。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92608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持續提升資安防禦，強化監控與防護層級。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886200"/>
            <a:ext cx="53949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886200"/>
            <a:ext cx="5394960" cy="109728"/>
          </a:xfrm>
          <a:prstGeom prst="rect">
            <a:avLst/>
          </a:prstGeom>
          <a:solidFill>
            <a:srgbClr val="27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05656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柏文 </a:t>
            </a:r>
            <a:r>
              <a:rPr sz="1300" b="0">
                <a:solidFill>
                  <a:srgbClr val="5C6679"/>
                </a:solidFill>
                <a:latin typeface="Microsoft JhengHei"/>
                <a:ea typeface="Microsoft JhengHei"/>
                <a:cs typeface="Microsoft JhengHei"/>
              </a:rPr>
              <a:t>8462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26280" y="4123944"/>
            <a:ext cx="1234440" cy="347472"/>
          </a:xfrm>
          <a:prstGeom prst="roundRect">
            <a:avLst/>
          </a:prstGeom>
          <a:solidFill>
            <a:srgbClr val="27A6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4123944"/>
            <a:ext cx="1234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個資外洩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599432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緣由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本公司接獲系統委外廠商通知其對外服務系統遭自動化攻擊，並對客戶資料表分頁擷取，其中部分涉及本公司…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257800"/>
            <a:ext cx="493776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</a:pPr>
            <a:r>
              <a:rPr sz="1100" b="1">
                <a:solidFill>
                  <a:srgbClr val="27A6C4"/>
                </a:solidFill>
                <a:latin typeface="Microsoft JhengHei"/>
                <a:ea typeface="Microsoft JhengHei"/>
                <a:cs typeface="Microsoft JhengHei"/>
              </a:rPr>
              <a:t>因應　</a:t>
            </a:r>
            <a:r>
              <a:rPr sz="1100" b="0">
                <a:solidFill>
                  <a:srgbClr val="1A2233"/>
                </a:solidFill>
                <a:latin typeface="Microsoft JhengHei"/>
                <a:ea typeface="Microsoft JhengHei"/>
                <a:cs typeface="Microsoft JhengHei"/>
              </a:rPr>
              <a:t>本公司已要求系統委外廠商重新檢視造成資安疑慮因子並加以防範，同時持續針對系統委外廠商加強監控。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