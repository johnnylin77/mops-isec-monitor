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事件數</c:v>
                </c:pt>
              </c:strCache>
            </c:strRef>
          </c:tx>
          <c:dPt>
            <c:idx val="0"/>
            <c:spPr>
              <a:solidFill>
                <a:srgbClr val="E63946"/>
              </a:solidFill>
            </c:spPr>
          </c:dPt>
          <c:dPt>
            <c:idx val="1"/>
            <c:spPr>
              <a:solidFill>
                <a:srgbClr val="F4A261"/>
              </a:solidFill>
            </c:spPr>
          </c:dPt>
          <c:cat>
            <c:strRef>
              <c:f>Sheet1!$A$2:$A$3</c:f>
              <c:strCache>
                <c:ptCount val="2"/>
                <c:pt idx="0">
                  <c:v>駭客攻擊</c:v>
                </c:pt>
                <c:pt idx="1">
                  <c:v>勒索病毒/加密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</c:v>
                </c:pt>
                <c:pt idx="1">
                  <c:v>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300" b="1">
                  <a:solidFill>
                    <a:srgbClr val="FFFFFF"/>
                  </a:solidFill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  <c:txPr>
        <a:bodyPr/>
        <a:lstStyle/>
        <a:p>
          <a:pPr>
            <a:defRPr sz="1200">
              <a:latin typeface="Microsoft JhengHe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332720" y="-1097280"/>
            <a:ext cx="3291840" cy="3291840"/>
          </a:xfrm>
          <a:prstGeom prst="ellipse">
            <a:avLst/>
          </a:prstGeom>
          <a:solidFill>
            <a:srgbClr val="1E2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155680" y="4754880"/>
            <a:ext cx="2560320" cy="2560320"/>
          </a:xfrm>
          <a:prstGeom prst="ellipse">
            <a:avLst/>
          </a:prstGeom>
          <a:solidFill>
            <a:srgbClr val="1E2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868680"/>
            <a:ext cx="457200" cy="4572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868680"/>
            <a:ext cx="45720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資安重訊分析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5156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400"/>
              </a:lnSpc>
            </a:pPr>
            <a:r>
              <a:rPr sz="4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上市櫃公司
資安事件因應分析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1148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資料期間 2026-08-01 ~ 2026-09-01　｜　MOPS 重大訊息全文檢索　｜　9 家公司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4709160"/>
            <a:ext cx="2926080" cy="3657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6126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893AD"/>
                </a:solidFill>
                <a:latin typeface="Microsoft JhengHei"/>
                <a:ea typeface="Microsoft JhengHei"/>
                <a:cs typeface="Microsoft JhengHei"/>
              </a:rPr>
              <a:t>資料來源：台灣證券交易所公開資訊觀測站（mopsov.twse.com.tw）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事件總覽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資料期間內 MOPS 揭露之 9 起資安相關重大訊息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196596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17904"/>
            <a:ext cx="1965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700" b="1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29968"/>
            <a:ext cx="19659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起資安事件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1463040"/>
            <a:ext cx="196596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0" y="1517904"/>
            <a:ext cx="1965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7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2029968"/>
            <a:ext cx="19659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大事件類型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37759" y="1463040"/>
            <a:ext cx="196596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59" y="1517904"/>
            <a:ext cx="1965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7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第26款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59" y="2029968"/>
            <a:ext cx="19659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資通安全事件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48640" y="2697480"/>
          <a:ext cx="11064240" cy="35661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868680"/>
                <a:gridCol w="960120"/>
                <a:gridCol w="2286000"/>
                <a:gridCol w="5120640"/>
              </a:tblGrid>
              <a:tr h="356616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公司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代號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事件日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事件類型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公司揭露之影響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杭特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3297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08/31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本公司目前正積極會同技術專家協助調查，初步評估對公司營運暫無重大影響…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數字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5287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08/20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目前評估對公司營運尚無重大影響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上詮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3363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08/19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目前評估對公司營運無重大影響。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久裕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4173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08/11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4A26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勒索病毒/加密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尚在評估中，依目前評估對公司營運無重大影響。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正瀚-創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6534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08/11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本公司目前正積極會同技術專家協助調查，初步評估對公司營運無重大影響。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久裕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4173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08/10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本公司目前正積極會同技術專家協助調查，初步評估對公司營運無重大影響。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逸達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6576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08/07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本公司目前正積極會同技術專家協助調查，初步評估對公司營運暫無重大影響…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州巧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3543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08/05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目前初步評估對公司營運無重大影響。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藥華藥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6446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08/03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本公司目前正積極會同技術專家協助調查，初步評估對公司營運無重大影響。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事件類型分布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依公告主旨與內文關鍵字分類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554480"/>
          <a:ext cx="4754880" cy="4480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0" y="1691640"/>
            <a:ext cx="603504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0" y="1691640"/>
            <a:ext cx="109728" cy="1170432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97880" y="1801368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180136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8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8 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80" y="2194560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杭特、數字、上詮、正瀚-創、久裕、逸達、州巧、藥華藥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97880" y="2459736"/>
            <a:ext cx="56692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系統遭外部入侵或企圖登入，立即啟動防禦機制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0" y="3017520"/>
            <a:ext cx="603504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0" y="3017520"/>
            <a:ext cx="109728" cy="1170432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97880" y="3127248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勒索病毒/加密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312724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800" b="1">
                <a:solidFill>
                  <a:srgbClr val="F4A261"/>
                </a:solidFill>
                <a:latin typeface="Microsoft JhengHei"/>
                <a:ea typeface="Microsoft JhengHei"/>
                <a:cs typeface="Microsoft JhengHei"/>
              </a:rPr>
              <a:t>1 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97880" y="3520439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久裕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97880" y="3785615"/>
            <a:ext cx="56692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伺服器資料遭加密，須系統隔離與資料復原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簽證會計師一覽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各公司目前之簽證會計師事務所與簽證會計師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00200"/>
          <a:ext cx="10789920" cy="4480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868680"/>
                <a:gridCol w="2103120"/>
                <a:gridCol w="3383280"/>
                <a:gridCol w="2606040"/>
              </a:tblGrid>
              <a:tr h="448056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公司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代號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事件類型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簽證會計師事務所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簽證會計師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杭特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3297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資誠聯合會計師事務所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陳憲正、林瑟凱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數字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5287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安侯建業聯合會計師事務所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羅瑞芝、余聖河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上詮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3363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資誠聯合會計師事務所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白淑蒨、李典易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久裕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4173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4A26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勒索病毒/加密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安侯建業聯合會計師事務所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郭柔蘭、江曉苓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正瀚-創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6534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安侯建業聯合會計師事務所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陳政學、張字信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久裕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4173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安侯建業聯合會計師事務所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郭柔蘭、江曉苓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逸達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6576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資誠聯合會計師事務所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蔡蓓華、顏裕芳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州巧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3543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資誠聯合會計師事務所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廖福銘、林永智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藥華藥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6446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安永聯合會計師事務所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呂倩雯、張巧穎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共通因應流程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各公司處理過程高度一致，已形成標準應變劇本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2514600" cy="22860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72768" y="2057400"/>
            <a:ext cx="658368" cy="6583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72768" y="205740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8036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偵測異常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36499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15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資安單位或外部通報
發現系統異常或入侵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27248" y="1828800"/>
            <a:ext cx="365760" cy="22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47287" y="1828800"/>
            <a:ext cx="2514600" cy="22860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379975" y="2057400"/>
            <a:ext cx="658368" cy="6583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79975" y="205740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47287" y="288036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啟動應變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4447" y="336499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15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立即啟動資安應變機制
系統隔離、防護強化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34456" y="1828800"/>
            <a:ext cx="365760" cy="22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54496" y="1828800"/>
            <a:ext cx="2514600" cy="22860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87183" y="2057400"/>
            <a:ext cx="658368" cy="6583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87183" y="205740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54496" y="288036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外部協助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1656" y="336499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15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委請外部資安專業團隊
鑑識調查與資料復原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41664" y="1828800"/>
            <a:ext cx="365760" cy="22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61703" y="1828800"/>
            <a:ext cx="2514600" cy="22860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994391" y="2057400"/>
            <a:ext cx="658368" cy="6583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94391" y="205740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61703" y="288036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強化監控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98863" y="336499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15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盤查系統、提升架構
持續密切監控防護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4572000"/>
            <a:ext cx="10881360" cy="1325880"/>
          </a:xfrm>
          <a:prstGeom prst="roundRect">
            <a:avLst/>
          </a:prstGeom>
          <a:solidFill>
            <a:srgbClr val="FF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" y="4572000"/>
            <a:ext cx="109728" cy="1325880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4709160"/>
            <a:ext cx="104241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個資外洩事件額外步驟　</a:t>
            </a:r>
            <a:r>
              <a:rPr sz="12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（依事件性質適用）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" y="51663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00"/>
              </a:lnSpc>
            </a:pPr>
            <a:r>
              <a:rPr sz="12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依法通報主管機關　•　主動通知受影響當事人並提供客服　•　向調查局報案　•　強化委外廠商與第三方工具管理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個案因應重點（1）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各公司公告之發生緣由與因應措施摘要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5394960" cy="109728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杭特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3297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1792224"/>
            <a:ext cx="1234440" cy="347472"/>
          </a:xfrm>
          <a:prstGeom prst="round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本公司資訊系統遭受駭客網路攻擊，初步評估對公司營運暫無重大影響。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本公司將持續提升網路與資訊基礎架構之安全管控，以確保資訊安全。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55448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554480"/>
            <a:ext cx="5394960" cy="109728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數字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5287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149840" y="1792224"/>
            <a:ext cx="1234440" cy="347472"/>
          </a:xfrm>
          <a:prstGeom prst="round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4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本公司於115年8月20日發現591網站登入行為異常，經查發現外部攻擊者利用登入機制之弱點，繞過…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(1)依據安全軟體發展生命週期（SSDLC）框架，持續優化系統開發流程及資安檢視機制。(2)強化登入驗證、存取控制及異常…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88620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3886200"/>
            <a:ext cx="5394960" cy="109728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0565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上詮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3363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26280" y="4123944"/>
            <a:ext cx="1234440" cy="347472"/>
          </a:xfrm>
          <a:prstGeom prst="round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80" y="412394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59943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本公司資訊系統遭受駭客網路攻擊，部分主機與電腦遭受病毒攻擊。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25780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本公司已於第一時間啟動資安防禦，並對網路攻擊進行清查，亦同步持續檢視與提升網路與資訊基礎架構之安全控管，以確保資訊安全。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388620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3886200"/>
            <a:ext cx="5394960" cy="109728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410565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久裕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4173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49840" y="4123944"/>
            <a:ext cx="1234440" cy="347472"/>
          </a:xfrm>
          <a:prstGeom prst="round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0" y="412394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勒索病毒/加密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459943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F4A261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本公司遭受駭客加密攻擊事件，部分檔案無法解密。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525780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F4A261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(1)本公司業已啟動資安相關防禦機制與應變作業，並將通報相關機關。(2)本公司將繼續尋求資安專家協助，改善及提升本公司資…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個案因應重點（2）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各公司公告之發生緣由與因應措施摘要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5394960" cy="109728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正瀚-創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6534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1792224"/>
            <a:ext cx="1234440" cy="347472"/>
          </a:xfrm>
          <a:prstGeom prst="round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本公司部分資訊系統遭受駭客網路攻擊，初步評估對公司營運無重大影響。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本公司將持續提升網路與資訊基礎架構之安全管控，以確保資訊安全。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55448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554480"/>
            <a:ext cx="5394960" cy="109728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久裕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4173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149840" y="1792224"/>
            <a:ext cx="1234440" cy="347472"/>
          </a:xfrm>
          <a:prstGeom prst="round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4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本公司部分資訊系統遭受駭客網路攻擊，初步評估對公司營運無重大影響。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本公司將持續提升網路與資訊基礎架構之安全管控，以確保資訊安全。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88620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3886200"/>
            <a:ext cx="5394960" cy="109728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0565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逸達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6576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26280" y="4123944"/>
            <a:ext cx="1234440" cy="347472"/>
          </a:xfrm>
          <a:prstGeom prst="round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80" y="412394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59943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本公司資訊系統遭受駭客網路攻擊，初步評估對公司營運暫無重大影響。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25780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本公司將持續提升網路與資訊基礎架構之安全管控，以確保資訊安全。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388620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3886200"/>
            <a:ext cx="5394960" cy="109728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410565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州巧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3543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49840" y="4123944"/>
            <a:ext cx="1234440" cy="347472"/>
          </a:xfrm>
          <a:prstGeom prst="round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0" y="412394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459943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本公司及重要子公司(蘇州州巧、廈門州巧及越南州巧)之部份資訊系統遭不明駭客入侵，導致部分系統無法…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525780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完成相關安全漏洞修復後，將持續強化網路與資訊基礎架構之安全防護機制及管理措施，確保資訊系統穩定運作及資訊安全。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個案因應重點（3）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各公司公告之發生緣由與因應措施摘要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5394960" cy="109728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藥華藥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6446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1792224"/>
            <a:ext cx="1234440" cy="347472"/>
          </a:xfrm>
          <a:prstGeom prst="round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本公司及泛泰醫療子公司之部分資訊系統遭受駭客網路攻擊，初步評估對公司營運無重大影響。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本公司將持續提升網路與資訊基礎架構之安全管控，以確保資訊安全。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