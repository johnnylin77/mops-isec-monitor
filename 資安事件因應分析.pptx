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事件數</c:v>
                </c:pt>
              </c:strCache>
            </c:strRef>
          </c:tx>
          <c:dPt>
            <c:idx val="0"/>
            <c:spPr>
              <a:solidFill>
                <a:srgbClr val="E63946"/>
              </a:solidFill>
            </c:spPr>
          </c:dPt>
          <c:dPt>
            <c:idx val="1"/>
            <c:spPr>
              <a:solidFill>
                <a:srgbClr val="F4A261"/>
              </a:solidFill>
            </c:spPr>
          </c:dPt>
          <c:dPt>
            <c:idx val="2"/>
            <c:spPr>
              <a:solidFill>
                <a:srgbClr val="27A6C4"/>
              </a:solidFill>
            </c:spPr>
          </c:dPt>
          <c:dPt>
            <c:idx val="3"/>
            <c:spPr>
              <a:solidFill>
                <a:srgbClr val="5C6679"/>
              </a:solidFill>
            </c:spPr>
          </c:dPt>
          <c:cat>
            <c:strRef>
              <c:f>Sheet1!$A$2:$A$5</c:f>
              <c:strCache>
                <c:ptCount val="4"/>
                <c:pt idx="0">
                  <c:v>駭客攻擊</c:v>
                </c:pt>
                <c:pt idx="1">
                  <c:v>勒索病毒/加密</c:v>
                </c:pt>
                <c:pt idx="2">
                  <c:v>個資外洩</c:v>
                </c:pt>
                <c:pt idx="3">
                  <c:v>其他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200">
              <a:latin typeface="Microsoft Jheng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1097280"/>
            <a:ext cx="3291840" cy="329184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754880"/>
            <a:ext cx="2560320" cy="256032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86868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868680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資安重訊分析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4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上市櫃公司
資安事件因應分析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資料期間 2026-07-21 ~ 2026-08-21　｜　MOPS 重大訊息全文檢索　｜　11 家公司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709160"/>
            <a:ext cx="2926080" cy="3657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893AD"/>
                </a:solidFill>
                <a:latin typeface="Microsoft JhengHei"/>
                <a:ea typeface="Microsoft JhengHei"/>
                <a:cs typeface="Microsoft JhengHei"/>
              </a:rPr>
              <a:t>資料來源：台灣證券交易所公開資訊觀測站（mopsov.twse.com.tw）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資料期間內 MOPS 揭露之 11 起資安相關重大訊息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起資安事件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大事件類型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59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第26款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資通安全事件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697480"/>
          <a:ext cx="11064240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960120"/>
                <a:gridCol w="2286000"/>
                <a:gridCol w="5120640"/>
              </a:tblGrid>
              <a:tr h="29718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事件日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公司揭露之影響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08/20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目前評估對公司營運尚無重大影響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上詮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3363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08/19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久裕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08/11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尚在評估中，依目前評估對公司營運無重大影響。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正瀚-創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6534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08/11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本公司目前正積極會同技術專家協助調查，初步評估對公司營運無重大影響。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久裕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08/10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本公司目前正積極會同技術專家協助調查，初步評估對公司營運無重大影響。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逸達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6576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08/07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本公司目前正積極會同技術專家協助調查，初步評估對公司營運暫無重大影響…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州巧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3543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08/05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藥華藥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6446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08/03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本公司目前正積極會同技術專家協助調查，初步評估對公司營運無重大影響。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2049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07/28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萬達寵物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6968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07/27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對本公司財務或業務並無重大影響。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淳安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6283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07/21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經評估對公司營運無重大影響。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事件類型分布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依公告主旨與內文關鍵字分類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47548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0" y="169164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691640"/>
            <a:ext cx="109728" cy="11704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80136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013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8 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1945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數字、上詮、正瀚-創、久裕、逸達、州巧、藥華藥、上銀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45973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系統遭外部入侵或企圖登入，立即啟動防禦機制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01752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0" y="3017520"/>
            <a:ext cx="109728" cy="1170432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12724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12724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1 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52043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久裕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78561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伺服器資料遭加密，須系統隔離與資料復原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434340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0" y="4343400"/>
            <a:ext cx="109728" cy="1170432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44531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445312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1 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484632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萬達寵物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511149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源自開發流程或委外廠商，須通報並通知當事人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0" y="5669279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0" y="5669279"/>
            <a:ext cx="109728" cy="1170432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7880" y="5779007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5779007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1 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97880" y="617219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淳安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80" y="643737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其他資安相關事件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簽證會計師一覽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各公司目前之簽證會計師事務所與簽證會計師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078992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2103120"/>
                <a:gridCol w="3383280"/>
                <a:gridCol w="2606040"/>
              </a:tblGrid>
              <a:tr h="37338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簽證會計師事務所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羅瑞芝、余聖河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上詮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3363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白淑蒨、李典易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久裕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郭柔蘭、江曉苓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正瀚-創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6534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陳政學、張字信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久裕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郭柔蘭、江曉苓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逸達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6576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蔡蓓華、顏裕芳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州巧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3543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廖福銘、林永智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藥華藥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6446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安永聯合會計師事務所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呂倩雯、張巧穎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2049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吳麗冬、顏曉芳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萬達寵物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6968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葉翠苗、黃世鈞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淳安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6283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林永智、廖福銘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共通因應流程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各公司處理過程高度一致，已形成標準應變劇本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偵測異常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資安單位或外部通報
發現系統異常或入侵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7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79975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5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7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啟動應變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7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立即啟動資安應變機制
系統隔離、防護強化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6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87183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87183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外部協助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委請外部資安專業團隊
鑑識調查與資料復原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3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94391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4391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1703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強化監控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盤查系統、提升架構
持續密切監控防護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FF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09728" cy="13258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709160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個資外洩事件額外步驟　</a:t>
            </a:r>
            <a:r>
              <a:rPr sz="12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（依事件性質適用）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166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依法通報主管機關　•　主動通知受影響當事人並提供客服　•　向調查局報案　•　強化委外廠商與第三方工具管理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5287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本公司於115年8月20日發現591網站登入行為異常，經查發現外部攻擊者利用登入機制之弱點，繞過…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(1)依據安全軟體發展生命週期（SSDLC）框架，持續優化系統開發流程及資安檢視機制。(2)強化登入驗證、存取控制及異常…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上詮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3363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本公司資訊系統遭受駭客網路攻擊，部分主機與電腦遭受病毒攻擊。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本公司已於第一時間啟動資安防禦，並對網路攻擊進行清查，亦同步持續檢視與提升網路與資訊基礎架構之安全控管，以確保資訊安全。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久裕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4173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本公司遭受駭客加密攻擊事件，部分檔案無法解密。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(1)本公司業已啟動資安相關防禦機制與應變作業，並將通報相關機關。(2)本公司將繼續尋求資安專家協助，改善及提升本公司資…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正瀚-創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6534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本公司部分資訊系統遭受駭客網路攻擊，初步評估對公司營運無重大影響。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久裕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4173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本公司部分資訊系統遭受駭客網路攻擊，初步評估對公司營運無重大影響。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逸達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6576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本公司資訊系統遭受駭客網路攻擊，初步評估對公司營運暫無重大影響。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州巧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3543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本公司及重要子公司(蘇州州巧、廈門州巧及越南州巧)之部份資訊系統遭不明駭客入侵，導致部分系統無法…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完成相關安全漏洞修復後，將持續強化網路與資訊基礎架構之安全防護機制及管理措施，確保資訊系統穩定運作及資訊安全。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藥華藥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6446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本公司及泛泰醫療子公司之部分資訊系統遭受駭客網路攻擊，初步評估對公司營運無重大影響。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上銀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2049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本公司義大利子公司部份資訊系統遭受駭客網路攻擊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完成相關安全漏洞修復後，將持續強化網路與資訊基礎架構之安全防護機制及管理措施，確保資訊系統穩定運作及資訊安全。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萬達寵物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6968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本公司因合作廠商資訊系統遭不明人士入侵，疑似部份資料外洩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本公司並無與合作廠商串接會員資料、信用卡號、銀行帳戶等敏感資訊，不會產生任何金流交易。本公司已嚴正要求合作廠商技術團隊，…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淳安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6283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本公司網路資安事件說明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本公司後續將持續提升網路與資訊基礎架構之安全管控，以確保資訊安全。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