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事件數</c:v>
                </c:pt>
              </c:strCache>
            </c:strRef>
          </c:tx>
          <c:dPt>
            <c:idx val="0"/>
            <c:spPr>
              <a:solidFill>
                <a:srgbClr val="E63946"/>
              </a:solidFill>
            </c:spPr>
          </c:dPt>
          <c:dPt>
            <c:idx val="1"/>
            <c:spPr>
              <a:solidFill>
                <a:srgbClr val="F4A261"/>
              </a:solidFill>
            </c:spPr>
          </c:dPt>
          <c:cat>
            <c:strRef>
              <c:f>Sheet1!$A$2:$A$3</c:f>
              <c:strCache>
                <c:ptCount val="2"/>
                <c:pt idx="0">
                  <c:v>駭客攻擊</c:v>
                </c:pt>
                <c:pt idx="1">
                  <c:v>勒索病毒/加密</c:v>
                </c:pt>
              </c:strCache>
            </c:strRef>
          </c:cat>
          <c:val>
            <c:numRef>
              <c:f>Sheet1!$B$2:$B$3</c:f>
              <c:numCache>
                <c:formatCode>General</c:formatCode>
                <c:ptCount val="2"/>
                <c:pt idx="0">
                  <c:v>7</c:v>
                </c:pt>
                <c:pt idx="1">
                  <c:v>3</c:v>
                </c:pt>
              </c:numCache>
            </c:numRef>
          </c:val>
        </c:ser>
        <c:dLbls>
          <c:numFmt formatCode="0" sourceLinked="0"/>
          <c:txPr>
            <a:bodyPr/>
            <a:lstStyle/>
            <a:p>
              <a:pPr>
                <a:defRPr sz="1300" b="1">
                  <a:solidFill>
                    <a:srgbClr val="FFFFFF"/>
                  </a:solidFill>
                </a:defRPr>
              </a:pPr>
            </a:p>
          </c:txPr>
          <c:showLegendKey val="0"/>
          <c:showVal val="0"/>
          <c:showCatName val="0"/>
          <c:showSerName val="0"/>
          <c:showPercent val="0"/>
          <c:showBubbleSize val="0"/>
          <c:showLeaderLines val="1"/>
        </c:dLbls>
        <c:firstSliceAng val="0"/>
        <c:holeSize val="50"/>
      </c:doughnutChart>
    </c:plotArea>
    <c:legend>
      <c:legendPos val="b"/>
      <c:layout/>
      <c:overlay val="0"/>
      <c:txPr>
        <a:bodyPr/>
        <a:lstStyle/>
        <a:p>
          <a:pPr>
            <a:defRPr sz="1200">
              <a:latin typeface="Microsoft JhengHei"/>
            </a:defRPr>
          </a:pPr>
        </a:p>
      </c:txPr>
    </c:legend>
    <c:plotVisOnly val="1"/>
    <c:dispBlanksAs val="gap"/>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332720" y="-1097280"/>
            <a:ext cx="3291840" cy="3291840"/>
          </a:xfrm>
          <a:prstGeom prst="ellipse">
            <a:avLst/>
          </a:prstGeom>
          <a:solidFill>
            <a:srgbClr val="1E2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155680" y="4754880"/>
            <a:ext cx="2560320" cy="2560320"/>
          </a:xfrm>
          <a:prstGeom prst="ellipse">
            <a:avLst/>
          </a:prstGeom>
          <a:solidFill>
            <a:srgbClr val="1E2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868680"/>
            <a:ext cx="457200" cy="457200"/>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80160" y="868680"/>
            <a:ext cx="4572000" cy="457200"/>
          </a:xfrm>
          <a:prstGeom prst="rect">
            <a:avLst/>
          </a:prstGeom>
          <a:noFill/>
        </p:spPr>
        <p:txBody>
          <a:bodyPr wrap="square" anchor="ctr" lIns="0" rIns="0" tIns="0" bIns="0">
            <a:spAutoFit/>
          </a:bodyPr>
          <a:lstStyle/>
          <a:p>
            <a:pPr algn="l"/>
            <a:r>
              <a:rPr sz="1400" b="1">
                <a:solidFill>
                  <a:srgbClr val="2EC4B6"/>
                </a:solidFill>
                <a:latin typeface="Microsoft JhengHei"/>
                <a:ea typeface="Microsoft JhengHei"/>
                <a:cs typeface="Microsoft JhengHei"/>
              </a:rPr>
              <a:t>資安重訊分析</a:t>
            </a:r>
          </a:p>
        </p:txBody>
      </p:sp>
      <p:sp>
        <p:nvSpPr>
          <p:cNvPr id="7" name="TextBox 6"/>
          <p:cNvSpPr txBox="1"/>
          <p:nvPr/>
        </p:nvSpPr>
        <p:spPr>
          <a:xfrm>
            <a:off x="640080" y="1828800"/>
            <a:ext cx="10515600" cy="2011680"/>
          </a:xfrm>
          <a:prstGeom prst="rect">
            <a:avLst/>
          </a:prstGeom>
          <a:noFill/>
        </p:spPr>
        <p:txBody>
          <a:bodyPr wrap="square" anchor="t" lIns="0" rIns="0" tIns="0" bIns="0">
            <a:spAutoFit/>
          </a:bodyPr>
          <a:lstStyle/>
          <a:p>
            <a:pPr algn="l">
              <a:lnSpc>
                <a:spcPts val="5400"/>
              </a:lnSpc>
            </a:pPr>
            <a:r>
              <a:rPr sz="4400" b="1">
                <a:solidFill>
                  <a:srgbClr val="FFFFFF"/>
                </a:solidFill>
                <a:latin typeface="Microsoft JhengHei"/>
                <a:ea typeface="Microsoft JhengHei"/>
                <a:cs typeface="Microsoft JhengHei"/>
              </a:rPr>
              <a:t>上市櫃公司
資安事件因應分析</a:t>
            </a:r>
          </a:p>
        </p:txBody>
      </p:sp>
      <p:sp>
        <p:nvSpPr>
          <p:cNvPr id="8" name="TextBox 7"/>
          <p:cNvSpPr txBox="1"/>
          <p:nvPr/>
        </p:nvSpPr>
        <p:spPr>
          <a:xfrm>
            <a:off x="658368" y="4114800"/>
            <a:ext cx="10515600" cy="457200"/>
          </a:xfrm>
          <a:prstGeom prst="rect">
            <a:avLst/>
          </a:prstGeom>
          <a:noFill/>
        </p:spPr>
        <p:txBody>
          <a:bodyPr wrap="square" anchor="t" lIns="0" rIns="0" tIns="0" bIns="0">
            <a:spAutoFit/>
          </a:bodyPr>
          <a:lstStyle/>
          <a:p>
            <a:pPr algn="l"/>
            <a:r>
              <a:rPr sz="1600" b="0">
                <a:solidFill>
                  <a:srgbClr val="CADCFC"/>
                </a:solidFill>
                <a:latin typeface="Microsoft JhengHei"/>
                <a:ea typeface="Microsoft JhengHei"/>
                <a:cs typeface="Microsoft JhengHei"/>
              </a:rPr>
              <a:t>資料期間 2026-08-16 ~ 2026-09-16　｜　MOPS 重大訊息全文檢索　｜　10 家公司</a:t>
            </a:r>
          </a:p>
        </p:txBody>
      </p:sp>
      <p:sp>
        <p:nvSpPr>
          <p:cNvPr id="9" name="Rectangle 8"/>
          <p:cNvSpPr/>
          <p:nvPr/>
        </p:nvSpPr>
        <p:spPr>
          <a:xfrm>
            <a:off x="685800" y="4709160"/>
            <a:ext cx="2926080" cy="36576"/>
          </a:xfrm>
          <a:prstGeom prst="rect">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6126480"/>
            <a:ext cx="10058400" cy="365760"/>
          </a:xfrm>
          <a:prstGeom prst="rect">
            <a:avLst/>
          </a:prstGeom>
          <a:noFill/>
        </p:spPr>
        <p:txBody>
          <a:bodyPr wrap="square" anchor="t" lIns="0" rIns="0" tIns="0" bIns="0">
            <a:spAutoFit/>
          </a:bodyPr>
          <a:lstStyle/>
          <a:p>
            <a:pPr algn="l"/>
            <a:r>
              <a:rPr sz="1100" b="0">
                <a:solidFill>
                  <a:srgbClr val="8893AD"/>
                </a:solidFill>
                <a:latin typeface="Microsoft JhengHei"/>
                <a:ea typeface="Microsoft JhengHei"/>
                <a:cs typeface="Microsoft JhengHei"/>
              </a:rPr>
              <a:t>資料來源：台灣證券交易所公開資訊觀測站（mopsov.twse.com.tw）</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事件總覽</a:t>
            </a:r>
          </a:p>
        </p:txBody>
      </p:sp>
      <p:sp>
        <p:nvSpPr>
          <p:cNvPr id="4" name="TextBox 3"/>
          <p:cNvSpPr txBox="1"/>
          <p:nvPr/>
        </p:nvSpPr>
        <p:spPr>
          <a:xfrm>
            <a:off x="566928" y="1005840"/>
            <a:ext cx="91440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資料期間內 MOPS 揭露之 10 起資安相關重大訊息</a:t>
            </a:r>
          </a:p>
        </p:txBody>
      </p:sp>
      <p:sp>
        <p:nvSpPr>
          <p:cNvPr id="5" name="Rounded Rectangle 4"/>
          <p:cNvSpPr/>
          <p:nvPr/>
        </p:nvSpPr>
        <p:spPr>
          <a:xfrm>
            <a:off x="548640" y="1463040"/>
            <a:ext cx="1965960" cy="96012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517904"/>
            <a:ext cx="1965960" cy="548640"/>
          </a:xfrm>
          <a:prstGeom prst="rect">
            <a:avLst/>
          </a:prstGeom>
          <a:noFill/>
        </p:spPr>
        <p:txBody>
          <a:bodyPr wrap="square" anchor="ctr" lIns="0" rIns="0" tIns="0" bIns="0">
            <a:spAutoFit/>
          </a:bodyPr>
          <a:lstStyle/>
          <a:p>
            <a:pPr algn="ctr"/>
            <a:r>
              <a:rPr sz="2700" b="1">
                <a:solidFill>
                  <a:srgbClr val="2EC4B6"/>
                </a:solidFill>
                <a:latin typeface="Microsoft JhengHei"/>
                <a:ea typeface="Microsoft JhengHei"/>
                <a:cs typeface="Microsoft JhengHei"/>
              </a:rPr>
              <a:t>10</a:t>
            </a:r>
          </a:p>
        </p:txBody>
      </p:sp>
      <p:sp>
        <p:nvSpPr>
          <p:cNvPr id="7" name="TextBox 6"/>
          <p:cNvSpPr txBox="1"/>
          <p:nvPr/>
        </p:nvSpPr>
        <p:spPr>
          <a:xfrm>
            <a:off x="548640" y="2029968"/>
            <a:ext cx="1965960" cy="329184"/>
          </a:xfrm>
          <a:prstGeom prst="rect">
            <a:avLst/>
          </a:prstGeom>
          <a:noFill/>
        </p:spPr>
        <p:txBody>
          <a:bodyPr wrap="square" anchor="t" lIns="0" rIns="0" tIns="0" bIns="0">
            <a:spAutoFit/>
          </a:bodyPr>
          <a:lstStyle/>
          <a:p>
            <a:pPr algn="ctr"/>
            <a:r>
              <a:rPr sz="1150" b="0">
                <a:solidFill>
                  <a:srgbClr val="5C6679"/>
                </a:solidFill>
                <a:latin typeface="Microsoft JhengHei"/>
                <a:ea typeface="Microsoft JhengHei"/>
                <a:cs typeface="Microsoft JhengHei"/>
              </a:rPr>
              <a:t>起資安事件</a:t>
            </a:r>
          </a:p>
        </p:txBody>
      </p:sp>
      <p:sp>
        <p:nvSpPr>
          <p:cNvPr id="8" name="Rounded Rectangle 7"/>
          <p:cNvSpPr/>
          <p:nvPr/>
        </p:nvSpPr>
        <p:spPr>
          <a:xfrm>
            <a:off x="2743200" y="1463040"/>
            <a:ext cx="1965960" cy="96012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0" y="1517904"/>
            <a:ext cx="1965960" cy="548640"/>
          </a:xfrm>
          <a:prstGeom prst="rect">
            <a:avLst/>
          </a:prstGeom>
          <a:noFill/>
        </p:spPr>
        <p:txBody>
          <a:bodyPr wrap="square" anchor="ctr" lIns="0" rIns="0" tIns="0" bIns="0">
            <a:spAutoFit/>
          </a:bodyPr>
          <a:lstStyle/>
          <a:p>
            <a:pPr algn="ctr"/>
            <a:r>
              <a:rPr sz="2700" b="1">
                <a:solidFill>
                  <a:srgbClr val="27A6C4"/>
                </a:solidFill>
                <a:latin typeface="Microsoft JhengHei"/>
                <a:ea typeface="Microsoft JhengHei"/>
                <a:cs typeface="Microsoft JhengHei"/>
              </a:rPr>
              <a:t>2</a:t>
            </a:r>
          </a:p>
        </p:txBody>
      </p:sp>
      <p:sp>
        <p:nvSpPr>
          <p:cNvPr id="10" name="TextBox 9"/>
          <p:cNvSpPr txBox="1"/>
          <p:nvPr/>
        </p:nvSpPr>
        <p:spPr>
          <a:xfrm>
            <a:off x="2743200" y="2029968"/>
            <a:ext cx="1965960" cy="329184"/>
          </a:xfrm>
          <a:prstGeom prst="rect">
            <a:avLst/>
          </a:prstGeom>
          <a:noFill/>
        </p:spPr>
        <p:txBody>
          <a:bodyPr wrap="square" anchor="t" lIns="0" rIns="0" tIns="0" bIns="0">
            <a:spAutoFit/>
          </a:bodyPr>
          <a:lstStyle/>
          <a:p>
            <a:pPr algn="ctr"/>
            <a:r>
              <a:rPr sz="1150" b="0">
                <a:solidFill>
                  <a:srgbClr val="5C6679"/>
                </a:solidFill>
                <a:latin typeface="Microsoft JhengHei"/>
                <a:ea typeface="Microsoft JhengHei"/>
                <a:cs typeface="Microsoft JhengHei"/>
              </a:rPr>
              <a:t>大事件類型</a:t>
            </a:r>
          </a:p>
        </p:txBody>
      </p:sp>
      <p:sp>
        <p:nvSpPr>
          <p:cNvPr id="11" name="Rounded Rectangle 10"/>
          <p:cNvSpPr/>
          <p:nvPr/>
        </p:nvSpPr>
        <p:spPr>
          <a:xfrm>
            <a:off x="4937759" y="1463040"/>
            <a:ext cx="1965960" cy="96012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937759" y="1517904"/>
            <a:ext cx="1965960" cy="548640"/>
          </a:xfrm>
          <a:prstGeom prst="rect">
            <a:avLst/>
          </a:prstGeom>
          <a:noFill/>
        </p:spPr>
        <p:txBody>
          <a:bodyPr wrap="square" anchor="ctr" lIns="0" rIns="0" tIns="0" bIns="0">
            <a:spAutoFit/>
          </a:bodyPr>
          <a:lstStyle/>
          <a:p>
            <a:pPr algn="ctr"/>
            <a:r>
              <a:rPr sz="2700" b="1">
                <a:solidFill>
                  <a:srgbClr val="E63946"/>
                </a:solidFill>
                <a:latin typeface="Microsoft JhengHei"/>
                <a:ea typeface="Microsoft JhengHei"/>
                <a:cs typeface="Microsoft JhengHei"/>
              </a:rPr>
              <a:t>第26款</a:t>
            </a:r>
          </a:p>
        </p:txBody>
      </p:sp>
      <p:sp>
        <p:nvSpPr>
          <p:cNvPr id="13" name="TextBox 12"/>
          <p:cNvSpPr txBox="1"/>
          <p:nvPr/>
        </p:nvSpPr>
        <p:spPr>
          <a:xfrm>
            <a:off x="4937759" y="2029968"/>
            <a:ext cx="1965960" cy="329184"/>
          </a:xfrm>
          <a:prstGeom prst="rect">
            <a:avLst/>
          </a:prstGeom>
          <a:noFill/>
        </p:spPr>
        <p:txBody>
          <a:bodyPr wrap="square" anchor="t" lIns="0" rIns="0" tIns="0" bIns="0">
            <a:spAutoFit/>
          </a:bodyPr>
          <a:lstStyle/>
          <a:p>
            <a:pPr algn="ctr"/>
            <a:r>
              <a:rPr sz="1150" b="0">
                <a:solidFill>
                  <a:srgbClr val="5C6679"/>
                </a:solidFill>
                <a:latin typeface="Microsoft JhengHei"/>
                <a:ea typeface="Microsoft JhengHei"/>
                <a:cs typeface="Microsoft JhengHei"/>
              </a:rPr>
              <a:t>資通安全事件</a:t>
            </a:r>
          </a:p>
        </p:txBody>
      </p:sp>
      <p:graphicFrame>
        <p:nvGraphicFramePr>
          <p:cNvPr id="14" name="Table 13"/>
          <p:cNvGraphicFramePr>
            <a:graphicFrameLocks noGrp="1"/>
          </p:cNvGraphicFramePr>
          <p:nvPr/>
        </p:nvGraphicFramePr>
        <p:xfrm>
          <a:off x="548640" y="2697480"/>
          <a:ext cx="11064240" cy="3566160"/>
        </p:xfrm>
        <a:graphic>
          <a:graphicData uri="http://schemas.openxmlformats.org/drawingml/2006/table">
            <a:tbl>
              <a:tblPr>
                <a:tableStyleId>{5C22544A-7EE6-4342-B048-85BDC9FD1C3A}</a:tableStyleId>
              </a:tblPr>
              <a:tblGrid>
                <a:gridCol w="1828800"/>
                <a:gridCol w="868680"/>
                <a:gridCol w="960120"/>
                <a:gridCol w="2286000"/>
                <a:gridCol w="5120640"/>
              </a:tblGrid>
              <a:tr h="324196">
                <a:tc>
                  <a:txBody>
                    <a:bodyPr/>
                    <a:lstStyle/>
                    <a:p>
                      <a:r>
                        <a:rPr sz="1250" b="1">
                          <a:solidFill>
                            <a:srgbClr val="FFFFFF"/>
                          </a:solidFill>
                          <a:latin typeface="Microsoft JhengHei"/>
                          <a:ea typeface="Microsoft JhengHei"/>
                          <a:cs typeface="Microsoft JhengHei"/>
                        </a:rPr>
                        <a:t>公司</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代號</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事件日</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事件類型</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公司揭露之影響</a:t>
                      </a:r>
                    </a:p>
                  </a:txBody>
                  <a:tcPr anchor="ctr" marL="73152" marT="18288" marB="18288">
                    <a:solidFill>
                      <a:srgbClr val="14213D"/>
                    </a:solidFill>
                  </a:tcPr>
                </a:tc>
              </a:tr>
              <a:tr h="324196">
                <a:tc>
                  <a:txBody>
                    <a:bodyPr/>
                    <a:lstStyle/>
                    <a:p>
                      <a:r>
                        <a:rPr sz="1150" b="0">
                          <a:solidFill>
                            <a:srgbClr val="1A2233"/>
                          </a:solidFill>
                          <a:latin typeface="Microsoft JhengHei"/>
                          <a:ea typeface="Microsoft JhengHei"/>
                          <a:cs typeface="Microsoft JhengHei"/>
                        </a:rPr>
                        <a:t>長榮航</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2618</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09/15</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目前評估對公司所有業務均不受影響。</a:t>
                      </a:r>
                    </a:p>
                  </a:txBody>
                  <a:tcPr anchor="ctr" marL="73152" marT="9144" marB="9144">
                    <a:solidFill>
                      <a:srgbClr val="FFFFFF"/>
                    </a:solidFill>
                  </a:tcPr>
                </a:tc>
              </a:tr>
              <a:tr h="324196">
                <a:tc>
                  <a:txBody>
                    <a:bodyPr/>
                    <a:lstStyle/>
                    <a:p>
                      <a:r>
                        <a:rPr sz="1150" b="0">
                          <a:solidFill>
                            <a:srgbClr val="1A2233"/>
                          </a:solidFill>
                          <a:latin typeface="Microsoft JhengHei"/>
                          <a:ea typeface="Microsoft JhengHei"/>
                          <a:cs typeface="Microsoft JhengHei"/>
                        </a:rPr>
                        <a:t>長榮航太</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2645</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09/15</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經初步評估，核心資訊系統及營運業務運作皆維持正常，尚未發現公司及涉客…</a:t>
                      </a:r>
                    </a:p>
                  </a:txBody>
                  <a:tcPr anchor="ctr" marL="73152" marT="9144" marB="9144">
                    <a:solidFill>
                      <a:srgbClr val="EEF2F9"/>
                    </a:solidFill>
                  </a:tcPr>
                </a:tc>
              </a:tr>
              <a:tr h="324196">
                <a:tc>
                  <a:txBody>
                    <a:bodyPr/>
                    <a:lstStyle/>
                    <a:p>
                      <a:r>
                        <a:rPr sz="1150" b="0">
                          <a:solidFill>
                            <a:srgbClr val="1A2233"/>
                          </a:solidFill>
                          <a:latin typeface="Microsoft JhengHei"/>
                          <a:ea typeface="Microsoft JhengHei"/>
                          <a:cs typeface="Microsoft JhengHei"/>
                        </a:rPr>
                        <a:t>崴寶</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7744</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09/14</a:t>
                      </a:r>
                    </a:p>
                  </a:txBody>
                  <a:tcPr anchor="ctr" marL="73152" marT="9144" marB="9144">
                    <a:solidFill>
                      <a:srgbClr val="FFFFFF"/>
                    </a:solidFill>
                  </a:tcPr>
                </a:tc>
                <a:tc>
                  <a:txBody>
                    <a:bodyPr/>
                    <a:lstStyle/>
                    <a:p>
                      <a:r>
                        <a:rPr sz="1150" b="1">
                          <a:solidFill>
                            <a:srgbClr val="F4A261"/>
                          </a:solidFill>
                          <a:latin typeface="Microsoft JhengHei"/>
                          <a:ea typeface="Microsoft JhengHei"/>
                          <a:cs typeface="Microsoft JhengHei"/>
                        </a:rPr>
                        <a:t>勒索病毒/加密</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經初步評估，本次資安事件未影響公司工廠生產作業，生產活動均維持正常運…</a:t>
                      </a:r>
                    </a:p>
                  </a:txBody>
                  <a:tcPr anchor="ctr" marL="73152" marT="9144" marB="9144">
                    <a:solidFill>
                      <a:srgbClr val="FFFFFF"/>
                    </a:solidFill>
                  </a:tcPr>
                </a:tc>
              </a:tr>
              <a:tr h="324196">
                <a:tc>
                  <a:txBody>
                    <a:bodyPr/>
                    <a:lstStyle/>
                    <a:p>
                      <a:r>
                        <a:rPr sz="1150" b="0">
                          <a:solidFill>
                            <a:srgbClr val="1A2233"/>
                          </a:solidFill>
                          <a:latin typeface="Microsoft JhengHei"/>
                          <a:ea typeface="Microsoft JhengHei"/>
                          <a:cs typeface="Microsoft JhengHei"/>
                        </a:rPr>
                        <a:t>達爾膚</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6523</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09/11</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受影響系統非屬公司現行主要營運系統，亦非對外提供服務之系統，目前評估…</a:t>
                      </a:r>
                    </a:p>
                  </a:txBody>
                  <a:tcPr anchor="ctr" marL="73152" marT="9144" marB="9144">
                    <a:solidFill>
                      <a:srgbClr val="EEF2F9"/>
                    </a:solidFill>
                  </a:tcPr>
                </a:tc>
              </a:tr>
              <a:tr h="324196">
                <a:tc>
                  <a:txBody>
                    <a:bodyPr/>
                    <a:lstStyle/>
                    <a:p>
                      <a:r>
                        <a:rPr sz="1150" b="0">
                          <a:solidFill>
                            <a:srgbClr val="1A2233"/>
                          </a:solidFill>
                          <a:latin typeface="Microsoft JhengHei"/>
                          <a:ea typeface="Microsoft JhengHei"/>
                          <a:cs typeface="Microsoft JhengHei"/>
                        </a:rPr>
                        <a:t>大車隊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2640</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09/09</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經初步評估，本事件目前尚未對本公司整體營運及財務造成重大影響。</a:t>
                      </a:r>
                    </a:p>
                  </a:txBody>
                  <a:tcPr anchor="ctr" marL="73152" marT="9144" marB="9144">
                    <a:solidFill>
                      <a:srgbClr val="FFFFFF"/>
                    </a:solidFill>
                  </a:tcPr>
                </a:tc>
              </a:tr>
              <a:tr h="324196">
                <a:tc>
                  <a:txBody>
                    <a:bodyPr/>
                    <a:lstStyle/>
                    <a:p>
                      <a:r>
                        <a:rPr sz="1150" b="0">
                          <a:solidFill>
                            <a:srgbClr val="1A2233"/>
                          </a:solidFill>
                          <a:latin typeface="Microsoft JhengHei"/>
                          <a:ea typeface="Microsoft JhengHei"/>
                          <a:cs typeface="Microsoft JhengHei"/>
                        </a:rPr>
                        <a:t>富爾特</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6136</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09/07</a:t>
                      </a:r>
                    </a:p>
                  </a:txBody>
                  <a:tcPr anchor="ctr" marL="73152" marT="9144" marB="9144">
                    <a:solidFill>
                      <a:srgbClr val="EEF2F9"/>
                    </a:solidFill>
                  </a:tcPr>
                </a:tc>
                <a:tc>
                  <a:txBody>
                    <a:bodyPr/>
                    <a:lstStyle/>
                    <a:p>
                      <a:r>
                        <a:rPr sz="1150" b="1">
                          <a:solidFill>
                            <a:srgbClr val="F4A261"/>
                          </a:solidFill>
                          <a:latin typeface="Microsoft JhengHei"/>
                          <a:ea typeface="Microsoft JhengHei"/>
                          <a:cs typeface="Microsoft JhengHei"/>
                        </a:rPr>
                        <a:t>勒索病毒/加密</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目前受影響之系統正陸續復原中，對公司整體營運及財務之影響程度尚不致有…</a:t>
                      </a:r>
                    </a:p>
                  </a:txBody>
                  <a:tcPr anchor="ctr" marL="73152" marT="9144" marB="9144">
                    <a:solidFill>
                      <a:srgbClr val="EEF2F9"/>
                    </a:solidFill>
                  </a:tcPr>
                </a:tc>
              </a:tr>
              <a:tr h="324196">
                <a:tc>
                  <a:txBody>
                    <a:bodyPr/>
                    <a:lstStyle/>
                    <a:p>
                      <a:r>
                        <a:rPr sz="1150" b="0">
                          <a:solidFill>
                            <a:srgbClr val="1A2233"/>
                          </a:solidFill>
                          <a:latin typeface="Microsoft JhengHei"/>
                          <a:ea typeface="Microsoft JhengHei"/>
                          <a:cs typeface="Microsoft JhengHei"/>
                        </a:rPr>
                        <a:t>創新服務</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7828</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09/02</a:t>
                      </a:r>
                    </a:p>
                  </a:txBody>
                  <a:tcPr anchor="ctr" marL="73152" marT="9144" marB="9144">
                    <a:solidFill>
                      <a:srgbClr val="FFFFFF"/>
                    </a:solidFill>
                  </a:tcPr>
                </a:tc>
                <a:tc>
                  <a:txBody>
                    <a:bodyPr/>
                    <a:lstStyle/>
                    <a:p>
                      <a:r>
                        <a:rPr sz="1150" b="1">
                          <a:solidFill>
                            <a:srgbClr val="F4A261"/>
                          </a:solidFill>
                          <a:latin typeface="Microsoft JhengHei"/>
                          <a:ea typeface="Microsoft JhengHei"/>
                          <a:cs typeface="Microsoft JhengHei"/>
                        </a:rPr>
                        <a:t>勒索病毒/加密</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目前受影響之系統正陸續復原中，對公司整體營運及財務之影響程度尚不致有…</a:t>
                      </a:r>
                    </a:p>
                  </a:txBody>
                  <a:tcPr anchor="ctr" marL="73152" marT="9144" marB="9144">
                    <a:solidFill>
                      <a:srgbClr val="FFFFFF"/>
                    </a:solidFill>
                  </a:tcPr>
                </a:tc>
              </a:tr>
              <a:tr h="324196">
                <a:tc>
                  <a:txBody>
                    <a:bodyPr/>
                    <a:lstStyle/>
                    <a:p>
                      <a:r>
                        <a:rPr sz="1150" b="0">
                          <a:solidFill>
                            <a:srgbClr val="1A2233"/>
                          </a:solidFill>
                          <a:latin typeface="Microsoft JhengHei"/>
                          <a:ea typeface="Microsoft JhengHei"/>
                          <a:cs typeface="Microsoft JhengHei"/>
                        </a:rPr>
                        <a:t>杭特</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3297</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08/31</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本公司目前正積極會同技術專家協助調查，初步評估對公司營運暫無重大影響…</a:t>
                      </a:r>
                    </a:p>
                  </a:txBody>
                  <a:tcPr anchor="ctr" marL="73152" marT="9144" marB="9144">
                    <a:solidFill>
                      <a:srgbClr val="EEF2F9"/>
                    </a:solidFill>
                  </a:tcPr>
                </a:tc>
              </a:tr>
              <a:tr h="324196">
                <a:tc>
                  <a:txBody>
                    <a:bodyPr/>
                    <a:lstStyle/>
                    <a:p>
                      <a:r>
                        <a:rPr sz="1150" b="0">
                          <a:solidFill>
                            <a:srgbClr val="1A2233"/>
                          </a:solidFill>
                          <a:latin typeface="Microsoft JhengHei"/>
                          <a:ea typeface="Microsoft JhengHei"/>
                          <a:cs typeface="Microsoft JhengHei"/>
                        </a:rPr>
                        <a:t>數字</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5287</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08/20</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目前評估對公司營運尚無重大影響</a:t>
                      </a:r>
                    </a:p>
                  </a:txBody>
                  <a:tcPr anchor="ctr" marL="73152" marT="9144" marB="9144">
                    <a:solidFill>
                      <a:srgbClr val="FFFFFF"/>
                    </a:solidFill>
                  </a:tcPr>
                </a:tc>
              </a:tr>
              <a:tr h="324200">
                <a:tc>
                  <a:txBody>
                    <a:bodyPr/>
                    <a:lstStyle/>
                    <a:p>
                      <a:r>
                        <a:rPr sz="1150" b="0">
                          <a:solidFill>
                            <a:srgbClr val="1A2233"/>
                          </a:solidFill>
                          <a:latin typeface="Microsoft JhengHei"/>
                          <a:ea typeface="Microsoft JhengHei"/>
                          <a:cs typeface="Microsoft JhengHei"/>
                        </a:rPr>
                        <a:t>上詮</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3363</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08/19</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目前評估對公司營運無重大影響。</a:t>
                      </a:r>
                    </a:p>
                  </a:txBody>
                  <a:tcPr anchor="ctr" marL="73152" marT="9144" marB="9144">
                    <a:solidFill>
                      <a:srgbClr val="EEF2F9"/>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事件類型分布</a:t>
            </a:r>
          </a:p>
        </p:txBody>
      </p:sp>
      <p:sp>
        <p:nvSpPr>
          <p:cNvPr id="4" name="TextBox 3"/>
          <p:cNvSpPr txBox="1"/>
          <p:nvPr/>
        </p:nvSpPr>
        <p:spPr>
          <a:xfrm>
            <a:off x="566928" y="1005840"/>
            <a:ext cx="91440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依公告主旨與內文關鍵字分類</a:t>
            </a:r>
          </a:p>
        </p:txBody>
      </p:sp>
      <p:graphicFrame>
        <p:nvGraphicFramePr>
          <p:cNvPr id="5" name="Chart 4"/>
          <p:cNvGraphicFramePr>
            <a:graphicFrameLocks noGrp="1"/>
          </p:cNvGraphicFramePr>
          <p:nvPr/>
        </p:nvGraphicFramePr>
        <p:xfrm>
          <a:off x="457200" y="1554480"/>
          <a:ext cx="4754880" cy="4480560"/>
        </p:xfrm>
        <a:graphic>
          <a:graphicData uri="http://schemas.openxmlformats.org/drawingml/2006/chart">
            <c:chart xmlns:c="http://schemas.openxmlformats.org/drawingml/2006/chart" r:id="rId2"/>
          </a:graphicData>
        </a:graphic>
      </p:graphicFrame>
      <p:sp>
        <p:nvSpPr>
          <p:cNvPr id="6" name="Rounded Rectangle 5"/>
          <p:cNvSpPr/>
          <p:nvPr/>
        </p:nvSpPr>
        <p:spPr>
          <a:xfrm>
            <a:off x="5669280" y="1691640"/>
            <a:ext cx="6035040" cy="1170432"/>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691640"/>
            <a:ext cx="109728" cy="1170432"/>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97880" y="1801368"/>
            <a:ext cx="420624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駭客攻擊</a:t>
            </a:r>
          </a:p>
        </p:txBody>
      </p:sp>
      <p:sp>
        <p:nvSpPr>
          <p:cNvPr id="9" name="TextBox 8"/>
          <p:cNvSpPr txBox="1"/>
          <p:nvPr/>
        </p:nvSpPr>
        <p:spPr>
          <a:xfrm>
            <a:off x="10058400" y="1801368"/>
            <a:ext cx="1463040" cy="365760"/>
          </a:xfrm>
          <a:prstGeom prst="rect">
            <a:avLst/>
          </a:prstGeom>
          <a:noFill/>
        </p:spPr>
        <p:txBody>
          <a:bodyPr wrap="square" anchor="ctr" lIns="0" rIns="0" tIns="0" bIns="0">
            <a:spAutoFit/>
          </a:bodyPr>
          <a:lstStyle/>
          <a:p>
            <a:pPr algn="r"/>
            <a:r>
              <a:rPr sz="1800" b="1">
                <a:solidFill>
                  <a:srgbClr val="E63946"/>
                </a:solidFill>
                <a:latin typeface="Microsoft JhengHei"/>
                <a:ea typeface="Microsoft JhengHei"/>
                <a:cs typeface="Microsoft JhengHei"/>
              </a:rPr>
              <a:t>7 起</a:t>
            </a:r>
          </a:p>
        </p:txBody>
      </p:sp>
      <p:sp>
        <p:nvSpPr>
          <p:cNvPr id="10" name="TextBox 9"/>
          <p:cNvSpPr txBox="1"/>
          <p:nvPr/>
        </p:nvSpPr>
        <p:spPr>
          <a:xfrm>
            <a:off x="5897880" y="2194560"/>
            <a:ext cx="5577840" cy="274320"/>
          </a:xfrm>
          <a:prstGeom prst="rect">
            <a:avLst/>
          </a:prstGeom>
          <a:noFill/>
        </p:spPr>
        <p:txBody>
          <a:bodyPr wrap="square" anchor="t" lIns="0" rIns="0" tIns="0" bIns="0">
            <a:spAutoFit/>
          </a:bodyPr>
          <a:lstStyle/>
          <a:p>
            <a:pPr algn="l"/>
            <a:r>
              <a:rPr sz="1150" b="1">
                <a:solidFill>
                  <a:srgbClr val="1A2233"/>
                </a:solidFill>
                <a:latin typeface="Microsoft JhengHei"/>
                <a:ea typeface="Microsoft JhengHei"/>
                <a:cs typeface="Microsoft JhengHei"/>
              </a:rPr>
              <a:t>長榮航、長榮航太、達爾膚、大車隊、杭特、數字、上詮</a:t>
            </a:r>
          </a:p>
        </p:txBody>
      </p:sp>
      <p:sp>
        <p:nvSpPr>
          <p:cNvPr id="11" name="TextBox 10"/>
          <p:cNvSpPr txBox="1"/>
          <p:nvPr/>
        </p:nvSpPr>
        <p:spPr>
          <a:xfrm>
            <a:off x="5897880" y="2459736"/>
            <a:ext cx="5669280" cy="329184"/>
          </a:xfrm>
          <a:prstGeom prst="rect">
            <a:avLst/>
          </a:prstGeom>
          <a:noFill/>
        </p:spPr>
        <p:txBody>
          <a:bodyPr wrap="square" anchor="t" lIns="0" rIns="0" tIns="0" bIns="0">
            <a:spAutoFit/>
          </a:bodyPr>
          <a:lstStyle/>
          <a:p>
            <a:pPr algn="l"/>
            <a:r>
              <a:rPr sz="1100" b="0">
                <a:solidFill>
                  <a:srgbClr val="5C6679"/>
                </a:solidFill>
                <a:latin typeface="Microsoft JhengHei"/>
                <a:ea typeface="Microsoft JhengHei"/>
                <a:cs typeface="Microsoft JhengHei"/>
              </a:rPr>
              <a:t>系統遭外部入侵或企圖登入，立即啟動防禦機制</a:t>
            </a:r>
          </a:p>
        </p:txBody>
      </p:sp>
      <p:sp>
        <p:nvSpPr>
          <p:cNvPr id="12" name="Rounded Rectangle 11"/>
          <p:cNvSpPr/>
          <p:nvPr/>
        </p:nvSpPr>
        <p:spPr>
          <a:xfrm>
            <a:off x="5669280" y="3017520"/>
            <a:ext cx="6035040" cy="1170432"/>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669280" y="3017520"/>
            <a:ext cx="109728" cy="1170432"/>
          </a:xfrm>
          <a:prstGeom prst="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97880" y="3127248"/>
            <a:ext cx="420624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勒索病毒/加密</a:t>
            </a:r>
          </a:p>
        </p:txBody>
      </p:sp>
      <p:sp>
        <p:nvSpPr>
          <p:cNvPr id="15" name="TextBox 14"/>
          <p:cNvSpPr txBox="1"/>
          <p:nvPr/>
        </p:nvSpPr>
        <p:spPr>
          <a:xfrm>
            <a:off x="10058400" y="3127248"/>
            <a:ext cx="1463040" cy="365760"/>
          </a:xfrm>
          <a:prstGeom prst="rect">
            <a:avLst/>
          </a:prstGeom>
          <a:noFill/>
        </p:spPr>
        <p:txBody>
          <a:bodyPr wrap="square" anchor="ctr" lIns="0" rIns="0" tIns="0" bIns="0">
            <a:spAutoFit/>
          </a:bodyPr>
          <a:lstStyle/>
          <a:p>
            <a:pPr algn="r"/>
            <a:r>
              <a:rPr sz="1800" b="1">
                <a:solidFill>
                  <a:srgbClr val="F4A261"/>
                </a:solidFill>
                <a:latin typeface="Microsoft JhengHei"/>
                <a:ea typeface="Microsoft JhengHei"/>
                <a:cs typeface="Microsoft JhengHei"/>
              </a:rPr>
              <a:t>3 起</a:t>
            </a:r>
          </a:p>
        </p:txBody>
      </p:sp>
      <p:sp>
        <p:nvSpPr>
          <p:cNvPr id="16" name="TextBox 15"/>
          <p:cNvSpPr txBox="1"/>
          <p:nvPr/>
        </p:nvSpPr>
        <p:spPr>
          <a:xfrm>
            <a:off x="5897880" y="3520439"/>
            <a:ext cx="5577840" cy="274320"/>
          </a:xfrm>
          <a:prstGeom prst="rect">
            <a:avLst/>
          </a:prstGeom>
          <a:noFill/>
        </p:spPr>
        <p:txBody>
          <a:bodyPr wrap="square" anchor="t" lIns="0" rIns="0" tIns="0" bIns="0">
            <a:spAutoFit/>
          </a:bodyPr>
          <a:lstStyle/>
          <a:p>
            <a:pPr algn="l"/>
            <a:r>
              <a:rPr sz="1150" b="1">
                <a:solidFill>
                  <a:srgbClr val="1A2233"/>
                </a:solidFill>
                <a:latin typeface="Microsoft JhengHei"/>
                <a:ea typeface="Microsoft JhengHei"/>
                <a:cs typeface="Microsoft JhengHei"/>
              </a:rPr>
              <a:t>崴寶、富爾特、創新服務</a:t>
            </a:r>
          </a:p>
        </p:txBody>
      </p:sp>
      <p:sp>
        <p:nvSpPr>
          <p:cNvPr id="17" name="TextBox 16"/>
          <p:cNvSpPr txBox="1"/>
          <p:nvPr/>
        </p:nvSpPr>
        <p:spPr>
          <a:xfrm>
            <a:off x="5897880" y="3785615"/>
            <a:ext cx="5669280" cy="329184"/>
          </a:xfrm>
          <a:prstGeom prst="rect">
            <a:avLst/>
          </a:prstGeom>
          <a:noFill/>
        </p:spPr>
        <p:txBody>
          <a:bodyPr wrap="square" anchor="t" lIns="0" rIns="0" tIns="0" bIns="0">
            <a:spAutoFit/>
          </a:bodyPr>
          <a:lstStyle/>
          <a:p>
            <a:pPr algn="l"/>
            <a:r>
              <a:rPr sz="1100" b="0">
                <a:solidFill>
                  <a:srgbClr val="5C6679"/>
                </a:solidFill>
                <a:latin typeface="Microsoft JhengHei"/>
                <a:ea typeface="Microsoft JhengHei"/>
                <a:cs typeface="Microsoft JhengHei"/>
              </a:rPr>
              <a:t>伺服器資料遭加密，須系統隔離與資料復原</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簽證會計師一覽</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各公司目前之簽證會計師事務所與簽證會計師</a:t>
            </a:r>
          </a:p>
        </p:txBody>
      </p:sp>
      <p:graphicFrame>
        <p:nvGraphicFramePr>
          <p:cNvPr id="5" name="Table 4"/>
          <p:cNvGraphicFramePr>
            <a:graphicFrameLocks noGrp="1"/>
          </p:cNvGraphicFramePr>
          <p:nvPr/>
        </p:nvGraphicFramePr>
        <p:xfrm>
          <a:off x="548640" y="1600200"/>
          <a:ext cx="10789920" cy="4480560"/>
        </p:xfrm>
        <a:graphic>
          <a:graphicData uri="http://schemas.openxmlformats.org/drawingml/2006/table">
            <a:tbl>
              <a:tblPr>
                <a:tableStyleId>{5C22544A-7EE6-4342-B048-85BDC9FD1C3A}</a:tableStyleId>
              </a:tblPr>
              <a:tblGrid>
                <a:gridCol w="1828800"/>
                <a:gridCol w="868680"/>
                <a:gridCol w="2103120"/>
                <a:gridCol w="3383280"/>
                <a:gridCol w="2606040"/>
              </a:tblGrid>
              <a:tr h="407323">
                <a:tc>
                  <a:txBody>
                    <a:bodyPr/>
                    <a:lstStyle/>
                    <a:p>
                      <a:r>
                        <a:rPr sz="1250" b="1">
                          <a:solidFill>
                            <a:srgbClr val="FFFFFF"/>
                          </a:solidFill>
                          <a:latin typeface="Microsoft JhengHei"/>
                          <a:ea typeface="Microsoft JhengHei"/>
                          <a:cs typeface="Microsoft JhengHei"/>
                        </a:rPr>
                        <a:t>公司</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代號</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事件類型</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簽證會計師事務所</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簽證會計師</a:t>
                      </a:r>
                    </a:p>
                  </a:txBody>
                  <a:tcPr anchor="ctr" marL="73152" marT="18288" marB="18288">
                    <a:solidFill>
                      <a:srgbClr val="14213D"/>
                    </a:solidFill>
                  </a:tcPr>
                </a:tc>
              </a:tr>
              <a:tr h="407323">
                <a:tc>
                  <a:txBody>
                    <a:bodyPr/>
                    <a:lstStyle/>
                    <a:p>
                      <a:r>
                        <a:rPr sz="1150" b="0">
                          <a:solidFill>
                            <a:srgbClr val="1A2233"/>
                          </a:solidFill>
                          <a:latin typeface="Microsoft JhengHei"/>
                          <a:ea typeface="Microsoft JhengHei"/>
                          <a:cs typeface="Microsoft JhengHei"/>
                        </a:rPr>
                        <a:t>長榮航</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2618</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安侯建業聯合會計師事務所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陳雅琳、楊雲筑</a:t>
                      </a:r>
                    </a:p>
                  </a:txBody>
                  <a:tcPr anchor="ctr" marL="73152" marT="9144" marB="9144">
                    <a:solidFill>
                      <a:srgbClr val="FFFFFF"/>
                    </a:solidFill>
                  </a:tcPr>
                </a:tc>
              </a:tr>
              <a:tr h="407323">
                <a:tc>
                  <a:txBody>
                    <a:bodyPr/>
                    <a:lstStyle/>
                    <a:p>
                      <a:r>
                        <a:rPr sz="1150" b="0">
                          <a:solidFill>
                            <a:srgbClr val="1A2233"/>
                          </a:solidFill>
                          <a:latin typeface="Microsoft JhengHei"/>
                          <a:ea typeface="Microsoft JhengHei"/>
                          <a:cs typeface="Microsoft JhengHei"/>
                        </a:rPr>
                        <a:t>長榮航太</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2645</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安侯建業聯合會計師事務所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陳雅琳、鄭博仁</a:t>
                      </a:r>
                    </a:p>
                  </a:txBody>
                  <a:tcPr anchor="ctr" marL="73152" marT="9144" marB="9144">
                    <a:solidFill>
                      <a:srgbClr val="EEF2F9"/>
                    </a:solidFill>
                  </a:tcPr>
                </a:tc>
              </a:tr>
              <a:tr h="407323">
                <a:tc>
                  <a:txBody>
                    <a:bodyPr/>
                    <a:lstStyle/>
                    <a:p>
                      <a:r>
                        <a:rPr sz="1150" b="0">
                          <a:solidFill>
                            <a:srgbClr val="1A2233"/>
                          </a:solidFill>
                          <a:latin typeface="Microsoft JhengHei"/>
                          <a:ea typeface="Microsoft JhengHei"/>
                          <a:cs typeface="Microsoft JhengHei"/>
                        </a:rPr>
                        <a:t>崴寶</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7744</a:t>
                      </a:r>
                    </a:p>
                  </a:txBody>
                  <a:tcPr anchor="ctr" marL="73152" marT="9144" marB="9144">
                    <a:solidFill>
                      <a:srgbClr val="FFFFFF"/>
                    </a:solidFill>
                  </a:tcPr>
                </a:tc>
                <a:tc>
                  <a:txBody>
                    <a:bodyPr/>
                    <a:lstStyle/>
                    <a:p>
                      <a:r>
                        <a:rPr sz="1150" b="1">
                          <a:solidFill>
                            <a:srgbClr val="F4A261"/>
                          </a:solidFill>
                          <a:latin typeface="Microsoft JhengHei"/>
                          <a:ea typeface="Microsoft JhengHei"/>
                          <a:cs typeface="Microsoft JhengHei"/>
                        </a:rPr>
                        <a:t>勒索病毒/加密</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安永聯合會計師事務所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黃宇廷、黃子評</a:t>
                      </a:r>
                    </a:p>
                  </a:txBody>
                  <a:tcPr anchor="ctr" marL="73152" marT="9144" marB="9144">
                    <a:solidFill>
                      <a:srgbClr val="FFFFFF"/>
                    </a:solidFill>
                  </a:tcPr>
                </a:tc>
              </a:tr>
              <a:tr h="407323">
                <a:tc>
                  <a:txBody>
                    <a:bodyPr/>
                    <a:lstStyle/>
                    <a:p>
                      <a:r>
                        <a:rPr sz="1150" b="0">
                          <a:solidFill>
                            <a:srgbClr val="1A2233"/>
                          </a:solidFill>
                          <a:latin typeface="Microsoft JhengHei"/>
                          <a:ea typeface="Microsoft JhengHei"/>
                          <a:cs typeface="Microsoft JhengHei"/>
                        </a:rPr>
                        <a:t>達爾膚</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6523</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于智帆、葉翠苗</a:t>
                      </a:r>
                    </a:p>
                  </a:txBody>
                  <a:tcPr anchor="ctr" marL="73152" marT="9144" marB="9144">
                    <a:solidFill>
                      <a:srgbClr val="EEF2F9"/>
                    </a:solidFill>
                  </a:tcPr>
                </a:tc>
              </a:tr>
              <a:tr h="407323">
                <a:tc>
                  <a:txBody>
                    <a:bodyPr/>
                    <a:lstStyle/>
                    <a:p>
                      <a:r>
                        <a:rPr sz="1150" b="0">
                          <a:solidFill>
                            <a:srgbClr val="1A2233"/>
                          </a:solidFill>
                          <a:latin typeface="Microsoft JhengHei"/>
                          <a:ea typeface="Microsoft JhengHei"/>
                          <a:cs typeface="Microsoft JhengHei"/>
                        </a:rPr>
                        <a:t>大車隊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2640</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支秉鈞、涂展源</a:t>
                      </a:r>
                    </a:p>
                  </a:txBody>
                  <a:tcPr anchor="ctr" marL="73152" marT="9144" marB="9144">
                    <a:solidFill>
                      <a:srgbClr val="FFFFFF"/>
                    </a:solidFill>
                  </a:tcPr>
                </a:tc>
              </a:tr>
              <a:tr h="407323">
                <a:tc>
                  <a:txBody>
                    <a:bodyPr/>
                    <a:lstStyle/>
                    <a:p>
                      <a:r>
                        <a:rPr sz="1150" b="0">
                          <a:solidFill>
                            <a:srgbClr val="1A2233"/>
                          </a:solidFill>
                          <a:latin typeface="Microsoft JhengHei"/>
                          <a:ea typeface="Microsoft JhengHei"/>
                          <a:cs typeface="Microsoft JhengHei"/>
                        </a:rPr>
                        <a:t>富爾特</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6136</a:t>
                      </a:r>
                    </a:p>
                  </a:txBody>
                  <a:tcPr anchor="ctr" marL="73152" marT="9144" marB="9144">
                    <a:solidFill>
                      <a:srgbClr val="EEF2F9"/>
                    </a:solidFill>
                  </a:tcPr>
                </a:tc>
                <a:tc>
                  <a:txBody>
                    <a:bodyPr/>
                    <a:lstStyle/>
                    <a:p>
                      <a:r>
                        <a:rPr sz="1150" b="1">
                          <a:solidFill>
                            <a:srgbClr val="F4A261"/>
                          </a:solidFill>
                          <a:latin typeface="Microsoft JhengHei"/>
                          <a:ea typeface="Microsoft JhengHei"/>
                          <a:cs typeface="Microsoft JhengHei"/>
                        </a:rPr>
                        <a:t>勒索病毒/加密</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安永聯合會計師事務所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許新民、余倩如</a:t>
                      </a:r>
                    </a:p>
                  </a:txBody>
                  <a:tcPr anchor="ctr" marL="73152" marT="9144" marB="9144">
                    <a:solidFill>
                      <a:srgbClr val="EEF2F9"/>
                    </a:solidFill>
                  </a:tcPr>
                </a:tc>
              </a:tr>
              <a:tr h="407323">
                <a:tc>
                  <a:txBody>
                    <a:bodyPr/>
                    <a:lstStyle/>
                    <a:p>
                      <a:r>
                        <a:rPr sz="1150" b="0">
                          <a:solidFill>
                            <a:srgbClr val="1A2233"/>
                          </a:solidFill>
                          <a:latin typeface="Microsoft JhengHei"/>
                          <a:ea typeface="Microsoft JhengHei"/>
                          <a:cs typeface="Microsoft JhengHei"/>
                        </a:rPr>
                        <a:t>創新服務</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7828</a:t>
                      </a:r>
                    </a:p>
                  </a:txBody>
                  <a:tcPr anchor="ctr" marL="73152" marT="9144" marB="9144">
                    <a:solidFill>
                      <a:srgbClr val="FFFFFF"/>
                    </a:solidFill>
                  </a:tcPr>
                </a:tc>
                <a:tc>
                  <a:txBody>
                    <a:bodyPr/>
                    <a:lstStyle/>
                    <a:p>
                      <a:r>
                        <a:rPr sz="1150" b="1">
                          <a:solidFill>
                            <a:srgbClr val="F4A261"/>
                          </a:solidFill>
                          <a:latin typeface="Microsoft JhengHei"/>
                          <a:ea typeface="Microsoft JhengHei"/>
                          <a:cs typeface="Microsoft JhengHei"/>
                        </a:rPr>
                        <a:t>勒索病毒/加密</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蔡欣怡、白淑蒨</a:t>
                      </a:r>
                    </a:p>
                  </a:txBody>
                  <a:tcPr anchor="ctr" marL="73152" marT="9144" marB="9144">
                    <a:solidFill>
                      <a:srgbClr val="FFFFFF"/>
                    </a:solidFill>
                  </a:tcPr>
                </a:tc>
              </a:tr>
              <a:tr h="407323">
                <a:tc>
                  <a:txBody>
                    <a:bodyPr/>
                    <a:lstStyle/>
                    <a:p>
                      <a:r>
                        <a:rPr sz="1150" b="0">
                          <a:solidFill>
                            <a:srgbClr val="1A2233"/>
                          </a:solidFill>
                          <a:latin typeface="Microsoft JhengHei"/>
                          <a:ea typeface="Microsoft JhengHei"/>
                          <a:cs typeface="Microsoft JhengHei"/>
                        </a:rPr>
                        <a:t>杭特</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3297</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陳憲正、林瑟凱</a:t>
                      </a:r>
                    </a:p>
                  </a:txBody>
                  <a:tcPr anchor="ctr" marL="73152" marT="9144" marB="9144">
                    <a:solidFill>
                      <a:srgbClr val="EEF2F9"/>
                    </a:solidFill>
                  </a:tcPr>
                </a:tc>
              </a:tr>
              <a:tr h="407323">
                <a:tc>
                  <a:txBody>
                    <a:bodyPr/>
                    <a:lstStyle/>
                    <a:p>
                      <a:r>
                        <a:rPr sz="1150" b="0">
                          <a:solidFill>
                            <a:srgbClr val="1A2233"/>
                          </a:solidFill>
                          <a:latin typeface="Microsoft JhengHei"/>
                          <a:ea typeface="Microsoft JhengHei"/>
                          <a:cs typeface="Microsoft JhengHei"/>
                        </a:rPr>
                        <a:t>數字</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5287</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安侯建業聯合會計師事務所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羅瑞芝、余聖河</a:t>
                      </a:r>
                    </a:p>
                  </a:txBody>
                  <a:tcPr anchor="ctr" marL="73152" marT="9144" marB="9144">
                    <a:solidFill>
                      <a:srgbClr val="FFFFFF"/>
                    </a:solidFill>
                  </a:tcPr>
                </a:tc>
              </a:tr>
              <a:tr h="407330">
                <a:tc>
                  <a:txBody>
                    <a:bodyPr/>
                    <a:lstStyle/>
                    <a:p>
                      <a:r>
                        <a:rPr sz="1150" b="0">
                          <a:solidFill>
                            <a:srgbClr val="1A2233"/>
                          </a:solidFill>
                          <a:latin typeface="Microsoft JhengHei"/>
                          <a:ea typeface="Microsoft JhengHei"/>
                          <a:cs typeface="Microsoft JhengHei"/>
                        </a:rPr>
                        <a:t>上詮</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3363</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白淑蒨、李典易</a:t>
                      </a:r>
                    </a:p>
                  </a:txBody>
                  <a:tcPr anchor="ctr" marL="73152" marT="9144" marB="9144">
                    <a:solidFill>
                      <a:srgbClr val="EEF2F9"/>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共通因應流程</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各公司處理過程高度一致，已形成標準應變劇本</a:t>
            </a:r>
          </a:p>
        </p:txBody>
      </p:sp>
      <p:sp>
        <p:nvSpPr>
          <p:cNvPr id="5" name="Rounded Rectangle 4"/>
          <p:cNvSpPr/>
          <p:nvPr/>
        </p:nvSpPr>
        <p:spPr>
          <a:xfrm>
            <a:off x="640080"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572768"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572768"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01</a:t>
            </a:r>
          </a:p>
        </p:txBody>
      </p:sp>
      <p:sp>
        <p:nvSpPr>
          <p:cNvPr id="8" name="TextBox 7"/>
          <p:cNvSpPr txBox="1"/>
          <p:nvPr/>
        </p:nvSpPr>
        <p:spPr>
          <a:xfrm>
            <a:off x="640080"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偵測異常</a:t>
            </a:r>
          </a:p>
        </p:txBody>
      </p:sp>
      <p:sp>
        <p:nvSpPr>
          <p:cNvPr id="9" name="TextBox 8"/>
          <p:cNvSpPr txBox="1"/>
          <p:nvPr/>
        </p:nvSpPr>
        <p:spPr>
          <a:xfrm>
            <a:off x="777240"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資安單位或外部通報
發現系統異常或入侵</a:t>
            </a:r>
          </a:p>
        </p:txBody>
      </p:sp>
      <p:sp>
        <p:nvSpPr>
          <p:cNvPr id="10" name="TextBox 9"/>
          <p:cNvSpPr txBox="1"/>
          <p:nvPr/>
        </p:nvSpPr>
        <p:spPr>
          <a:xfrm>
            <a:off x="3127248" y="1828800"/>
            <a:ext cx="365760" cy="2286000"/>
          </a:xfrm>
          <a:prstGeom prst="rect">
            <a:avLst/>
          </a:prstGeom>
          <a:noFill/>
        </p:spPr>
        <p:txBody>
          <a:bodyPr wrap="square" anchor="ctr" lIns="0" rIns="0" tIns="0" bIns="0">
            <a:spAutoFit/>
          </a:bodyPr>
          <a:lstStyle/>
          <a:p>
            <a:pPr algn="ctr"/>
            <a:r>
              <a:rPr sz="2800" b="1">
                <a:solidFill>
                  <a:srgbClr val="5C6679"/>
                </a:solidFill>
                <a:latin typeface="Microsoft JhengHei"/>
                <a:ea typeface="Microsoft JhengHei"/>
                <a:cs typeface="Microsoft JhengHei"/>
              </a:rPr>
              <a:t>›</a:t>
            </a:r>
          </a:p>
        </p:txBody>
      </p:sp>
      <p:sp>
        <p:nvSpPr>
          <p:cNvPr id="11" name="Rounded Rectangle 10"/>
          <p:cNvSpPr/>
          <p:nvPr/>
        </p:nvSpPr>
        <p:spPr>
          <a:xfrm>
            <a:off x="3447287"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379975"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79975"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02</a:t>
            </a:r>
          </a:p>
        </p:txBody>
      </p:sp>
      <p:sp>
        <p:nvSpPr>
          <p:cNvPr id="14" name="TextBox 13"/>
          <p:cNvSpPr txBox="1"/>
          <p:nvPr/>
        </p:nvSpPr>
        <p:spPr>
          <a:xfrm>
            <a:off x="3447287"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啟動應變</a:t>
            </a:r>
          </a:p>
        </p:txBody>
      </p:sp>
      <p:sp>
        <p:nvSpPr>
          <p:cNvPr id="15" name="TextBox 14"/>
          <p:cNvSpPr txBox="1"/>
          <p:nvPr/>
        </p:nvSpPr>
        <p:spPr>
          <a:xfrm>
            <a:off x="3584447"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立即啟動資安應變機制
系統隔離、防護強化</a:t>
            </a:r>
          </a:p>
        </p:txBody>
      </p:sp>
      <p:sp>
        <p:nvSpPr>
          <p:cNvPr id="16" name="TextBox 15"/>
          <p:cNvSpPr txBox="1"/>
          <p:nvPr/>
        </p:nvSpPr>
        <p:spPr>
          <a:xfrm>
            <a:off x="5934456" y="1828800"/>
            <a:ext cx="365760" cy="2286000"/>
          </a:xfrm>
          <a:prstGeom prst="rect">
            <a:avLst/>
          </a:prstGeom>
          <a:noFill/>
        </p:spPr>
        <p:txBody>
          <a:bodyPr wrap="square" anchor="ctr" lIns="0" rIns="0" tIns="0" bIns="0">
            <a:spAutoFit/>
          </a:bodyPr>
          <a:lstStyle/>
          <a:p>
            <a:pPr algn="ctr"/>
            <a:r>
              <a:rPr sz="2800" b="1">
                <a:solidFill>
                  <a:srgbClr val="5C6679"/>
                </a:solidFill>
                <a:latin typeface="Microsoft JhengHei"/>
                <a:ea typeface="Microsoft JhengHei"/>
                <a:cs typeface="Microsoft JhengHei"/>
              </a:rPr>
              <a:t>›</a:t>
            </a:r>
          </a:p>
        </p:txBody>
      </p:sp>
      <p:sp>
        <p:nvSpPr>
          <p:cNvPr id="17" name="Rounded Rectangle 16"/>
          <p:cNvSpPr/>
          <p:nvPr/>
        </p:nvSpPr>
        <p:spPr>
          <a:xfrm>
            <a:off x="6254496"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87183"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87183"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03</a:t>
            </a:r>
          </a:p>
        </p:txBody>
      </p:sp>
      <p:sp>
        <p:nvSpPr>
          <p:cNvPr id="20" name="TextBox 19"/>
          <p:cNvSpPr txBox="1"/>
          <p:nvPr/>
        </p:nvSpPr>
        <p:spPr>
          <a:xfrm>
            <a:off x="6254496"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外部協助</a:t>
            </a:r>
          </a:p>
        </p:txBody>
      </p:sp>
      <p:sp>
        <p:nvSpPr>
          <p:cNvPr id="21" name="TextBox 20"/>
          <p:cNvSpPr txBox="1"/>
          <p:nvPr/>
        </p:nvSpPr>
        <p:spPr>
          <a:xfrm>
            <a:off x="6391656"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委請外部資安專業團隊
鑑識調查與資料復原</a:t>
            </a:r>
          </a:p>
        </p:txBody>
      </p:sp>
      <p:sp>
        <p:nvSpPr>
          <p:cNvPr id="22" name="TextBox 21"/>
          <p:cNvSpPr txBox="1"/>
          <p:nvPr/>
        </p:nvSpPr>
        <p:spPr>
          <a:xfrm>
            <a:off x="8741664" y="1828800"/>
            <a:ext cx="365760" cy="2286000"/>
          </a:xfrm>
          <a:prstGeom prst="rect">
            <a:avLst/>
          </a:prstGeom>
          <a:noFill/>
        </p:spPr>
        <p:txBody>
          <a:bodyPr wrap="square" anchor="ctr" lIns="0" rIns="0" tIns="0" bIns="0">
            <a:spAutoFit/>
          </a:bodyPr>
          <a:lstStyle/>
          <a:p>
            <a:pPr algn="ctr"/>
            <a:r>
              <a:rPr sz="2800" b="1">
                <a:solidFill>
                  <a:srgbClr val="5C6679"/>
                </a:solidFill>
                <a:latin typeface="Microsoft JhengHei"/>
                <a:ea typeface="Microsoft JhengHei"/>
                <a:cs typeface="Microsoft JhengHei"/>
              </a:rPr>
              <a:t>›</a:t>
            </a:r>
          </a:p>
        </p:txBody>
      </p:sp>
      <p:sp>
        <p:nvSpPr>
          <p:cNvPr id="23" name="Rounded Rectangle 22"/>
          <p:cNvSpPr/>
          <p:nvPr/>
        </p:nvSpPr>
        <p:spPr>
          <a:xfrm>
            <a:off x="9061703"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994391"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94391"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04</a:t>
            </a:r>
          </a:p>
        </p:txBody>
      </p:sp>
      <p:sp>
        <p:nvSpPr>
          <p:cNvPr id="26" name="TextBox 25"/>
          <p:cNvSpPr txBox="1"/>
          <p:nvPr/>
        </p:nvSpPr>
        <p:spPr>
          <a:xfrm>
            <a:off x="9061703"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強化監控</a:t>
            </a:r>
          </a:p>
        </p:txBody>
      </p:sp>
      <p:sp>
        <p:nvSpPr>
          <p:cNvPr id="27" name="TextBox 26"/>
          <p:cNvSpPr txBox="1"/>
          <p:nvPr/>
        </p:nvSpPr>
        <p:spPr>
          <a:xfrm>
            <a:off x="9198863"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盤查系統、提升架構
持續密切監控防護</a:t>
            </a:r>
          </a:p>
        </p:txBody>
      </p:sp>
      <p:sp>
        <p:nvSpPr>
          <p:cNvPr id="28" name="Rounded Rectangle 27"/>
          <p:cNvSpPr/>
          <p:nvPr/>
        </p:nvSpPr>
        <p:spPr>
          <a:xfrm>
            <a:off x="640080" y="4572000"/>
            <a:ext cx="10881360" cy="1325880"/>
          </a:xfrm>
          <a:prstGeom prst="roundRect">
            <a:avLst/>
          </a:prstGeom>
          <a:solidFill>
            <a:srgbClr val="FF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40080" y="4572000"/>
            <a:ext cx="109728" cy="1325880"/>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8680" y="4709160"/>
            <a:ext cx="10424160" cy="411480"/>
          </a:xfrm>
          <a:prstGeom prst="rect">
            <a:avLst/>
          </a:prstGeom>
          <a:noFill/>
        </p:spPr>
        <p:txBody>
          <a:bodyPr wrap="square" anchor="ctr" lIns="0" rIns="0" tIns="0" bIns="0">
            <a:spAutoFit/>
          </a:bodyPr>
          <a:lstStyle/>
          <a:p>
            <a:pPr algn="l"/>
            <a:r>
              <a:rPr sz="1500" b="1">
                <a:solidFill>
                  <a:srgbClr val="E63946"/>
                </a:solidFill>
                <a:latin typeface="Microsoft JhengHei"/>
                <a:ea typeface="Microsoft JhengHei"/>
                <a:cs typeface="Microsoft JhengHei"/>
              </a:rPr>
              <a:t>個資外洩事件額外步驟　</a:t>
            </a:r>
            <a:r>
              <a:rPr sz="1200" b="0">
                <a:solidFill>
                  <a:srgbClr val="5C6679"/>
                </a:solidFill>
                <a:latin typeface="Microsoft JhengHei"/>
                <a:ea typeface="Microsoft JhengHei"/>
                <a:cs typeface="Microsoft JhengHei"/>
              </a:rPr>
              <a:t>（依事件性質適用）</a:t>
            </a:r>
          </a:p>
        </p:txBody>
      </p:sp>
      <p:sp>
        <p:nvSpPr>
          <p:cNvPr id="31" name="TextBox 30"/>
          <p:cNvSpPr txBox="1"/>
          <p:nvPr/>
        </p:nvSpPr>
        <p:spPr>
          <a:xfrm>
            <a:off x="868680" y="5166360"/>
            <a:ext cx="10515600" cy="548640"/>
          </a:xfrm>
          <a:prstGeom prst="rect">
            <a:avLst/>
          </a:prstGeom>
          <a:noFill/>
        </p:spPr>
        <p:txBody>
          <a:bodyPr wrap="square" anchor="t" lIns="0" rIns="0" tIns="0" bIns="0">
            <a:spAutoFit/>
          </a:bodyPr>
          <a:lstStyle/>
          <a:p>
            <a:pPr algn="l">
              <a:lnSpc>
                <a:spcPts val="1600"/>
              </a:lnSpc>
            </a:pPr>
            <a:r>
              <a:rPr sz="1200" b="0">
                <a:solidFill>
                  <a:srgbClr val="1A2233"/>
                </a:solidFill>
                <a:latin typeface="Microsoft JhengHei"/>
                <a:ea typeface="Microsoft JhengHei"/>
                <a:cs typeface="Microsoft JhengHei"/>
              </a:rPr>
              <a:t>依法通報主管機關　•　主動通知受影響當事人並提供客服　•　向調查局報案　•　強化委外廠商與第三方工具管理</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91440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個案因應重點（1）</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各公司公告之發生緣由與因應措施摘要</a:t>
            </a:r>
          </a:p>
        </p:txBody>
      </p:sp>
      <p:sp>
        <p:nvSpPr>
          <p:cNvPr id="5" name="Rounded Rectangle 4"/>
          <p:cNvSpPr/>
          <p:nvPr/>
        </p:nvSpPr>
        <p:spPr>
          <a:xfrm>
            <a:off x="54864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5448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長榮航 </a:t>
            </a:r>
            <a:r>
              <a:rPr sz="1300" b="0">
                <a:solidFill>
                  <a:srgbClr val="5C6679"/>
                </a:solidFill>
                <a:latin typeface="Microsoft JhengHei"/>
                <a:ea typeface="Microsoft JhengHei"/>
                <a:cs typeface="Microsoft JhengHei"/>
              </a:rPr>
              <a:t>2618</a:t>
            </a:r>
          </a:p>
        </p:txBody>
      </p:sp>
      <p:sp>
        <p:nvSpPr>
          <p:cNvPr id="8" name="Rounded Rectangle 7"/>
          <p:cNvSpPr/>
          <p:nvPr/>
        </p:nvSpPr>
        <p:spPr>
          <a:xfrm>
            <a:off x="4526280" y="179222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10" name="TextBox 9"/>
          <p:cNvSpPr txBox="1"/>
          <p:nvPr/>
        </p:nvSpPr>
        <p:spPr>
          <a:xfrm>
            <a:off x="777240" y="226771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本公司發現有不明人士透過惡意IP入侵本公司內部資訊環境，取得員工姓名與公務聯繫資訊。</a:t>
            </a:r>
          </a:p>
        </p:txBody>
      </p:sp>
      <p:sp>
        <p:nvSpPr>
          <p:cNvPr id="11" name="TextBox 10"/>
          <p:cNvSpPr txBox="1"/>
          <p:nvPr/>
        </p:nvSpPr>
        <p:spPr>
          <a:xfrm>
            <a:off x="777240" y="292608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本公司已重新檢視可能造成資安疑慮的因子並加以防範，同時持續加強監控。</a:t>
            </a:r>
          </a:p>
        </p:txBody>
      </p:sp>
      <p:sp>
        <p:nvSpPr>
          <p:cNvPr id="12" name="Rounded Rectangle 11"/>
          <p:cNvSpPr/>
          <p:nvPr/>
        </p:nvSpPr>
        <p:spPr>
          <a:xfrm>
            <a:off x="617220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55448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長榮航太 </a:t>
            </a:r>
            <a:r>
              <a:rPr sz="1300" b="0">
                <a:solidFill>
                  <a:srgbClr val="5C6679"/>
                </a:solidFill>
                <a:latin typeface="Microsoft JhengHei"/>
                <a:ea typeface="Microsoft JhengHei"/>
                <a:cs typeface="Microsoft JhengHei"/>
              </a:rPr>
              <a:t>2645</a:t>
            </a:r>
          </a:p>
        </p:txBody>
      </p:sp>
      <p:sp>
        <p:nvSpPr>
          <p:cNvPr id="15" name="Rounded Rectangle 14"/>
          <p:cNvSpPr/>
          <p:nvPr/>
        </p:nvSpPr>
        <p:spPr>
          <a:xfrm>
            <a:off x="10149840" y="179222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4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17" name="TextBox 16"/>
          <p:cNvSpPr txBox="1"/>
          <p:nvPr/>
        </p:nvSpPr>
        <p:spPr>
          <a:xfrm>
            <a:off x="6400800" y="226771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本公司發現部分內部資訊系統遭受網路攻擊。</a:t>
            </a:r>
          </a:p>
        </p:txBody>
      </p:sp>
      <p:sp>
        <p:nvSpPr>
          <p:cNvPr id="18" name="TextBox 17"/>
          <p:cNvSpPr txBox="1"/>
          <p:nvPr/>
        </p:nvSpPr>
        <p:spPr>
          <a:xfrm>
            <a:off x="6400800" y="292608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本公司將持續監控公司整體資訊系統運作狀況，並檢討強化現有資安防護措施，以確保資訊安全。</a:t>
            </a:r>
          </a:p>
        </p:txBody>
      </p:sp>
      <p:sp>
        <p:nvSpPr>
          <p:cNvPr id="19" name="Rounded Rectangle 18"/>
          <p:cNvSpPr/>
          <p:nvPr/>
        </p:nvSpPr>
        <p:spPr>
          <a:xfrm>
            <a:off x="54864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3886200"/>
            <a:ext cx="5394960" cy="109728"/>
          </a:xfrm>
          <a:prstGeom prst="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崴寶 </a:t>
            </a:r>
            <a:r>
              <a:rPr sz="1300" b="0">
                <a:solidFill>
                  <a:srgbClr val="5C6679"/>
                </a:solidFill>
                <a:latin typeface="Microsoft JhengHei"/>
                <a:ea typeface="Microsoft JhengHei"/>
                <a:cs typeface="Microsoft JhengHei"/>
              </a:rPr>
              <a:t>7744</a:t>
            </a:r>
          </a:p>
        </p:txBody>
      </p:sp>
      <p:sp>
        <p:nvSpPr>
          <p:cNvPr id="22" name="Rounded Rectangle 21"/>
          <p:cNvSpPr/>
          <p:nvPr/>
        </p:nvSpPr>
        <p:spPr>
          <a:xfrm>
            <a:off x="4526280" y="4123944"/>
            <a:ext cx="1234440" cy="347472"/>
          </a:xfrm>
          <a:prstGeom prst="round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2628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勒索病毒/加密</a:t>
            </a:r>
          </a:p>
        </p:txBody>
      </p:sp>
      <p:sp>
        <p:nvSpPr>
          <p:cNvPr id="24" name="TextBox 23"/>
          <p:cNvSpPr txBox="1"/>
          <p:nvPr/>
        </p:nvSpPr>
        <p:spPr>
          <a:xfrm>
            <a:off x="777240" y="4599432"/>
            <a:ext cx="4937760" cy="640080"/>
          </a:xfrm>
          <a:prstGeom prst="rect">
            <a:avLst/>
          </a:prstGeom>
          <a:noFill/>
        </p:spPr>
        <p:txBody>
          <a:bodyPr wrap="square" anchor="t" lIns="0" rIns="0" tIns="0" bIns="0">
            <a:spAutoFit/>
          </a:bodyPr>
          <a:lstStyle/>
          <a:p>
            <a:pPr algn="l">
              <a:lnSpc>
                <a:spcPts val="1500"/>
              </a:lnSpc>
            </a:pPr>
            <a:r>
              <a:rPr sz="1100" b="1">
                <a:solidFill>
                  <a:srgbClr val="F4A261"/>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本公司於115年9月14日上午發現資訊系統遭駭客入侵，部分系統資料遭加密鎖定。本公司立即啟動資安…</a:t>
            </a:r>
          </a:p>
        </p:txBody>
      </p:sp>
      <p:sp>
        <p:nvSpPr>
          <p:cNvPr id="25" name="TextBox 24"/>
          <p:cNvSpPr txBox="1"/>
          <p:nvPr/>
        </p:nvSpPr>
        <p:spPr>
          <a:xfrm>
            <a:off x="777240" y="5257800"/>
            <a:ext cx="4937760" cy="713232"/>
          </a:xfrm>
          <a:prstGeom prst="rect">
            <a:avLst/>
          </a:prstGeom>
          <a:noFill/>
        </p:spPr>
        <p:txBody>
          <a:bodyPr wrap="square" anchor="t" lIns="0" rIns="0" tIns="0" bIns="0">
            <a:spAutoFit/>
          </a:bodyPr>
          <a:lstStyle/>
          <a:p>
            <a:pPr algn="l">
              <a:lnSpc>
                <a:spcPts val="1500"/>
              </a:lnSpc>
            </a:pPr>
            <a:r>
              <a:rPr sz="1100" b="1">
                <a:solidFill>
                  <a:srgbClr val="F4A261"/>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本公司將持續配合專業資安團隊進行事件調查與監控，並加強資訊安全管理措施，包括提升端點防護機制、強化網路監控能力、落實帳號…</a:t>
            </a:r>
          </a:p>
        </p:txBody>
      </p:sp>
      <p:sp>
        <p:nvSpPr>
          <p:cNvPr id="26" name="Rounded Rectangle 25"/>
          <p:cNvSpPr/>
          <p:nvPr/>
        </p:nvSpPr>
        <p:spPr>
          <a:xfrm>
            <a:off x="617220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72200" y="388620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達爾膚 </a:t>
            </a:r>
            <a:r>
              <a:rPr sz="1300" b="0">
                <a:solidFill>
                  <a:srgbClr val="5C6679"/>
                </a:solidFill>
                <a:latin typeface="Microsoft JhengHei"/>
                <a:ea typeface="Microsoft JhengHei"/>
                <a:cs typeface="Microsoft JhengHei"/>
              </a:rPr>
              <a:t>6523</a:t>
            </a:r>
          </a:p>
        </p:txBody>
      </p:sp>
      <p:sp>
        <p:nvSpPr>
          <p:cNvPr id="29" name="Rounded Rectangle 28"/>
          <p:cNvSpPr/>
          <p:nvPr/>
        </p:nvSpPr>
        <p:spPr>
          <a:xfrm>
            <a:off x="10149840" y="412394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31" name="TextBox 30"/>
          <p:cNvSpPr txBox="1"/>
          <p:nvPr/>
        </p:nvSpPr>
        <p:spPr>
          <a:xfrm>
            <a:off x="6400800" y="459943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本公司部分內部資訊系統遭受網路攻擊事件，初步評估對公司營運無重大影響。</a:t>
            </a:r>
          </a:p>
        </p:txBody>
      </p:sp>
      <p:sp>
        <p:nvSpPr>
          <p:cNvPr id="32" name="TextBox 31"/>
          <p:cNvSpPr txBox="1"/>
          <p:nvPr/>
        </p:nvSpPr>
        <p:spPr>
          <a:xfrm>
            <a:off x="6400800" y="525780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本公司將持續強化網路與資訊基礎架構之安全管控，以確保資訊安全。</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91440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個案因應重點（2）</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各公司公告之發生緣由與因應措施摘要</a:t>
            </a:r>
          </a:p>
        </p:txBody>
      </p:sp>
      <p:sp>
        <p:nvSpPr>
          <p:cNvPr id="5" name="Rounded Rectangle 4"/>
          <p:cNvSpPr/>
          <p:nvPr/>
        </p:nvSpPr>
        <p:spPr>
          <a:xfrm>
            <a:off x="54864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5448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大車隊 </a:t>
            </a:r>
            <a:r>
              <a:rPr sz="1300" b="0">
                <a:solidFill>
                  <a:srgbClr val="5C6679"/>
                </a:solidFill>
                <a:latin typeface="Microsoft JhengHei"/>
                <a:ea typeface="Microsoft JhengHei"/>
                <a:cs typeface="Microsoft JhengHei"/>
              </a:rPr>
              <a:t>2640</a:t>
            </a:r>
          </a:p>
        </p:txBody>
      </p:sp>
      <p:sp>
        <p:nvSpPr>
          <p:cNvPr id="8" name="Rounded Rectangle 7"/>
          <p:cNvSpPr/>
          <p:nvPr/>
        </p:nvSpPr>
        <p:spPr>
          <a:xfrm>
            <a:off x="4526280" y="179222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10" name="TextBox 9"/>
          <p:cNvSpPr txBox="1"/>
          <p:nvPr/>
        </p:nvSpPr>
        <p:spPr>
          <a:xfrm>
            <a:off x="777240" y="226771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本公司重要子公司全球商務科技股份有限公司於今日發現部分資訊系統遭受網路攻擊，已立即啟動資安應變機…</a:t>
            </a:r>
          </a:p>
        </p:txBody>
      </p:sp>
      <p:sp>
        <p:nvSpPr>
          <p:cNvPr id="11" name="TextBox 10"/>
          <p:cNvSpPr txBox="1"/>
          <p:nvPr/>
        </p:nvSpPr>
        <p:spPr>
          <a:xfrm>
            <a:off x="777240" y="292608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公司將持續進行資安鑑識、系統安全強化及相關風險控管作業，受影響系統預期可於短期內逐步恢復正常運作；後續如調查結果或事件發…</a:t>
            </a:r>
          </a:p>
        </p:txBody>
      </p:sp>
      <p:sp>
        <p:nvSpPr>
          <p:cNvPr id="12" name="Rounded Rectangle 11"/>
          <p:cNvSpPr/>
          <p:nvPr/>
        </p:nvSpPr>
        <p:spPr>
          <a:xfrm>
            <a:off x="617220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554480"/>
            <a:ext cx="5394960" cy="109728"/>
          </a:xfrm>
          <a:prstGeom prst="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富爾特 </a:t>
            </a:r>
            <a:r>
              <a:rPr sz="1300" b="0">
                <a:solidFill>
                  <a:srgbClr val="5C6679"/>
                </a:solidFill>
                <a:latin typeface="Microsoft JhengHei"/>
                <a:ea typeface="Microsoft JhengHei"/>
                <a:cs typeface="Microsoft JhengHei"/>
              </a:rPr>
              <a:t>6136</a:t>
            </a:r>
          </a:p>
        </p:txBody>
      </p:sp>
      <p:sp>
        <p:nvSpPr>
          <p:cNvPr id="15" name="Rounded Rectangle 14"/>
          <p:cNvSpPr/>
          <p:nvPr/>
        </p:nvSpPr>
        <p:spPr>
          <a:xfrm>
            <a:off x="10149840" y="1792224"/>
            <a:ext cx="1234440" cy="347472"/>
          </a:xfrm>
          <a:prstGeom prst="round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4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勒索病毒/加密</a:t>
            </a:r>
          </a:p>
        </p:txBody>
      </p:sp>
      <p:sp>
        <p:nvSpPr>
          <p:cNvPr id="17" name="TextBox 16"/>
          <p:cNvSpPr txBox="1"/>
          <p:nvPr/>
        </p:nvSpPr>
        <p:spPr>
          <a:xfrm>
            <a:off x="6400800" y="2267712"/>
            <a:ext cx="4937760" cy="640080"/>
          </a:xfrm>
          <a:prstGeom prst="rect">
            <a:avLst/>
          </a:prstGeom>
          <a:noFill/>
        </p:spPr>
        <p:txBody>
          <a:bodyPr wrap="square" anchor="t" lIns="0" rIns="0" tIns="0" bIns="0">
            <a:spAutoFit/>
          </a:bodyPr>
          <a:lstStyle/>
          <a:p>
            <a:pPr algn="l">
              <a:lnSpc>
                <a:spcPts val="1500"/>
              </a:lnSpc>
            </a:pPr>
            <a:r>
              <a:rPr sz="1100" b="1">
                <a:solidFill>
                  <a:srgbClr val="F4A261"/>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本公司之子公司格帝控股股份有限公司偵測到部份伺服器遭受網路勒索病毒攻擊，致使包含ERP在內之部份…</a:t>
            </a:r>
          </a:p>
        </p:txBody>
      </p:sp>
      <p:sp>
        <p:nvSpPr>
          <p:cNvPr id="18" name="TextBox 17"/>
          <p:cNvSpPr txBox="1"/>
          <p:nvPr/>
        </p:nvSpPr>
        <p:spPr>
          <a:xfrm>
            <a:off x="6400800" y="2926080"/>
            <a:ext cx="4937760" cy="713232"/>
          </a:xfrm>
          <a:prstGeom prst="rect">
            <a:avLst/>
          </a:prstGeom>
          <a:noFill/>
        </p:spPr>
        <p:txBody>
          <a:bodyPr wrap="square" anchor="t" lIns="0" rIns="0" tIns="0" bIns="0">
            <a:spAutoFit/>
          </a:bodyPr>
          <a:lstStyle/>
          <a:p>
            <a:pPr algn="l">
              <a:lnSpc>
                <a:spcPts val="1500"/>
              </a:lnSpc>
            </a:pPr>
            <a:r>
              <a:rPr sz="1100" b="1">
                <a:solidFill>
                  <a:srgbClr val="F4A261"/>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本公司及所屬子公司將持續密集監控，並強化網路與資訊基礎架構之管控，以確保資訊系統安全。</a:t>
            </a:r>
          </a:p>
        </p:txBody>
      </p:sp>
      <p:sp>
        <p:nvSpPr>
          <p:cNvPr id="19" name="Rounded Rectangle 18"/>
          <p:cNvSpPr/>
          <p:nvPr/>
        </p:nvSpPr>
        <p:spPr>
          <a:xfrm>
            <a:off x="54864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3886200"/>
            <a:ext cx="5394960" cy="109728"/>
          </a:xfrm>
          <a:prstGeom prst="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創新服務 </a:t>
            </a:r>
            <a:r>
              <a:rPr sz="1300" b="0">
                <a:solidFill>
                  <a:srgbClr val="5C6679"/>
                </a:solidFill>
                <a:latin typeface="Microsoft JhengHei"/>
                <a:ea typeface="Microsoft JhengHei"/>
                <a:cs typeface="Microsoft JhengHei"/>
              </a:rPr>
              <a:t>7828</a:t>
            </a:r>
          </a:p>
        </p:txBody>
      </p:sp>
      <p:sp>
        <p:nvSpPr>
          <p:cNvPr id="22" name="Rounded Rectangle 21"/>
          <p:cNvSpPr/>
          <p:nvPr/>
        </p:nvSpPr>
        <p:spPr>
          <a:xfrm>
            <a:off x="4526280" y="4123944"/>
            <a:ext cx="1234440" cy="347472"/>
          </a:xfrm>
          <a:prstGeom prst="round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2628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勒索病毒/加密</a:t>
            </a:r>
          </a:p>
        </p:txBody>
      </p:sp>
      <p:sp>
        <p:nvSpPr>
          <p:cNvPr id="24" name="TextBox 23"/>
          <p:cNvSpPr txBox="1"/>
          <p:nvPr/>
        </p:nvSpPr>
        <p:spPr>
          <a:xfrm>
            <a:off x="777240" y="4599432"/>
            <a:ext cx="4937760" cy="640080"/>
          </a:xfrm>
          <a:prstGeom prst="rect">
            <a:avLst/>
          </a:prstGeom>
          <a:noFill/>
        </p:spPr>
        <p:txBody>
          <a:bodyPr wrap="square" anchor="t" lIns="0" rIns="0" tIns="0" bIns="0">
            <a:spAutoFit/>
          </a:bodyPr>
          <a:lstStyle/>
          <a:p>
            <a:pPr algn="l">
              <a:lnSpc>
                <a:spcPts val="1500"/>
              </a:lnSpc>
            </a:pPr>
            <a:r>
              <a:rPr sz="1100" b="1">
                <a:solidFill>
                  <a:srgbClr val="F4A261"/>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本公司於今日偵測到部份伺服器遭受網路勒索病毒攻擊，致使包含ERP在內之部份資訊系統無法正常運作。</a:t>
            </a:r>
          </a:p>
        </p:txBody>
      </p:sp>
      <p:sp>
        <p:nvSpPr>
          <p:cNvPr id="25" name="TextBox 24"/>
          <p:cNvSpPr txBox="1"/>
          <p:nvPr/>
        </p:nvSpPr>
        <p:spPr>
          <a:xfrm>
            <a:off x="777240" y="5257800"/>
            <a:ext cx="4937760" cy="713232"/>
          </a:xfrm>
          <a:prstGeom prst="rect">
            <a:avLst/>
          </a:prstGeom>
          <a:noFill/>
        </p:spPr>
        <p:txBody>
          <a:bodyPr wrap="square" anchor="t" lIns="0" rIns="0" tIns="0" bIns="0">
            <a:spAutoFit/>
          </a:bodyPr>
          <a:lstStyle/>
          <a:p>
            <a:pPr algn="l">
              <a:lnSpc>
                <a:spcPts val="1500"/>
              </a:lnSpc>
            </a:pPr>
            <a:r>
              <a:rPr sz="1100" b="1">
                <a:solidFill>
                  <a:srgbClr val="F4A261"/>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本公司將持續密集監控，並強化網路與資訊基礎架構之管控，以確保資訊系統安全。</a:t>
            </a:r>
          </a:p>
        </p:txBody>
      </p:sp>
      <p:sp>
        <p:nvSpPr>
          <p:cNvPr id="26" name="Rounded Rectangle 25"/>
          <p:cNvSpPr/>
          <p:nvPr/>
        </p:nvSpPr>
        <p:spPr>
          <a:xfrm>
            <a:off x="617220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72200" y="388620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杭特 </a:t>
            </a:r>
            <a:r>
              <a:rPr sz="1300" b="0">
                <a:solidFill>
                  <a:srgbClr val="5C6679"/>
                </a:solidFill>
                <a:latin typeface="Microsoft JhengHei"/>
                <a:ea typeface="Microsoft JhengHei"/>
                <a:cs typeface="Microsoft JhengHei"/>
              </a:rPr>
              <a:t>3297</a:t>
            </a:r>
          </a:p>
        </p:txBody>
      </p:sp>
      <p:sp>
        <p:nvSpPr>
          <p:cNvPr id="29" name="Rounded Rectangle 28"/>
          <p:cNvSpPr/>
          <p:nvPr/>
        </p:nvSpPr>
        <p:spPr>
          <a:xfrm>
            <a:off x="10149840" y="412394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31" name="TextBox 30"/>
          <p:cNvSpPr txBox="1"/>
          <p:nvPr/>
        </p:nvSpPr>
        <p:spPr>
          <a:xfrm>
            <a:off x="6400800" y="459943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本公司資訊系統遭受駭客網路攻擊，初步評估對公司營運暫無重大影響。</a:t>
            </a:r>
          </a:p>
        </p:txBody>
      </p:sp>
      <p:sp>
        <p:nvSpPr>
          <p:cNvPr id="32" name="TextBox 31"/>
          <p:cNvSpPr txBox="1"/>
          <p:nvPr/>
        </p:nvSpPr>
        <p:spPr>
          <a:xfrm>
            <a:off x="6400800" y="525780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本公司將持續提升網路與資訊基礎架構之安全管控，以確保資訊安全。</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91440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個案因應重點（3）</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各公司公告之發生緣由與因應措施摘要</a:t>
            </a:r>
          </a:p>
        </p:txBody>
      </p:sp>
      <p:sp>
        <p:nvSpPr>
          <p:cNvPr id="5" name="Rounded Rectangle 4"/>
          <p:cNvSpPr/>
          <p:nvPr/>
        </p:nvSpPr>
        <p:spPr>
          <a:xfrm>
            <a:off x="54864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5448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數字 </a:t>
            </a:r>
            <a:r>
              <a:rPr sz="1300" b="0">
                <a:solidFill>
                  <a:srgbClr val="5C6679"/>
                </a:solidFill>
                <a:latin typeface="Microsoft JhengHei"/>
                <a:ea typeface="Microsoft JhengHei"/>
                <a:cs typeface="Microsoft JhengHei"/>
              </a:rPr>
              <a:t>5287</a:t>
            </a:r>
          </a:p>
        </p:txBody>
      </p:sp>
      <p:sp>
        <p:nvSpPr>
          <p:cNvPr id="8" name="Rounded Rectangle 7"/>
          <p:cNvSpPr/>
          <p:nvPr/>
        </p:nvSpPr>
        <p:spPr>
          <a:xfrm>
            <a:off x="4526280" y="179222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10" name="TextBox 9"/>
          <p:cNvSpPr txBox="1"/>
          <p:nvPr/>
        </p:nvSpPr>
        <p:spPr>
          <a:xfrm>
            <a:off x="777240" y="226771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本公司於115年8月20日發現591網站登入行為異常，經查發現外部攻擊者利用登入機制之弱點，繞過…</a:t>
            </a:r>
          </a:p>
        </p:txBody>
      </p:sp>
      <p:sp>
        <p:nvSpPr>
          <p:cNvPr id="11" name="TextBox 10"/>
          <p:cNvSpPr txBox="1"/>
          <p:nvPr/>
        </p:nvSpPr>
        <p:spPr>
          <a:xfrm>
            <a:off x="777240" y="292608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(1)依據安全軟體發展生命週期（SSDLC）框架，持續優化系統開發流程及資安檢視機制。(2)強化登入驗證、存取控制及異常…</a:t>
            </a:r>
          </a:p>
        </p:txBody>
      </p:sp>
      <p:sp>
        <p:nvSpPr>
          <p:cNvPr id="12" name="Rounded Rectangle 11"/>
          <p:cNvSpPr/>
          <p:nvPr/>
        </p:nvSpPr>
        <p:spPr>
          <a:xfrm>
            <a:off x="617220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55448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上詮 </a:t>
            </a:r>
            <a:r>
              <a:rPr sz="1300" b="0">
                <a:solidFill>
                  <a:srgbClr val="5C6679"/>
                </a:solidFill>
                <a:latin typeface="Microsoft JhengHei"/>
                <a:ea typeface="Microsoft JhengHei"/>
                <a:cs typeface="Microsoft JhengHei"/>
              </a:rPr>
              <a:t>3363</a:t>
            </a:r>
          </a:p>
        </p:txBody>
      </p:sp>
      <p:sp>
        <p:nvSpPr>
          <p:cNvPr id="15" name="Rounded Rectangle 14"/>
          <p:cNvSpPr/>
          <p:nvPr/>
        </p:nvSpPr>
        <p:spPr>
          <a:xfrm>
            <a:off x="10149840" y="179222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4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17" name="TextBox 16"/>
          <p:cNvSpPr txBox="1"/>
          <p:nvPr/>
        </p:nvSpPr>
        <p:spPr>
          <a:xfrm>
            <a:off x="6400800" y="226771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本公司資訊系統遭受駭客網路攻擊，部分主機與電腦遭受病毒攻擊。</a:t>
            </a:r>
          </a:p>
        </p:txBody>
      </p:sp>
      <p:sp>
        <p:nvSpPr>
          <p:cNvPr id="18" name="TextBox 17"/>
          <p:cNvSpPr txBox="1"/>
          <p:nvPr/>
        </p:nvSpPr>
        <p:spPr>
          <a:xfrm>
            <a:off x="6400800" y="292608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本公司已於第一時間啟動資安防禦，並對網路攻擊進行清查，亦同步持續檢視與提升網路與資訊基礎架構之安全控管，以確保資訊安全。</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