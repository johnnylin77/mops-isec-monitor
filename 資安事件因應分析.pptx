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5C6679"/>
              </a:solidFill>
            </c:spPr>
          </c:dPt>
          <c:cat>
            <c:strRef>
              <c:f>Sheet1!$A$2:$A$4</c:f>
              <c:strCache>
                <c:ptCount val="3"/>
                <c:pt idx="0">
                  <c:v>駭客攻擊</c:v>
                </c:pt>
                <c:pt idx="1">
                  <c:v>勒索病毒/加密</c:v>
                </c:pt>
                <c:pt idx="2">
                  <c:v>其他</c:v>
                </c:pt>
              </c:strCache>
            </c:strRef>
          </c:cat>
          <c:val>
            <c:numRef>
              <c:f>Sheet1!$B$2:$B$4</c:f>
              <c:numCache>
                <c:formatCode>General</c:formatCode>
                <c:ptCount val="3"/>
                <c:pt idx="0">
                  <c:v>2</c:v>
                </c:pt>
                <c:pt idx="1">
                  <c:v>2</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2026-06-03 ~ 2026-07-03　｜　MOPS 重大訊息全文檢索　｜　7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7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7</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072384"/>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受影響之資料檔案留有備份，不影響公司營運、業務進行等。</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目前受影響之系統正陸續復原中，對公司整體營運及財務之影響程度尚在評估…</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06/16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目前評估該事件對公司營運造成暫停出貨的影響，現階段出貨已陸續恢復中。</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2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易發、尼得科超眾</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GOGOLOOK、耕興、上福</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36576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黃毅民、陳文香</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張至誼、洪國田</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郭欣頤、張肇文</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耕興 </a:t>
            </a:r>
            <a:r>
              <a:rPr sz="1300" b="0">
                <a:solidFill>
                  <a:srgbClr val="5C6679"/>
                </a:solidFill>
                <a:latin typeface="Microsoft JhengHei"/>
                <a:ea typeface="Microsoft JhengHei"/>
                <a:cs typeface="Microsoft JhengHei"/>
              </a:rPr>
              <a:t>6146</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本公司部分資訊系統發生網路資安事件。</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本公司將持續提升網路與資訊基礎架構之安全管控，並依外部資安技術專家之建議加強防護，確保資訊安全。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易發 </a:t>
            </a:r>
            <a:r>
              <a:rPr sz="1300" b="0">
                <a:solidFill>
                  <a:srgbClr val="5C6679"/>
                </a:solidFill>
                <a:latin typeface="Microsoft JhengHei"/>
                <a:ea typeface="Microsoft JhengHei"/>
                <a:cs typeface="Microsoft JhengHei"/>
              </a:rPr>
              <a:t>6425</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本公司之子公司東野精機(股)公司日福精工(股)公司，發現遭不明駭客入侵主機，並將伺服器資料加密，…</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本公司之子公司東野精機(股)公司日福精工(股)公司將修復安全漏洞，持續提升網路與資訊基礎架構之安全管控，以確保資訊安全。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尼得科超眾 </a:t>
            </a:r>
            <a:r>
              <a:rPr sz="1300" b="0">
                <a:solidFill>
                  <a:srgbClr val="5C6679"/>
                </a:solidFill>
                <a:latin typeface="Microsoft JhengHei"/>
                <a:ea typeface="Microsoft JhengHei"/>
                <a:cs typeface="Microsoft JhengHei"/>
              </a:rPr>
              <a:t>6230</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本公司亦將視系統復原進度，適時調整生產與出貨排程。</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KatunCorporation資訊設備遭受未授權外部存取。</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此事件後將持續提升網路與資訊基礎架構之安全控管，並持續密切監控，以確保資訊安全。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