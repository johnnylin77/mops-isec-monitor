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27A6C4"/>
              </a:solidFill>
            </c:spPr>
          </c:dPt>
          <c:dPt>
            <c:idx val="2"/>
            <c:spPr>
              <a:solidFill>
                <a:srgbClr val="5C6679"/>
              </a:solidFill>
            </c:spPr>
          </c:dPt>
          <c:cat>
            <c:strRef>
              <c:f>Sheet1!$A$2:$A$4</c:f>
              <c:strCache>
                <c:ptCount val="3"/>
                <c:pt idx="0">
                  <c:v>駭客攻擊</c:v>
                </c:pt>
                <c:pt idx="1">
                  <c:v>個資外洩</c:v>
                </c:pt>
                <c:pt idx="2">
                  <c:v>其他</c:v>
                </c:pt>
              </c:strCache>
            </c:strRef>
          </c:cat>
          <c:val>
            <c:numRef>
              <c:f>Sheet1!$B$2:$B$4</c:f>
              <c:numCache>
                <c:formatCode>General</c:formatCode>
                <c:ptCount val="3"/>
                <c:pt idx="0">
                  <c:v>5</c:v>
                </c:pt>
                <c:pt idx="1">
                  <c:v>1</c:v>
                </c:pt>
                <c:pt idx="2">
                  <c:v>2</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2026-07-08 ~ 2026-08-08　｜　MOPS 重大訊息全文檢索　｜　8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8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8</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456432"/>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逸達</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6576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08/07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州巧</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3543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08/05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08/03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對本公司財務或業務並無重大影響。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07/21</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5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逸達、州巧、藥華藥、上銀、松上</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萬達寵物</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2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淳安、淳安</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1148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逸達</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6576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蔡蓓華、顏裕芳</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州巧</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3543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廖福銘、林永智</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呂倩雯、張巧穎</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吳麗冬、顏曉芳</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葉翠苗、黃世鈞</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逸達 </a:t>
            </a:r>
            <a:r>
              <a:rPr sz="1300" b="0">
                <a:solidFill>
                  <a:srgbClr val="5C6679"/>
                </a:solidFill>
                <a:latin typeface="Microsoft JhengHei"/>
                <a:ea typeface="Microsoft JhengHei"/>
                <a:cs typeface="Microsoft JhengHei"/>
              </a:rPr>
              <a:t>6576</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州巧 </a:t>
            </a:r>
            <a:r>
              <a:rPr sz="1300" b="0">
                <a:solidFill>
                  <a:srgbClr val="5C6679"/>
                </a:solidFill>
                <a:latin typeface="Microsoft JhengHei"/>
                <a:ea typeface="Microsoft JhengHei"/>
                <a:cs typeface="Microsoft JhengHei"/>
              </a:rPr>
              <a:t>3543</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本公司及重要子公司(蘇州州巧、廈門州巧及越南州巧)之部份資訊系統遭不明駭客入侵，導致部分系統無法…</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藥華藥 </a:t>
            </a:r>
            <a:r>
              <a:rPr sz="1300" b="0">
                <a:solidFill>
                  <a:srgbClr val="5C6679"/>
                </a:solidFill>
                <a:latin typeface="Microsoft JhengHei"/>
                <a:ea typeface="Microsoft JhengHei"/>
                <a:cs typeface="Microsoft JhengHei"/>
              </a:rPr>
              <a:t>6446</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本公司及泛泰醫療子公司之部分資訊系統遭受駭客網路攻擊，初步評估對公司營運無重大影響。</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上銀 </a:t>
            </a:r>
            <a:r>
              <a:rPr sz="1300" b="0">
                <a:solidFill>
                  <a:srgbClr val="5C6679"/>
                </a:solidFill>
                <a:latin typeface="Microsoft JhengHei"/>
                <a:ea typeface="Microsoft JhengHei"/>
                <a:cs typeface="Microsoft JhengHei"/>
              </a:rPr>
              <a:t>2049</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本公司義大利子公司部份資訊系統遭受駭客網路攻擊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萬達寵物 </a:t>
            </a:r>
            <a:r>
              <a:rPr sz="1300" b="0">
                <a:solidFill>
                  <a:srgbClr val="5C6679"/>
                </a:solidFill>
                <a:latin typeface="Microsoft JhengHei"/>
                <a:ea typeface="Microsoft JhengHei"/>
                <a:cs typeface="Microsoft JhengHei"/>
              </a:rPr>
              <a:t>6968</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本公司因合作廠商資訊系統遭不明人士入侵，疑似部份資料外洩</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本公司並無與合作廠商串接會員資料、信用卡號、銀行帳戶等敏感資訊，不會產生任何金流交易。本公司已嚴正要求合作廠商技術團隊，…</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