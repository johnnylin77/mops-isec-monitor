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27A6C4"/>
              </a:solidFill>
            </c:spPr>
          </c:dPt>
          <c:dPt>
            <c:idx val="3"/>
            <c:spPr>
              <a:solidFill>
                <a:srgbClr val="5C6679"/>
              </a:solidFill>
            </c:spPr>
          </c:dPt>
          <c:cat>
            <c:strRef>
              <c:f>Sheet1!$A$2:$A$5</c:f>
              <c:strCache>
                <c:ptCount val="4"/>
                <c:pt idx="0">
                  <c:v>駭客攻擊</c:v>
                </c:pt>
                <c:pt idx="1">
                  <c:v>勒索病毒/加密</c:v>
                </c:pt>
                <c:pt idx="2">
                  <c:v>個資外洩</c:v>
                </c:pt>
                <c:pt idx="3">
                  <c:v>其他</c:v>
                </c:pt>
              </c:strCache>
            </c:strRef>
          </c:cat>
          <c:val>
            <c:numRef>
              <c:f>Sheet1!$B$2:$B$5</c:f>
              <c:numCache>
                <c:formatCode>General</c:formatCode>
                <c:ptCount val="4"/>
                <c:pt idx="0">
                  <c:v>3</c:v>
                </c:pt>
                <c:pt idx="1">
                  <c:v>1</c:v>
                </c:pt>
                <c:pt idx="2">
                  <c:v>8</c:v>
                </c:pt>
                <c:pt idx="3">
                  <c:v>4</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2026-09-29 ~ 2026-10-29　｜　MOPS 重大訊息全文檢索　｜　16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16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16</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4</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09774">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09774">
                <a:tc>
                  <a:txBody>
                    <a:bodyPr/>
                    <a:lstStyle/>
                    <a:p>
                      <a:r>
                        <a:rPr sz="1150" b="0">
                          <a:solidFill>
                            <a:srgbClr val="1A2233"/>
                          </a:solidFill>
                          <a:latin typeface="Microsoft JhengHei"/>
                          <a:ea typeface="Microsoft JhengHei"/>
                          <a:cs typeface="Microsoft JhengHei"/>
                        </a:rPr>
                        <a:t>橙的</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4554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10/28</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初步評估對公司整體營運不致有重大影響。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天良</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4127</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截至目前對公司財務及業務並無重大影響。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科懋</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6496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10/22</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立康</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6242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經初步評估，並綜合考量係單一市場事件，目前尚未對合併公司整體之營運及…</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10/19</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10/16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10/09</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目前公司整體系統與營運正常運作，對公司尚無重大影響。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目前評估沒有個資、亦沒有機密或重要文件資料外洩等情事發生，對本公司營…</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目前系統與營運正常運作，對公司尚無重大影響。相關影響仍持續評估中。</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10/01</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評估對本公司營運、財務及服務提供無重大影響。</a:t>
                      </a:r>
                    </a:p>
                  </a:txBody>
                  <a:tcPr anchor="ctr" marL="73152" marT="9144" marB="9144">
                    <a:solidFill>
                      <a:srgbClr val="FFFFFF"/>
                    </a:solidFill>
                  </a:tcPr>
                </a:tc>
              </a:tr>
              <a:tr h="209776">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3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美食-KY、91APP*-KY、神腦</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橙的</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8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天良、柏文、科懋、立康、滿心、杏一、鈊象、安心</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24" name="Rounded Rectangle 23"/>
          <p:cNvSpPr/>
          <p:nvPr/>
        </p:nvSpPr>
        <p:spPr>
          <a:xfrm>
            <a:off x="5669280" y="5669279"/>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0" y="5669279"/>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80" y="5779007"/>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7" name="TextBox 26"/>
          <p:cNvSpPr txBox="1"/>
          <p:nvPr/>
        </p:nvSpPr>
        <p:spPr>
          <a:xfrm>
            <a:off x="10058400" y="5779007"/>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4 起</a:t>
            </a:r>
          </a:p>
        </p:txBody>
      </p:sp>
      <p:sp>
        <p:nvSpPr>
          <p:cNvPr id="28" name="TextBox 27"/>
          <p:cNvSpPr txBox="1"/>
          <p:nvPr/>
        </p:nvSpPr>
        <p:spPr>
          <a:xfrm>
            <a:off x="5897880" y="617219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緯致、上福、一零四、鈊象</a:t>
            </a:r>
          </a:p>
        </p:txBody>
      </p:sp>
      <p:sp>
        <p:nvSpPr>
          <p:cNvPr id="29" name="TextBox 28"/>
          <p:cNvSpPr txBox="1"/>
          <p:nvPr/>
        </p:nvSpPr>
        <p:spPr>
          <a:xfrm>
            <a:off x="5897880" y="643737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263562">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263562">
                <a:tc>
                  <a:txBody>
                    <a:bodyPr/>
                    <a:lstStyle/>
                    <a:p>
                      <a:r>
                        <a:rPr sz="1150" b="0">
                          <a:solidFill>
                            <a:srgbClr val="1A2233"/>
                          </a:solidFill>
                          <a:latin typeface="Microsoft JhengHei"/>
                          <a:ea typeface="Microsoft JhengHei"/>
                          <a:cs typeface="Microsoft JhengHei"/>
                        </a:rPr>
                        <a:t>橙的</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4554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賴書晨、柯雅婷</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天良</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黃欣婷、池世欽</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洪福讚、陳政初</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科懋</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6496</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黃柏淑、黃采絹</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立康</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6242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李季珍、廖鴻儒</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彭以驊、謝明忠</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陳宜君、許淑敏</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曾建銘、王攀發</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唐嘉鍵、楊雲筑</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池瑞全、蔡宗遠</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趙敏如、江家齊</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徐明釧、陳怡婷</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王銘義、林永智</a:t>
                      </a:r>
                    </a:p>
                  </a:txBody>
                  <a:tcPr anchor="ctr" marL="73152" marT="9144" marB="9144">
                    <a:solidFill>
                      <a:srgbClr val="FFFFFF"/>
                    </a:solidFill>
                  </a:tcPr>
                </a:tc>
              </a:tr>
              <a:tr h="263568">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橙的 </a:t>
            </a:r>
            <a:r>
              <a:rPr sz="1300" b="0">
                <a:solidFill>
                  <a:srgbClr val="5C6679"/>
                </a:solidFill>
                <a:latin typeface="Microsoft JhengHei"/>
                <a:ea typeface="Microsoft JhengHei"/>
                <a:cs typeface="Microsoft JhengHei"/>
              </a:rPr>
              <a:t>4554</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本公司部份區域網路儲存設備遭受勒索病毒攻擊。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本公司將持續加強資訊安全防護機制，提升網路與資訊基礎架構之安全管理，並導入更完善之資安管控措施，以確保資訊系統之安全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天良 </a:t>
            </a:r>
            <a:r>
              <a:rPr sz="1300" b="0">
                <a:solidFill>
                  <a:srgbClr val="5C6679"/>
                </a:solidFill>
                <a:latin typeface="Microsoft JhengHei"/>
                <a:ea typeface="Microsoft JhengHei"/>
                <a:cs typeface="Microsoft JhengHei"/>
              </a:rPr>
              <a:t>4127</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本公司委外服務平台業者所提供之資料庫發生自動化攻擊事件，部分資訊遭非法擷取，本公司近日接獲消費者…</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(1)本公司已立即啟動資安事件應變作業，針對相關系統與存取紀錄及可能涉及之資料範圍進行調查，並要求委外服務平台業者同步進…</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本公司接獲電子商城線上平台委外服務廠商通知其CommerceCloud資料庫受到攻擊，部分資料遭…</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(1)本公司已要求電子商城線上平台委外服務廠商重新檢視資安疑慮及相關風險，採取必要改善措施，並將持續追蹤改善情形及強化委…</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科懋 </a:t>
            </a:r>
            <a:r>
              <a:rPr sz="1300" b="0">
                <a:solidFill>
                  <a:srgbClr val="5C6679"/>
                </a:solidFill>
                <a:latin typeface="Microsoft JhengHei"/>
                <a:ea typeface="Microsoft JhengHei"/>
                <a:cs typeface="Microsoft JhengHei"/>
              </a:rPr>
              <a:t>6496</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本公司接獲線上會員通知有個資洩漏情形，經查主因本公司產品線上銷售平台之系統服務委外廠商其對外服務…</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本公司已要求系統服務委外廠商重新檢視造成資安疑慮因子並加以改善及防範，同時持續針對系統服務委外廠商加強監控。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立康 </a:t>
            </a:r>
            <a:r>
              <a:rPr sz="1300" b="0">
                <a:solidFill>
                  <a:srgbClr val="5C6679"/>
                </a:solidFill>
                <a:latin typeface="Microsoft JhengHei"/>
                <a:ea typeface="Microsoft JhengHei"/>
                <a:cs typeface="Microsoft JhengHei"/>
              </a:rPr>
              <a:t>6242</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(1)本公司已立即啟動資安事件應變作業，針對相關系統、存取紀錄及可能涉及之資料範圍進行調查，並要求購物網平台委外廠商同步…</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美食-KY </a:t>
            </a:r>
            <a:r>
              <a:rPr sz="1300" b="0">
                <a:solidFill>
                  <a:srgbClr val="5C6679"/>
                </a:solidFill>
                <a:latin typeface="Microsoft JhengHei"/>
                <a:ea typeface="Microsoft JhengHei"/>
                <a:cs typeface="Microsoft JhengHei"/>
              </a:rPr>
              <a:t>2723</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台灣子公司美食達人股份有限公司於今日發現部分資訊系統遭受網路攻擊，已立即啟動資安應變機制，並委請…</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公司將持續進行資安鑑識、系統安全強化及相關風險控管作業，受影響系統預期可逐步恢復運作；後續如調查結果或事件發展有重大變化…</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滿心 </a:t>
            </a:r>
            <a:r>
              <a:rPr sz="1300" b="0">
                <a:solidFill>
                  <a:srgbClr val="5C6679"/>
                </a:solidFill>
                <a:latin typeface="Microsoft JhengHei"/>
                <a:ea typeface="Microsoft JhengHei"/>
                <a:cs typeface="Microsoft JhengHei"/>
              </a:rPr>
              <a:t>2916</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本公司委外服務平台業者所提供之資料庫發生自動化攻擊事件,部分資訊遭非法擷取,本公司近日接獲消費者…</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(1)本公司已立即啟動資安事件應變作業,針對相關系統與存取紀錄及可能涉及之資料範圍進行調查,並要求委外服務平台業者同步進…</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91APP*-KY </a:t>
            </a:r>
            <a:r>
              <a:rPr sz="1300" b="0">
                <a:solidFill>
                  <a:srgbClr val="5C6679"/>
                </a:solidFill>
                <a:latin typeface="Microsoft JhengHei"/>
                <a:ea typeface="Microsoft JhengHei"/>
                <a:cs typeface="Microsoft JhengHei"/>
              </a:rPr>
              <a:t>6741</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本公司CommerceCloud資料庫受到自動化攻擊事件說明。</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(1)強化監控防禦：升級全天候監控，全面提升系統防護層級。(2)委外第三方公正單位調查：協同外部專家深入調查，並於相關主…</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緯致 </a:t>
            </a:r>
            <a:r>
              <a:rPr sz="1300" b="0">
                <a:solidFill>
                  <a:srgbClr val="5C6679"/>
                </a:solidFill>
                <a:latin typeface="Microsoft JhengHei"/>
                <a:ea typeface="Microsoft JhengHei"/>
                <a:cs typeface="Microsoft JhengHei"/>
              </a:rPr>
              <a:t>4953</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本公司偵測到內部系統有異常存取情形，經調查確認，部分員工資訊與公務聯繫資訊遭未經授權存取。</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本公司已採取相關防護、阻斷及修補措施，並持續強化資訊安全防護機制。</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KatunCorporation發現資訊安全異常事件，經調查發現部分資訊系統有異常存取行為。</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KatunCorporation將持續進行事件調查、鑑識分析及監控作業，並進一步強化資訊安全管理、遠端存取管控、網路安全…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杏一 </a:t>
            </a:r>
            <a:r>
              <a:rPr sz="1300" b="0">
                <a:solidFill>
                  <a:srgbClr val="5C6679"/>
                </a:solidFill>
                <a:latin typeface="Microsoft JhengHei"/>
                <a:ea typeface="Microsoft JhengHei"/>
                <a:cs typeface="Microsoft JhengHei"/>
              </a:rPr>
              <a:t>4175</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(1)本公司已立即啟動資安事件應變作業，針對相關系統、存取紀錄及可能涉及之資料範圍進行調查，並要求官網平台委外廠商同步進…</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本公司於115年9月29日發現不明IP異常侵入公司營運資訊設備，造成公司遊戲營運資料外洩，包含部…</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(1)持續提升資安防禦，強化監控與防護層級。(2)委由外部專業資安團隊協助事件調查，並於相關主機部署偵測及防護機制。(3…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個案因應重點（4）</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一零四 </a:t>
            </a:r>
            <a:r>
              <a:rPr sz="1300" b="0">
                <a:solidFill>
                  <a:srgbClr val="5C6679"/>
                </a:solidFill>
                <a:latin typeface="Microsoft JhengHei"/>
                <a:ea typeface="Microsoft JhengHei"/>
                <a:cs typeface="Microsoft JhengHei"/>
              </a:rPr>
              <a:t>3130</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本公司偵測到APP系統有異常讀取情形，經調查確認，約12萬筆履歷資料遭未經授權讀取。</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本公司已採取相關防護及阻斷措施，並持續進行資安鑑識及強化資訊安全防護機制。本公司將依調查結果及相關法令辦理後續事宜，如有…</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安心 </a:t>
            </a:r>
            <a:r>
              <a:rPr sz="1300" b="0">
                <a:solidFill>
                  <a:srgbClr val="5C6679"/>
                </a:solidFill>
                <a:latin typeface="Microsoft JhengHei"/>
                <a:ea typeface="Microsoft JhengHei"/>
                <a:cs typeface="Microsoft JhengHei"/>
              </a:rPr>
              <a:t>1259</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消費者反應疑似個資外洩事件</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本公司已立即針對本次資安事件啟動應變作業。需特別說明，本次疑似個資外洩事件之平台係由委外廠商管理，非屬本公司自有之MOS…</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神腦 </a:t>
            </a:r>
            <a:r>
              <a:rPr sz="1300" b="0">
                <a:solidFill>
                  <a:srgbClr val="5C6679"/>
                </a:solidFill>
                <a:latin typeface="Microsoft JhengHei"/>
                <a:ea typeface="Microsoft JhengHei"/>
                <a:cs typeface="Microsoft JhengHei"/>
              </a:rPr>
              <a:t>2450</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本公司外部伺服器遭受自動化攻擊事件說明。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本公司已與第三方資安廠商合作，全面強化網路偵測、系統監控與安全管控，以確保資訊安全。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持續提升資安防禦，強化監控與防護層級。</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