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dPt>
            <c:idx val="2"/>
            <c:spPr>
              <a:solidFill>
                <a:srgbClr val="5C6679"/>
              </a:solidFill>
            </c:spPr>
          </c:dPt>
          <c:cat>
            <c:strRef>
              <c:f>Sheet1!$A$2:$A$4</c:f>
              <c:strCache>
                <c:ptCount val="3"/>
                <c:pt idx="0">
                  <c:v>駭客攻擊</c:v>
                </c:pt>
                <c:pt idx="1">
                  <c:v>勒索病毒/加密</c:v>
                </c:pt>
                <c:pt idx="2">
                  <c:v>其他</c:v>
                </c:pt>
              </c:strCache>
            </c:strRef>
          </c:cat>
          <c:val>
            <c:numRef>
              <c:f>Sheet1!$B$2:$B$4</c:f>
              <c:numCache>
                <c:formatCode>General</c:formatCode>
                <c:ptCount val="3"/>
                <c:pt idx="0">
                  <c:v>3</c:v>
                </c:pt>
                <c:pt idx="1">
                  <c:v>2</c:v>
                </c:pt>
                <c:pt idx="2">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2026-06-14 ~ 2026-07-14　｜　MOPS 重大訊息全文檢索　｜　8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8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8</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3</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456432"/>
        </p:xfrm>
        <a:graphic>
          <a:graphicData uri="http://schemas.openxmlformats.org/drawingml/2006/table">
            <a:tbl>
              <a:tblPr>
                <a:tableStyleId>{5C22544A-7EE6-4342-B048-85BDC9FD1C3A}</a:tableStyleId>
              </a:tblPr>
              <a:tblGrid>
                <a:gridCol w="1828800"/>
                <a:gridCol w="868680"/>
                <a:gridCol w="960120"/>
                <a:gridCol w="2286000"/>
                <a:gridCol w="5120640"/>
              </a:tblGrid>
              <a:tr h="38404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84048">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本資訊網站已暫時停止服務，該事件對公司營運、資訊安全、個資等無重大影…</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07/02</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耕興</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6146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受影響之資料檔案留有備份，不影響公司營運、業務進行等。</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易發</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6425</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尼得科超眾</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6230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目前受影響之系統正陸續復原中，對公司整體營運及財務之影響程度尚在評估…</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06/16</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目前評估該事件對公司營運造成暫停出貨的影響，現階段出貨已陸續恢復中。</a:t>
                      </a:r>
                    </a:p>
                  </a:txBody>
                  <a:tcPr anchor="ctr" marL="73152" marT="9144" marB="9144">
                    <a:solidFill>
                      <a:srgbClr val="EEF2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3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優盛、麗清、網家</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2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易發、尼得科超眾</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3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GOGOLOOK、耕興、上福</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114800"/>
        </p:xfrm>
        <a:graphic>
          <a:graphicData uri="http://schemas.openxmlformats.org/drawingml/2006/table">
            <a:tbl>
              <a:tblPr>
                <a:tableStyleId>{5C22544A-7EE6-4342-B048-85BDC9FD1C3A}</a:tableStyleId>
              </a:tblPr>
              <a:tblGrid>
                <a:gridCol w="1828800"/>
                <a:gridCol w="868680"/>
                <a:gridCol w="2103120"/>
                <a:gridCol w="3383280"/>
                <a:gridCol w="2606040"/>
              </a:tblGrid>
              <a:tr h="45720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57200">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鄒依芸、毛聖崴</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陳致源、黃堯麟</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吳尚燉、王昱欣</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廖容翎、梁嬋女</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耕興</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6146</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黃毅民、陳文香</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易發</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6425</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張至誼、洪國田</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尼得科超眾</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6230</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郭欣頤、張肇文</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黃宇廷、賴書晨</a:t>
                      </a:r>
                    </a:p>
                  </a:txBody>
                  <a:tcPr anchor="ctr" marL="73152" marT="9144" marB="9144">
                    <a:solidFill>
                      <a:srgbClr val="EEF2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優盛 </a:t>
            </a:r>
            <a:r>
              <a:rPr sz="1300" b="0">
                <a:solidFill>
                  <a:srgbClr val="5C6679"/>
                </a:solidFill>
                <a:latin typeface="Microsoft JhengHei"/>
                <a:ea typeface="Microsoft JhengHei"/>
                <a:cs typeface="Microsoft JhengHei"/>
              </a:rPr>
              <a:t>4121</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本公司之官網於今天下午遭受網路駭客攻擊</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麗清 </a:t>
            </a:r>
            <a:r>
              <a:rPr sz="1300" b="0">
                <a:solidFill>
                  <a:srgbClr val="5C6679"/>
                </a:solidFill>
                <a:latin typeface="Microsoft JhengHei"/>
                <a:ea typeface="Microsoft JhengHei"/>
                <a:cs typeface="Microsoft JhengHei"/>
              </a:rPr>
              <a:t>3346</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本公司部份資訊系統遭受駭客網路攻擊。</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修復安全漏洞並持續提升網路與資訊基礎架構之安全管控以確保資訊安全。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GOGOLOOK </a:t>
            </a:r>
            <a:r>
              <a:rPr sz="1300" b="0">
                <a:solidFill>
                  <a:srgbClr val="5C6679"/>
                </a:solidFill>
                <a:latin typeface="Microsoft JhengHei"/>
                <a:ea typeface="Microsoft JhengHei"/>
                <a:cs typeface="Microsoft JhengHei"/>
              </a:rPr>
              <a:t>6902</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本公司發生網路資安事件。</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本公司後續仍持續強化資安管控及防禦機制，確保資訊安全與服務體驗。</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網家 </a:t>
            </a:r>
            <a:r>
              <a:rPr sz="1300" b="0">
                <a:solidFill>
                  <a:srgbClr val="5C6679"/>
                </a:solidFill>
                <a:latin typeface="Microsoft JhengHei"/>
                <a:ea typeface="Microsoft JhengHei"/>
                <a:cs typeface="Microsoft JhengHei"/>
              </a:rPr>
              <a:t>8044</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公司對該等報導或提供訊息之說明:(1)資訊安全防線：本公司及各轉投資事業係依不同服務型態各自營運…</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(1)全面啟動應變與調查：拍付國際獲悉駭客聲稱之入侵及勒索訊息後，已立即啟動資安應變程序，會同資安專家進行全面系統檢測與…</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耕興 </a:t>
            </a:r>
            <a:r>
              <a:rPr sz="1300" b="0">
                <a:solidFill>
                  <a:srgbClr val="5C6679"/>
                </a:solidFill>
                <a:latin typeface="Microsoft JhengHei"/>
                <a:ea typeface="Microsoft JhengHei"/>
                <a:cs typeface="Microsoft JhengHei"/>
              </a:rPr>
              <a:t>6146</a:t>
            </a:r>
          </a:p>
        </p:txBody>
      </p:sp>
      <p:sp>
        <p:nvSpPr>
          <p:cNvPr id="8" name="Rounded Rectangle 7"/>
          <p:cNvSpPr/>
          <p:nvPr/>
        </p:nvSpPr>
        <p:spPr>
          <a:xfrm>
            <a:off x="452628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本公司部分資訊系統發生網路資安事件。</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本公司將持續提升網路與資訊基礎架構之安全管控，並依外部資安技術專家之建議加強防護，確保資訊安全。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易發 </a:t>
            </a:r>
            <a:r>
              <a:rPr sz="1300" b="0">
                <a:solidFill>
                  <a:srgbClr val="5C6679"/>
                </a:solidFill>
                <a:latin typeface="Microsoft JhengHei"/>
                <a:ea typeface="Microsoft JhengHei"/>
                <a:cs typeface="Microsoft JhengHei"/>
              </a:rPr>
              <a:t>6425</a:t>
            </a:r>
          </a:p>
        </p:txBody>
      </p:sp>
      <p:sp>
        <p:nvSpPr>
          <p:cNvPr id="15" name="Rounded Rectangle 14"/>
          <p:cNvSpPr/>
          <p:nvPr/>
        </p:nvSpPr>
        <p:spPr>
          <a:xfrm>
            <a:off x="1014984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本公司之子公司東野精機(股)公司日福精工(股)公司，發現遭不明駭客入侵主機，並將伺服器資料加密，…</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本公司之子公司東野精機(股)公司日福精工(股)公司將修復安全漏洞，持續提升網路與資訊基礎架構之安全管控，以確保資訊安全。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尼得科超眾 </a:t>
            </a:r>
            <a:r>
              <a:rPr sz="1300" b="0">
                <a:solidFill>
                  <a:srgbClr val="5C6679"/>
                </a:solidFill>
                <a:latin typeface="Microsoft JhengHei"/>
                <a:ea typeface="Microsoft JhengHei"/>
                <a:cs typeface="Microsoft JhengHei"/>
              </a:rPr>
              <a:t>6230</a:t>
            </a:r>
          </a:p>
        </p:txBody>
      </p:sp>
      <p:sp>
        <p:nvSpPr>
          <p:cNvPr id="22" name="Rounded Rectangle 21"/>
          <p:cNvSpPr/>
          <p:nvPr/>
        </p:nvSpPr>
        <p:spPr>
          <a:xfrm>
            <a:off x="452628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本公司於今日偵測到部份伺服器遭受網路勒索病毒攻擊，致使包含ERP在內之部份資訊系統無法正常運作。</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本公司亦將視系統復原進度，適時調整生產與出貨排程。</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上福 </a:t>
            </a:r>
            <a:r>
              <a:rPr sz="1300" b="0">
                <a:solidFill>
                  <a:srgbClr val="5C6679"/>
                </a:solidFill>
                <a:latin typeface="Microsoft JhengHei"/>
                <a:ea typeface="Microsoft JhengHei"/>
                <a:cs typeface="Microsoft JhengHei"/>
              </a:rPr>
              <a:t>6128</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KatunCorporation資訊設備遭受未授權外部存取。</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此事件後將持續提升網路與資訊基礎架構之安全控管，並持續密切監控，以確保資訊安全。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