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事件數</c:v>
                </c:pt>
              </c:strCache>
            </c:strRef>
          </c:tx>
          <c:dPt>
            <c:idx val="0"/>
            <c:spPr>
              <a:solidFill>
                <a:srgbClr val="E63946"/>
              </a:solidFill>
            </c:spPr>
          </c:dPt>
          <c:dPt>
            <c:idx val="1"/>
            <c:spPr>
              <a:solidFill>
                <a:srgbClr val="F4A261"/>
              </a:solidFill>
            </c:spPr>
          </c:dPt>
          <c:dPt>
            <c:idx val="2"/>
            <c:spPr>
              <a:solidFill>
                <a:srgbClr val="27A6C4"/>
              </a:solidFill>
            </c:spPr>
          </c:dPt>
          <c:cat>
            <c:strRef>
              <c:f>Sheet1!$A$2:$A$4</c:f>
              <c:strCache>
                <c:ptCount val="3"/>
                <c:pt idx="0">
                  <c:v>駭客攻擊</c:v>
                </c:pt>
                <c:pt idx="1">
                  <c:v>勒索病毒/加密</c:v>
                </c:pt>
                <c:pt idx="2">
                  <c:v>個資外洩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</c:v>
                </c:pt>
                <c:pt idx="1">
                  <c:v>2</c:v>
                </c:pt>
                <c:pt idx="2">
                  <c:v>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300" b="1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1200">
              <a:latin typeface="Microsoft JhengHe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332720" y="-1097280"/>
            <a:ext cx="3291840" cy="3291840"/>
          </a:xfrm>
          <a:prstGeom prst="ellipse">
            <a:avLst/>
          </a:prstGeom>
          <a:solidFill>
            <a:srgbClr val="1E2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155680" y="4754880"/>
            <a:ext cx="2560320" cy="2560320"/>
          </a:xfrm>
          <a:prstGeom prst="ellipse">
            <a:avLst/>
          </a:prstGeom>
          <a:solidFill>
            <a:srgbClr val="1E2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868680"/>
            <a:ext cx="457200" cy="4572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868680"/>
            <a:ext cx="4572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資安重訊分析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515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400"/>
              </a:lnSpc>
            </a:pPr>
            <a:r>
              <a:rPr sz="4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上市櫃公司
資安事件因應分析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1148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資料期間 2026-05-01 ~ 2026-05-31　｜　MOPS 重大訊息全文檢索　｜　8 家公司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709160"/>
            <a:ext cx="2926080" cy="3657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6126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893AD"/>
                </a:solidFill>
                <a:latin typeface="Microsoft JhengHei"/>
                <a:ea typeface="Microsoft JhengHei"/>
                <a:cs typeface="Microsoft JhengHei"/>
              </a:rPr>
              <a:t>資料來源：台灣證券交易所公開資訊觀測站（mopsov.twse.com.tw）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事件總覽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資料期間內 MOPS 揭露之 8 起資安相關重大訊息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19659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17904"/>
            <a:ext cx="1965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29968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起資安事件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1463040"/>
            <a:ext cx="19659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0" y="1517904"/>
            <a:ext cx="1965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029968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大事件類型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7759" y="1463040"/>
            <a:ext cx="19659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59" y="1517904"/>
            <a:ext cx="1965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第26款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59" y="2029968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資通安全事件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48640" y="2697480"/>
          <a:ext cx="11064240" cy="34564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868680"/>
                <a:gridCol w="960120"/>
                <a:gridCol w="2286000"/>
                <a:gridCol w="5120640"/>
              </a:tblGrid>
              <a:tr h="38404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代號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事件日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事件類型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公司揭露之影響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數字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5287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05/26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7A6C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個資外洩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目前評估對公司營運尚無重大影響。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弘塑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3131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05/21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4A26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勒索病毒/加密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公司於4/10發現網路異常後，立即中斷公司網路及相關對外連結，全面停…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建德工業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6606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05/20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目前無個資、機密資料外洩等情事發生，對本公司營運無重大影響。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永信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3705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05/15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7A6C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個資外洩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—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鴻海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2317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05/12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目前受影響廠區之生產營運均維持正常。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彰源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2030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05/11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目前評估沒有個資、亦沒有機密或重要的文件資料外洩等情事發生，對本公司…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偉康科技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6865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05/11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目前評估對公司營運無重大影響。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碩天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3617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05/07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4A26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勒索病毒/加密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經評估對公司財務、業務及營運皆無重大影響。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事件類型分布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依公告主旨與內文關鍵字分類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554480"/>
          <a:ext cx="475488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0" y="1691640"/>
            <a:ext cx="603504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691640"/>
            <a:ext cx="109728" cy="1170432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97880" y="180136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80136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8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4 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80" y="219456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建德工業、鴻海、彰源、偉康科技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7880" y="2459736"/>
            <a:ext cx="5669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系統遭外部入侵或企圖登入，立即啟動防禦機制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0" y="3017520"/>
            <a:ext cx="603504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0" y="3017520"/>
            <a:ext cx="109728" cy="1170432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97880" y="312724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勒索病毒/加密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312724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8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2 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97880" y="3520439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弘塑、碩天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97880" y="3785615"/>
            <a:ext cx="5669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伺服器資料遭加密，須系統隔離與資料復原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0" y="4343400"/>
            <a:ext cx="603504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0" y="4343400"/>
            <a:ext cx="109728" cy="1170432"/>
          </a:xfrm>
          <a:prstGeom prst="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97880" y="445312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個資外洩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445312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8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2 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97880" y="484632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數字、永信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97880" y="5111496"/>
            <a:ext cx="5669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源自開發流程或委外廠商，須通報並通知當事人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簽證會計師一覽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各公司目前之簽證會計師事務所與簽證會計師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10789920" cy="4114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868680"/>
                <a:gridCol w="2103120"/>
                <a:gridCol w="3383280"/>
                <a:gridCol w="2606040"/>
              </a:tblGrid>
              <a:tr h="4572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代號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事件類型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簽證會計師事務所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簽證會計師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數字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5287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7A6C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個資外洩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安侯建業聯合會計師事務所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羅瑞芝、余聖河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弘塑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3131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4A26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勒索病毒/加密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資誠聯合會計師事務所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李典易、蔣承翰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建德工業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6606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資誠聯合會計師事務所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林秀珊、吳建志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永信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3705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7A6C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個資外洩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安侯建業聯合會計師事務所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趙敏如、吳佳翰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鴻海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2317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資誠聯合會計師事務所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徐聖忠、徐潔如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彰源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2030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勤業眾信聯合會計師事務所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許瑞隆、吳少君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偉康科技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6865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安侯建業聯合會計師事務所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洪士剛、莊鈞維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碩天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3617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4A26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勒索病毒/加密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勤業眾信聯合會計師事務所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張至誼、鄭淂蓁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共通因應流程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各公司處理過程高度一致，已形成標準應變劇本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72768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72768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偵測異常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資安單位或外部通報
發現系統異常或入侵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27248" y="1828800"/>
            <a:ext cx="36576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47287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379975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79975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7287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啟動應變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7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立即啟動資安應變機制
系統隔離、防護強化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34456" y="1828800"/>
            <a:ext cx="36576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54496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87183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87183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4496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外部協助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656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委請外部資安專業團隊
鑑識調查與資料復原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41664" y="1828800"/>
            <a:ext cx="36576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61703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994391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94391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61703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強化監控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98863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盤查系統、提升架構
持續密切監控防護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572000"/>
            <a:ext cx="10881360" cy="1325880"/>
          </a:xfrm>
          <a:prstGeom prst="roundRect">
            <a:avLst/>
          </a:prstGeom>
          <a:solidFill>
            <a:srgbClr val="FF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4572000"/>
            <a:ext cx="109728" cy="1325880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4709160"/>
            <a:ext cx="104241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個資外洩事件額外步驟　</a:t>
            </a:r>
            <a:r>
              <a:rPr sz="12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（依事件性質適用）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51663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0"/>
              </a:lnSpc>
            </a:pPr>
            <a:r>
              <a:rPr sz="12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依法通報主管機關　•　主動通知受影響當事人並提供客服　•　向調查局報案　•　強化委外廠商與第三方工具管理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個案因應重點（1）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各公司公告之發生緣由與因應措施摘要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394960" cy="109728"/>
          </a:xfrm>
          <a:prstGeom prst="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數字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5287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792224"/>
            <a:ext cx="1234440" cy="347472"/>
          </a:xfrm>
          <a:prstGeom prst="round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個資外洩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本公司於115年5月25日進行內部活動網頁開發與測試流程時，因程式碼管理作業設定不當，致部分未去…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(1)依據安全軟體發展生命週期(SSDLC)之框架，優化開發流程管制作業(2)落實權限管理及審查，避免未經授權之人員得以…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554480"/>
            <a:ext cx="5394960" cy="109728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弘塑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3131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49840" y="1792224"/>
            <a:ext cx="1234440" cy="347472"/>
          </a:xfrm>
          <a:prstGeom prst="round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4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勒索病毒/加密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本公司資訊系統遭受勒索病毒攻擊。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本公司將持續加強資訊安全監控與防護機制，提升網路與資訊基礎架構之安全管理，並導入更完善之資安控管措施，以降低未來風險。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88620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建德工業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6606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412394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本公司資訊系統疑遭受駭客網路攻擊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目前已全面盤查本公司資訊系統，確保無植入木馬程式等攻擊手段，將持續提昇網路資訊安全架構，並持續嚴密監控，以確保資訊安全。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886200"/>
            <a:ext cx="5394960" cy="109728"/>
          </a:xfrm>
          <a:prstGeom prst="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永信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3705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4123944"/>
            <a:ext cx="1234440" cy="347472"/>
          </a:xfrm>
          <a:prstGeom prst="round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個資外洩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永信藥品本日接獲資安公司通報，廠商於網路巡檢時，發現駭客取得永信藥品委外廠商活動網站的消費者發票…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(1)已立即啟動資安應變機制，並要求委外廠商進行系統隔離、鑑識調查。(2)已委請資訊安全專業團隊協助調查事件原因及影響範…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個案因應重點（2）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各公司公告之發生緣由與因應措施摘要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鴻海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2317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79222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鴻海集團位於北美的部分廠區遭受網路攻擊。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不適用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55448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彰源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2030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49840" y="179222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4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本公司內網有被企圖登入，資訊系統遭受駭客網路攻擊。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目前已經委託國際級網路資訊安全處理公司協助解決，此事件後將持續提升網路與資訊基礎架構之安全控管，並持續密切監控，以確保資…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88620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偉康科技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6865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412394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說明本公司遭受駭客攻擊事件。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本公司已啟動防禦應變，並持續強化資安管控。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886200"/>
            <a:ext cx="5394960" cy="109728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碩天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3617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4123944"/>
            <a:ext cx="1234440" cy="347472"/>
          </a:xfrm>
          <a:prstGeom prst="round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勒索病毒/加密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本公司資安單位發現遭不明駭客入侵主機並將部分伺服器資料加密。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本公司將持續提升網路與資訊基礎架構之安全管控，以確保資訊安全。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