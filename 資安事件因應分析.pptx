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事件數</c:v>
                </c:pt>
              </c:strCache>
            </c:strRef>
          </c:tx>
          <c:dPt>
            <c:idx val="0"/>
            <c:spPr>
              <a:solidFill>
                <a:srgbClr val="E63946"/>
              </a:solidFill>
            </c:spPr>
          </c:dPt>
          <c:dPt>
            <c:idx val="1"/>
            <c:spPr>
              <a:solidFill>
                <a:srgbClr val="F4A261"/>
              </a:solidFill>
            </c:spPr>
          </c:dPt>
          <c:dPt>
            <c:idx val="2"/>
            <c:spPr>
              <a:solidFill>
                <a:srgbClr val="5C6679"/>
              </a:solidFill>
            </c:spPr>
          </c:dPt>
          <c:cat>
            <c:strRef>
              <c:f>Sheet1!$A$2:$A$4</c:f>
              <c:strCache>
                <c:ptCount val="3"/>
                <c:pt idx="0">
                  <c:v>駭客攻擊</c:v>
                </c:pt>
                <c:pt idx="1">
                  <c:v>勒索病毒/加密</c:v>
                </c:pt>
                <c:pt idx="2">
                  <c:v>其他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</c:v>
                </c:pt>
                <c:pt idx="1">
                  <c:v>2</c:v>
                </c:pt>
                <c:pt idx="2">
                  <c:v>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300" b="1">
                  <a:solidFill>
                    <a:srgbClr val="FFFFFF"/>
                  </a:solidFill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1200">
              <a:latin typeface="Microsoft JhengHe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332720" y="-1097280"/>
            <a:ext cx="3291840" cy="3291840"/>
          </a:xfrm>
          <a:prstGeom prst="ellipse">
            <a:avLst/>
          </a:prstGeom>
          <a:solidFill>
            <a:srgbClr val="1E2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155680" y="4754880"/>
            <a:ext cx="2560320" cy="2560320"/>
          </a:xfrm>
          <a:prstGeom prst="ellipse">
            <a:avLst/>
          </a:prstGeom>
          <a:solidFill>
            <a:srgbClr val="1E2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868680"/>
            <a:ext cx="457200" cy="4572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868680"/>
            <a:ext cx="4572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資安重訊分析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5156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400"/>
              </a:lnSpc>
            </a:pPr>
            <a:r>
              <a:rPr sz="4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上市櫃公司
資安事件因應分析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1148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資料期間 2026-06-01 ~ 2026-07-01　｜　MOPS 重大訊息全文檢索　｜　6 家公司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4709160"/>
            <a:ext cx="2926080" cy="3657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6126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893AD"/>
                </a:solidFill>
                <a:latin typeface="Microsoft JhengHei"/>
                <a:ea typeface="Microsoft JhengHei"/>
                <a:cs typeface="Microsoft JhengHei"/>
              </a:rPr>
              <a:t>資料來源：台灣證券交易所公開資訊觀測站（mopsov.twse.com.tw）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事件總覽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資料期間內 MOPS 揭露之 6 起資安相關重大訊息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196596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17904"/>
            <a:ext cx="1965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1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29968"/>
            <a:ext cx="19659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起資安事件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1463040"/>
            <a:ext cx="196596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0" y="1517904"/>
            <a:ext cx="1965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029968"/>
            <a:ext cx="19659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大事件類型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37759" y="1463040"/>
            <a:ext cx="196596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59" y="1517904"/>
            <a:ext cx="1965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第26款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59" y="2029968"/>
            <a:ext cx="19659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資通安全事件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48640" y="2697480"/>
          <a:ext cx="11064240" cy="268833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868680"/>
                <a:gridCol w="960120"/>
                <a:gridCol w="2286000"/>
                <a:gridCol w="5120640"/>
              </a:tblGrid>
              <a:tr h="38404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公司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代號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事件日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事件類型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公司揭露之影響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網家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8044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07/01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—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耕興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6146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06/22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5C667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其他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受影響之資料檔案留有備份，不影響公司營運、業務進行等。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易發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6425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06/22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4A26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勒索病毒/加密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目前初步評估對公司運作無重大影響。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尼得科超眾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6230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06/22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4A26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勒索病毒/加密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目前受影響之系統正陸續復原中，對公司整體營運及財務之影響程度尚在評估…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上福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6128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06/16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5C667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其他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目前評估該事件對公司營運造成暫停出貨的影響，現階段出貨已陸續恢復中。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巨路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6192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06/02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目前評估對公司營運無重大影響，亦未發現個資或機密資料外洩之情事。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事件類型分布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依公告主旨與內文關鍵字分類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554480"/>
          <a:ext cx="4754880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0" y="1691640"/>
            <a:ext cx="603504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691640"/>
            <a:ext cx="109728" cy="1170432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97880" y="1801368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180136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8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2 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80" y="2194560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網家、巨路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97880" y="2459736"/>
            <a:ext cx="56692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系統遭外部入侵或企圖登入，立即啟動防禦機制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0" y="3017520"/>
            <a:ext cx="603504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0" y="3017520"/>
            <a:ext cx="109728" cy="1170432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97880" y="3127248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勒索病毒/加密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312724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800" b="1">
                <a:solidFill>
                  <a:srgbClr val="F4A261"/>
                </a:solidFill>
                <a:latin typeface="Microsoft JhengHei"/>
                <a:ea typeface="Microsoft JhengHei"/>
                <a:cs typeface="Microsoft JhengHei"/>
              </a:rPr>
              <a:t>2 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97880" y="3520439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易發、尼得科超眾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97880" y="3785615"/>
            <a:ext cx="56692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伺服器資料遭加密，須系統隔離與資料復原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0" y="4343400"/>
            <a:ext cx="603504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0" y="4343400"/>
            <a:ext cx="109728" cy="1170432"/>
          </a:xfrm>
          <a:prstGeom prst="rect">
            <a:avLst/>
          </a:prstGeom>
          <a:solidFill>
            <a:srgbClr val="5C66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97880" y="4453128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其他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445312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8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2 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97880" y="4846320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耕興、上福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97880" y="5111496"/>
            <a:ext cx="56692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其他資安相關事件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簽證會計師一覽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各公司目前之簽證會計師事務所與簽證會計師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00200"/>
          <a:ext cx="10789920" cy="3200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868680"/>
                <a:gridCol w="2103120"/>
                <a:gridCol w="3383280"/>
                <a:gridCol w="2606040"/>
              </a:tblGrid>
              <a:tr h="4572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公司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代號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事件類型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簽證會計師事務所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簽證會計師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網家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8044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資誠聯合會計師事務所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廖容翎、梁嬋女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耕興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6146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5C667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其他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勤業眾信聯合會計師事務所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黃毅民、陳文香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易發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6425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4A26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勒索病毒/加密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勤業眾信聯合會計師事務所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張至誼、洪國田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尼得科超眾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6230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4A26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勒索病毒/加密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安侯建業聯合會計師事務所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郭欣頤、張肇文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上福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6128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5C667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其他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安永聯合會計師事務所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黃宇廷、賴書晨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巨路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6192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勤業眾信聯合會計師事務所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劉建良、張麗君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共通因應流程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各公司處理過程高度一致，已形成標準應變劇本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514600" cy="22860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72768" y="2057400"/>
            <a:ext cx="658368" cy="6583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72768" y="20574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偵測異常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36499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15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資安單位或外部通報
發現系統異常或入侵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27248" y="1828800"/>
            <a:ext cx="365760" cy="2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47287" y="1828800"/>
            <a:ext cx="2514600" cy="22860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379975" y="2057400"/>
            <a:ext cx="658368" cy="6583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79975" y="20574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47287" y="28803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啟動應變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4447" y="336499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15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立即啟動資安應變機制
系統隔離、防護強化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34456" y="1828800"/>
            <a:ext cx="365760" cy="2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54496" y="1828800"/>
            <a:ext cx="2514600" cy="22860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87183" y="2057400"/>
            <a:ext cx="658368" cy="6583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87183" y="20574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54496" y="28803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外部協助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1656" y="336499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15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委請外部資安專業團隊
鑑識調查與資料復原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41664" y="1828800"/>
            <a:ext cx="365760" cy="2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61703" y="1828800"/>
            <a:ext cx="2514600" cy="22860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994391" y="2057400"/>
            <a:ext cx="658368" cy="6583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94391" y="20574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61703" y="28803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強化監控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98863" y="336499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15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盤查系統、提升架構
持續密切監控防護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4572000"/>
            <a:ext cx="10881360" cy="1325880"/>
          </a:xfrm>
          <a:prstGeom prst="roundRect">
            <a:avLst/>
          </a:prstGeom>
          <a:solidFill>
            <a:srgbClr val="FF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" y="4572000"/>
            <a:ext cx="109728" cy="1325880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4709160"/>
            <a:ext cx="104241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個資外洩事件額外步驟　</a:t>
            </a:r>
            <a:r>
              <a:rPr sz="12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（依事件性質適用）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51663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0"/>
              </a:lnSpc>
            </a:pPr>
            <a:r>
              <a:rPr sz="12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依法通報主管機關　•　主動通知受影響當事人並提供客服　•　向調查局報案　•　強化委外廠商與第三方工具管理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個案因應重點（1）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各公司公告之發生緣由與因應措施摘要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網家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8044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79222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公司對該等報導或提供訊息之說明:(1)資訊安全防線：本公司及各轉投資事業係依不同服務型態各自營運…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(1)全面啟動應變與調查：拍付國際獲悉駭客聲稱之入侵及勒索訊息後，已立即啟動資安應變程序，會同資安專家進行全面系統檢測與…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554480"/>
            <a:ext cx="5394960" cy="109728"/>
          </a:xfrm>
          <a:prstGeom prst="rect">
            <a:avLst/>
          </a:prstGeom>
          <a:solidFill>
            <a:srgbClr val="5C66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耕興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6146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149840" y="1792224"/>
            <a:ext cx="1234440" cy="347472"/>
          </a:xfrm>
          <a:prstGeom prst="roundRect">
            <a:avLst/>
          </a:prstGeom>
          <a:solidFill>
            <a:srgbClr val="5C66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4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其他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本公司部分資訊系統發生網路資安事件。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本公司將持續提升網路與資訊基礎架構之安全管控，並依外部資安技術專家之建議加強防護，確保資訊安全。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88620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886200"/>
            <a:ext cx="5394960" cy="109728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0565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易發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6425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26280" y="4123944"/>
            <a:ext cx="1234440" cy="347472"/>
          </a:xfrm>
          <a:prstGeom prst="round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412394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勒索病毒/加密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59943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F4A261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本公司之子公司東野精機(股)公司日福精工(股)公司，發現遭不明駭客入侵主機，並將伺服器資料加密，…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25780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F4A261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本公司之子公司東野精機(股)公司日福精工(股)公司將修復安全漏洞，持續提升網路與資訊基礎架構之安全管控，以確保資訊安全。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388620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886200"/>
            <a:ext cx="5394960" cy="109728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410565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尼得科超眾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6230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49840" y="4123944"/>
            <a:ext cx="1234440" cy="347472"/>
          </a:xfrm>
          <a:prstGeom prst="round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0" y="412394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勒索病毒/加密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459943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F4A261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本公司於今日偵測到部份伺服器遭受網路勒索病毒攻擊，致使包含ERP在內之部份資訊系統無法正常運作。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525780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F4A261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本公司亦將視系統復原進度，適時調整生產與出貨排程。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個案因應重點（2）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各公司公告之發生緣由與因應措施摘要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5394960" cy="109728"/>
          </a:xfrm>
          <a:prstGeom prst="rect">
            <a:avLst/>
          </a:prstGeom>
          <a:solidFill>
            <a:srgbClr val="5C66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上福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6128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792224"/>
            <a:ext cx="1234440" cy="347472"/>
          </a:xfrm>
          <a:prstGeom prst="roundRect">
            <a:avLst/>
          </a:prstGeom>
          <a:solidFill>
            <a:srgbClr val="5C66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其他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KatunCorporation資訊設備遭受未授權外部存取。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此事件後將持續提升網路與資訊基礎架構之安全控管，並持續密切監控，以確保資訊安全。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55448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巨路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6192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149840" y="179222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4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本公司部份資訊系統遭受駭客網路攻擊。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本公司將持續強化網路與資訊安全架構，並擴大資安防禦措施，以提升整體資安防護能力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