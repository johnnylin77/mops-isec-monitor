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27A6C4"/>
              </a:solidFill>
            </c:spPr>
          </c:dPt>
          <c:dPt>
            <c:idx val="2"/>
            <c:spPr>
              <a:solidFill>
                <a:srgbClr val="5C6679"/>
              </a:solidFill>
            </c:spPr>
          </c:dPt>
          <c:cat>
            <c:strRef>
              <c:f>Sheet1!$A$2:$A$4</c:f>
              <c:strCache>
                <c:ptCount val="3"/>
                <c:pt idx="0">
                  <c:v>駭客攻擊</c:v>
                </c:pt>
                <c:pt idx="1">
                  <c:v>個資外洩</c:v>
                </c:pt>
                <c:pt idx="2">
                  <c:v>其他</c:v>
                </c:pt>
              </c:strCache>
            </c:strRef>
          </c:cat>
          <c:val>
            <c:numRef>
              <c:f>Sheet1!$B$2:$B$4</c:f>
              <c:numCache>
                <c:formatCode>General</c:formatCode>
                <c:ptCount val="3"/>
                <c:pt idx="0">
                  <c:v>5</c:v>
                </c:pt>
                <c:pt idx="1">
                  <c:v>1</c:v>
                </c:pt>
                <c:pt idx="2">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2026-06-29 ~ 2026-07-29　｜　MOPS 重大訊息全文檢索　｜　9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9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9</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566160"/>
        </p:xfrm>
        <a:graphic>
          <a:graphicData uri="http://schemas.openxmlformats.org/drawingml/2006/table">
            <a:tbl>
              <a:tblPr>
                <a:tableStyleId>{5C22544A-7EE6-4342-B048-85BDC9FD1C3A}</a:tableStyleId>
              </a:tblPr>
              <a:tblGrid>
                <a:gridCol w="1828800"/>
                <a:gridCol w="868680"/>
                <a:gridCol w="960120"/>
                <a:gridCol w="2286000"/>
                <a:gridCol w="5120640"/>
              </a:tblGrid>
              <a:tr h="356616">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56616">
                <a:tc>
                  <a:txBody>
                    <a:bodyPr/>
                    <a:lstStyle/>
                    <a:p>
                      <a:r>
                        <a:rPr sz="1150" b="0">
                          <a:solidFill>
                            <a:srgbClr val="1A2233"/>
                          </a:solidFill>
                          <a:latin typeface="Microsoft JhengHei"/>
                          <a:ea typeface="Microsoft JhengHei"/>
                          <a:cs typeface="Microsoft JhengHei"/>
                        </a:rPr>
                        <a:t>上銀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2049</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07/28</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目前初步評估對公司營運無重大影響。</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萬達寵物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6968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07/27</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對本公司財務或業務並無重大影響。</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07/21</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07/20</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07/17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本資訊網站已暫時停止服務，該事件對公司營運、資訊安全、個資等無重大影…</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07/02</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FFFFFF"/>
                    </a:solidFill>
                  </a:tcPr>
                </a:tc>
              </a:tr>
              <a:tr h="356616">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r h="356616">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a:t>
                      </a:r>
                    </a:p>
                  </a:txBody>
                  <a:tcPr anchor="ctr" marL="73152" marT="9144" marB="914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5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上銀、松上、優盛、麗清、網家</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1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萬達寵物</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3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淳安、淳安、GOGOLOOK</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480560"/>
        </p:xfrm>
        <a:graphic>
          <a:graphicData uri="http://schemas.openxmlformats.org/drawingml/2006/table">
            <a:tbl>
              <a:tblPr>
                <a:tableStyleId>{5C22544A-7EE6-4342-B048-85BDC9FD1C3A}</a:tableStyleId>
              </a:tblPr>
              <a:tblGrid>
                <a:gridCol w="1828800"/>
                <a:gridCol w="868680"/>
                <a:gridCol w="2103120"/>
                <a:gridCol w="3383280"/>
                <a:gridCol w="2606040"/>
              </a:tblGrid>
              <a:tr h="448056">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48056">
                <a:tc>
                  <a:txBody>
                    <a:bodyPr/>
                    <a:lstStyle/>
                    <a:p>
                      <a:r>
                        <a:rPr sz="1150" b="0">
                          <a:solidFill>
                            <a:srgbClr val="1A2233"/>
                          </a:solidFill>
                          <a:latin typeface="Microsoft JhengHei"/>
                          <a:ea typeface="Microsoft JhengHei"/>
                          <a:cs typeface="Microsoft JhengHei"/>
                        </a:rPr>
                        <a:t>上銀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2049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吳麗冬、顏曉芳</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萬達寵物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6968</a:t>
                      </a:r>
                    </a:p>
                  </a:txBody>
                  <a:tcPr anchor="ctr" marL="73152" marT="9144" marB="9144">
                    <a:solidFill>
                      <a:srgbClr val="EEF2F9"/>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葉翠苗、黃世鈞</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羅筱靖、陳國帥</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鄒依芸、毛聖崴</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陳致源、黃堯麟</a:t>
                      </a:r>
                    </a:p>
                  </a:txBody>
                  <a:tcPr anchor="ctr" marL="73152" marT="9144" marB="9144">
                    <a:solidFill>
                      <a:srgbClr val="FFFFFF"/>
                    </a:solidFill>
                  </a:tcPr>
                </a:tc>
              </a:tr>
              <a:tr h="448056">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吳尚燉、王昱欣</a:t>
                      </a:r>
                    </a:p>
                  </a:txBody>
                  <a:tcPr anchor="ctr" marL="73152" marT="9144" marB="9144">
                    <a:solidFill>
                      <a:srgbClr val="EEF2F9"/>
                    </a:solidFill>
                  </a:tcPr>
                </a:tc>
              </a:tr>
              <a:tr h="448056">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廖容翎、梁嬋女</a:t>
                      </a:r>
                    </a:p>
                  </a:txBody>
                  <a:tcPr anchor="ctr" marL="73152"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上銀 </a:t>
            </a:r>
            <a:r>
              <a:rPr sz="1300" b="0">
                <a:solidFill>
                  <a:srgbClr val="5C6679"/>
                </a:solidFill>
                <a:latin typeface="Microsoft JhengHei"/>
                <a:ea typeface="Microsoft JhengHei"/>
                <a:cs typeface="Microsoft JhengHei"/>
              </a:rPr>
              <a:t>2049</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本公司義大利子公司部份資訊系統遭受駭客網路攻擊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完成相關安全漏洞修復後，將持續強化網路與資訊基礎架構之安全防護機制及管理措施，確保資訊系統穩定運作及資訊安全。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萬達寵物 </a:t>
            </a:r>
            <a:r>
              <a:rPr sz="1300" b="0">
                <a:solidFill>
                  <a:srgbClr val="5C6679"/>
                </a:solidFill>
                <a:latin typeface="Microsoft JhengHei"/>
                <a:ea typeface="Microsoft JhengHei"/>
                <a:cs typeface="Microsoft JhengHei"/>
              </a:rPr>
              <a:t>6968</a:t>
            </a:r>
          </a:p>
        </p:txBody>
      </p:sp>
      <p:sp>
        <p:nvSpPr>
          <p:cNvPr id="15" name="Rounded Rectangle 14"/>
          <p:cNvSpPr/>
          <p:nvPr/>
        </p:nvSpPr>
        <p:spPr>
          <a:xfrm>
            <a:off x="1014984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本公司因合作廠商資訊系統遭不明人士入侵，疑似部份資料外洩</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本公司並無與合作廠商串接會員資料、信用卡號、銀行帳戶等敏感資訊，不會產生任何金流交易。本公司已嚴正要求合作廠商技術團隊，…</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松上 </a:t>
            </a:r>
            <a:r>
              <a:rPr sz="1300" b="0">
                <a:solidFill>
                  <a:srgbClr val="5C6679"/>
                </a:solidFill>
                <a:latin typeface="Microsoft JhengHei"/>
                <a:ea typeface="Microsoft JhengHei"/>
                <a:cs typeface="Microsoft JhengHei"/>
              </a:rPr>
              <a:t>6156</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本公司使用之部分資訊系統遭受駭客網路攻擊。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優盛 </a:t>
            </a:r>
            <a:r>
              <a:rPr sz="1300" b="0">
                <a:solidFill>
                  <a:srgbClr val="5C6679"/>
                </a:solidFill>
                <a:latin typeface="Microsoft JhengHei"/>
                <a:ea typeface="Microsoft JhengHei"/>
                <a:cs typeface="Microsoft JhengHei"/>
              </a:rPr>
              <a:t>4121</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本公司之官網於今天下午遭受網路駭客攻擊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麗清 </a:t>
            </a:r>
            <a:r>
              <a:rPr sz="1300" b="0">
                <a:solidFill>
                  <a:srgbClr val="5C6679"/>
                </a:solidFill>
                <a:latin typeface="Microsoft JhengHei"/>
                <a:ea typeface="Microsoft JhengHei"/>
                <a:cs typeface="Microsoft JhengHei"/>
              </a:rPr>
              <a:t>3346</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本公司部份資訊系統遭受駭客網路攻擊。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修復安全漏洞並持續提升網路與資訊基礎架構之安全管控以確保資訊安全。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GOGOLOOK </a:t>
            </a:r>
            <a:r>
              <a:rPr sz="1300" b="0">
                <a:solidFill>
                  <a:srgbClr val="5C6679"/>
                </a:solidFill>
                <a:latin typeface="Microsoft JhengHei"/>
                <a:ea typeface="Microsoft JhengHei"/>
                <a:cs typeface="Microsoft JhengHei"/>
              </a:rPr>
              <a:t>6902</a:t>
            </a:r>
          </a:p>
        </p:txBody>
      </p:sp>
      <p:sp>
        <p:nvSpPr>
          <p:cNvPr id="29" name="Rounded Rectangle 28"/>
          <p:cNvSpPr/>
          <p:nvPr/>
        </p:nvSpPr>
        <p:spPr>
          <a:xfrm>
            <a:off x="1014984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本公司發生網路資安事件。</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本公司後續仍持續強化資安管控及防禦機制，確保資訊安全與服務體驗。</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個案因應重點（3）</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網家 </a:t>
            </a:r>
            <a:r>
              <a:rPr sz="1300" b="0">
                <a:solidFill>
                  <a:srgbClr val="5C6679"/>
                </a:solidFill>
                <a:latin typeface="Microsoft JhengHei"/>
                <a:ea typeface="Microsoft JhengHei"/>
                <a:cs typeface="Microsoft JhengHei"/>
              </a:rPr>
              <a:t>8044</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公司對該等報導或提供訊息之說明:(1)資訊安全防線：本公司及各轉投資事業係依不同服務型態各自營運…</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(1)全面啟動應變與調查：拍付國際獲悉駭客聲稱之入侵及勒索訊息後，已立即啟動資安應變程序，會同資安專家進行全面系統檢測與…</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