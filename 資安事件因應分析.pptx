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27A6C4"/>
              </a:solidFill>
            </c:spPr>
          </c:dPt>
          <c:cat>
            <c:strRef>
              <c:f>Sheet1!$A$2:$A$4</c:f>
              <c:strCache>
                <c:ptCount val="3"/>
                <c:pt idx="0">
                  <c:v>駭客攻擊</c:v>
                </c:pt>
                <c:pt idx="1">
                  <c:v>勒索病毒/加密</c:v>
                </c:pt>
                <c:pt idx="2">
                  <c:v>個資外洩</c:v>
                </c:pt>
              </c:strCache>
            </c:strRef>
          </c:cat>
          <c:val>
            <c:numRef>
              <c:f>Sheet1!$B$2:$B$4</c:f>
              <c:numCache>
                <c:formatCode>General</c:formatCode>
                <c:ptCount val="3"/>
                <c:pt idx="0">
                  <c:v>6</c:v>
                </c:pt>
                <c:pt idx="1">
                  <c:v>3</c:v>
                </c:pt>
                <c:pt idx="2">
                  <c:v>1</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2026-08-24 ~ 2026-09-24　｜　MOPS 重大訊息全文檢索　｜　10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10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10</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32419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24196">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09/18</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目前評估對公司所有業務均不受影響。</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經初步評估，核心資訊系統及營運業務運作皆維持正常，尚未發現公司及涉客…</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經初步評估，本次資安事件未影響公司工廠生產作業，生產活動均維持正常運…</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受影響系統非屬公司現行主要營運系統，亦非對外提供服務之系統，目前評估…</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FFFFFF"/>
                    </a:solidFill>
                  </a:tcPr>
                </a:tc>
              </a:tr>
              <a:tr h="324196">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09/07</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EEF2F9"/>
                    </a:solidFill>
                  </a:tcPr>
                </a:tc>
              </a:tr>
              <a:tr h="324196">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FFFFFF"/>
                    </a:solidFill>
                  </a:tcPr>
                </a:tc>
              </a:tr>
              <a:tr h="324200">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08/31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6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友訊、長榮航、長榮航太、達爾膚、大車隊、杭特</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3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崴寶、富爾特、創新服務</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1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柏文</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407323">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07323">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陳政初、洪國森</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梅元貞、謝秋華</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陳雅琳、楊雲筑</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陳雅琳、鄭博仁</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黃宇廷、黃子評</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于智帆、葉翠苗</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FFFFFF"/>
                    </a:solidFill>
                  </a:tcPr>
                </a:tc>
              </a:tr>
              <a:tr h="407323">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許新民、余倩如</a:t>
                      </a:r>
                    </a:p>
                  </a:txBody>
                  <a:tcPr anchor="ctr" marL="73152" marT="9144" marB="9144">
                    <a:solidFill>
                      <a:srgbClr val="EEF2F9"/>
                    </a:solidFill>
                  </a:tcPr>
                </a:tc>
              </a:tr>
              <a:tr h="407323">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蔡欣怡、白淑蒨</a:t>
                      </a:r>
                    </a:p>
                  </a:txBody>
                  <a:tcPr anchor="ctr" marL="73152" marT="9144" marB="9144">
                    <a:solidFill>
                      <a:srgbClr val="FFFFFF"/>
                    </a:solidFill>
                  </a:tcPr>
                </a:tc>
              </a:tr>
              <a:tr h="407330">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陳憲正、林瑟凱</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本公司接獲系統委外廠商通知其對外服務系統遭自動化攻擊，並對客戶資料表分頁擷取，其中部分涉及本公司…</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本公司已要求系統委外廠商重新檢視造成資安疑慮因子並加以防範，同時持續針對系統委外廠商加強監控。</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友訊 </a:t>
            </a:r>
            <a:r>
              <a:rPr sz="1300" b="0">
                <a:solidFill>
                  <a:srgbClr val="5C6679"/>
                </a:solidFill>
                <a:latin typeface="Microsoft JhengHei"/>
                <a:ea typeface="Microsoft JhengHei"/>
                <a:cs typeface="Microsoft JhengHei"/>
              </a:rPr>
              <a:t>2332</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本公司網站監控中發現登入記錄異常，查知外部攻擊者利用既有登入機制，以大量帳號密碼進行網站登入驗證…</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(1)強化網站登入驗證、存取控制及異常行為偵測機制。(2)強化網頁應用程式防火牆，降低大量或異常登入嘗試之可行性。(3)…</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 </a:t>
            </a:r>
            <a:r>
              <a:rPr sz="1300" b="0">
                <a:solidFill>
                  <a:srgbClr val="5C6679"/>
                </a:solidFill>
                <a:latin typeface="Microsoft JhengHei"/>
                <a:ea typeface="Microsoft JhengHei"/>
                <a:cs typeface="Microsoft JhengHei"/>
              </a:rPr>
              <a:t>2618</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本公司發現有不明人士透過惡意IP入侵本公司內部資訊環境，取得員工姓名與公務聯繫資訊。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本公司已重新檢視可能造成資安疑慮的因子並加以防範，同時持續加強監控。</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長榮航太 </a:t>
            </a:r>
            <a:r>
              <a:rPr sz="1300" b="0">
                <a:solidFill>
                  <a:srgbClr val="5C6679"/>
                </a:solidFill>
                <a:latin typeface="Microsoft JhengHei"/>
                <a:ea typeface="Microsoft JhengHei"/>
                <a:cs typeface="Microsoft JhengHei"/>
              </a:rPr>
              <a:t>2645</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本公司發現部分內部資訊系統遭受網路攻擊。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本公司將持續監控公司整體資訊系統運作狀況，並檢討強化現有資安防護措施，以確保資訊安全。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崴寶 </a:t>
            </a:r>
            <a:r>
              <a:rPr sz="1300" b="0">
                <a:solidFill>
                  <a:srgbClr val="5C6679"/>
                </a:solidFill>
                <a:latin typeface="Microsoft JhengHei"/>
                <a:ea typeface="Microsoft JhengHei"/>
                <a:cs typeface="Microsoft JhengHei"/>
              </a:rPr>
              <a:t>7744</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本公司於115年9月14日上午發現資訊系統遭駭客入侵，部分系統資料遭加密鎖定。本公司立即啟動資安…</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本公司將持續配合專業資安團隊進行事件調查與監控，並加強資訊安全管理措施，包括提升端點防護機制、強化網路監控能力、落實帳號…</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達爾膚 </a:t>
            </a:r>
            <a:r>
              <a:rPr sz="1300" b="0">
                <a:solidFill>
                  <a:srgbClr val="5C6679"/>
                </a:solidFill>
                <a:latin typeface="Microsoft JhengHei"/>
                <a:ea typeface="Microsoft JhengHei"/>
                <a:cs typeface="Microsoft JhengHei"/>
              </a:rPr>
              <a:t>6523</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本公司部分內部資訊系統遭受網路攻擊事件，初步評估對公司營運無重大影響。</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本公司將持續強化網路與資訊基礎架構之安全管控，以確保資訊安全。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富爾特 </a:t>
            </a:r>
            <a:r>
              <a:rPr sz="1300" b="0">
                <a:solidFill>
                  <a:srgbClr val="5C6679"/>
                </a:solidFill>
                <a:latin typeface="Microsoft JhengHei"/>
                <a:ea typeface="Microsoft JhengHei"/>
                <a:cs typeface="Microsoft JhengHei"/>
              </a:rPr>
              <a:t>6136</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本公司之子公司格帝控股股份有限公司偵測到部份伺服器遭受網路勒索病毒攻擊，致使包含ERP在內之部份…</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本公司及所屬子公司將持續密集監控，並強化網路與資訊基礎架構之管控，以確保資訊系統安全。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創新服務 </a:t>
            </a:r>
            <a:r>
              <a:rPr sz="1300" b="0">
                <a:solidFill>
                  <a:srgbClr val="5C6679"/>
                </a:solidFill>
                <a:latin typeface="Microsoft JhengHei"/>
                <a:ea typeface="Microsoft JhengHei"/>
                <a:cs typeface="Microsoft JhengHei"/>
              </a:rPr>
              <a:t>7828</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本公司將持續密集監控，並強化網路與資訊基礎架構之管控，以確保資訊系統安全。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杭特 </a:t>
            </a:r>
            <a:r>
              <a:rPr sz="1300" b="0">
                <a:solidFill>
                  <a:srgbClr val="5C6679"/>
                </a:solidFill>
                <a:latin typeface="Microsoft JhengHei"/>
                <a:ea typeface="Microsoft JhengHei"/>
                <a:cs typeface="Microsoft JhengHei"/>
              </a:rPr>
              <a:t>3297</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