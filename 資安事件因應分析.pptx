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27A6C4"/>
              </a:solidFill>
            </c:spPr>
          </c:dPt>
          <c:dPt>
            <c:idx val="3"/>
            <c:spPr>
              <a:solidFill>
                <a:srgbClr val="5C6679"/>
              </a:solidFill>
            </c:spPr>
          </c:dPt>
          <c:cat>
            <c:strRef>
              <c:f>Sheet1!$A$2:$A$5</c:f>
              <c:strCache>
                <c:ptCount val="4"/>
                <c:pt idx="0">
                  <c:v>駭客攻擊</c:v>
                </c:pt>
                <c:pt idx="1">
                  <c:v>勒索病毒/加密</c:v>
                </c:pt>
                <c:pt idx="2">
                  <c:v>個資外洩</c:v>
                </c:pt>
                <c:pt idx="3">
                  <c:v>其他</c:v>
                </c:pt>
              </c:strCache>
            </c:strRef>
          </c:cat>
          <c:val>
            <c:numRef>
              <c:f>Sheet1!$B$2:$B$5</c:f>
              <c:numCache>
                <c:formatCode>General</c:formatCode>
                <c:ptCount val="4"/>
                <c:pt idx="0">
                  <c:v>7</c:v>
                </c:pt>
                <c:pt idx="1">
                  <c:v>1</c:v>
                </c:pt>
                <c:pt idx="2">
                  <c:v>1</c:v>
                </c:pt>
                <c:pt idx="3">
                  <c:v>2</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2026-07-12 ~ 2026-08-12　｜　MOPS 重大訊息全文檢索　｜　11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11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11</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4</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29718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297180">
                <a:tc>
                  <a:txBody>
                    <a:bodyPr/>
                    <a:lstStyle/>
                    <a:p>
                      <a:r>
                        <a:rPr sz="1150" b="0">
                          <a:solidFill>
                            <a:srgbClr val="1A2233"/>
                          </a:solidFill>
                          <a:latin typeface="Microsoft JhengHei"/>
                          <a:ea typeface="Microsoft JhengHei"/>
                          <a:cs typeface="Microsoft JhengHei"/>
                        </a:rPr>
                        <a:t>久裕</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08/11</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尚在評估中，依目前評估對公司營運無重大影響。</a:t>
                      </a:r>
                    </a:p>
                  </a:txBody>
                  <a:tcPr anchor="ctr" marL="73152" marT="9144" marB="9144">
                    <a:solidFill>
                      <a:srgbClr val="FFFFFF"/>
                    </a:solidFill>
                  </a:tcPr>
                </a:tc>
              </a:tr>
              <a:tr h="297180">
                <a:tc>
                  <a:txBody>
                    <a:bodyPr/>
                    <a:lstStyle/>
                    <a:p>
                      <a:r>
                        <a:rPr sz="1150" b="0">
                          <a:solidFill>
                            <a:srgbClr val="1A2233"/>
                          </a:solidFill>
                          <a:latin typeface="Microsoft JhengHei"/>
                          <a:ea typeface="Microsoft JhengHei"/>
                          <a:cs typeface="Microsoft JhengHei"/>
                        </a:rPr>
                        <a:t>正瀚-創</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6534</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08/11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本公司目前正積極會同技術專家協助調查，初步評估對公司營運無重大影響。</a:t>
                      </a:r>
                    </a:p>
                  </a:txBody>
                  <a:tcPr anchor="ctr" marL="73152" marT="9144" marB="9144">
                    <a:solidFill>
                      <a:srgbClr val="EEF2F9"/>
                    </a:solidFill>
                  </a:tcPr>
                </a:tc>
              </a:tr>
              <a:tr h="297180">
                <a:tc>
                  <a:txBody>
                    <a:bodyPr/>
                    <a:lstStyle/>
                    <a:p>
                      <a:r>
                        <a:rPr sz="1150" b="0">
                          <a:solidFill>
                            <a:srgbClr val="1A2233"/>
                          </a:solidFill>
                          <a:latin typeface="Microsoft JhengHei"/>
                          <a:ea typeface="Microsoft JhengHei"/>
                          <a:cs typeface="Microsoft JhengHei"/>
                        </a:rPr>
                        <a:t>久裕</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08/10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本公司目前正積極會同技術專家協助調查，初步評估對公司營運無重大影響。</a:t>
                      </a:r>
                    </a:p>
                  </a:txBody>
                  <a:tcPr anchor="ctr" marL="73152" marT="9144" marB="9144">
                    <a:solidFill>
                      <a:srgbClr val="FFFFFF"/>
                    </a:solidFill>
                  </a:tcPr>
                </a:tc>
              </a:tr>
              <a:tr h="297180">
                <a:tc>
                  <a:txBody>
                    <a:bodyPr/>
                    <a:lstStyle/>
                    <a:p>
                      <a:r>
                        <a:rPr sz="1150" b="0">
                          <a:solidFill>
                            <a:srgbClr val="1A2233"/>
                          </a:solidFill>
                          <a:latin typeface="Microsoft JhengHei"/>
                          <a:ea typeface="Microsoft JhengHei"/>
                          <a:cs typeface="Microsoft JhengHei"/>
                        </a:rPr>
                        <a:t>逸達</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6576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08/07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本公司目前正積極會同技術專家協助調查，初步評估對公司營運暫無重大影響…</a:t>
                      </a:r>
                    </a:p>
                  </a:txBody>
                  <a:tcPr anchor="ctr" marL="73152" marT="9144" marB="9144">
                    <a:solidFill>
                      <a:srgbClr val="EEF2F9"/>
                    </a:solidFill>
                  </a:tcPr>
                </a:tc>
              </a:tr>
              <a:tr h="297180">
                <a:tc>
                  <a:txBody>
                    <a:bodyPr/>
                    <a:lstStyle/>
                    <a:p>
                      <a:r>
                        <a:rPr sz="1150" b="0">
                          <a:solidFill>
                            <a:srgbClr val="1A2233"/>
                          </a:solidFill>
                          <a:latin typeface="Microsoft JhengHei"/>
                          <a:ea typeface="Microsoft JhengHei"/>
                          <a:cs typeface="Microsoft JhengHei"/>
                        </a:rPr>
                        <a:t>州巧</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3543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08/05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目前初步評估對公司營運無重大影響。</a:t>
                      </a:r>
                    </a:p>
                  </a:txBody>
                  <a:tcPr anchor="ctr" marL="73152" marT="9144" marB="9144">
                    <a:solidFill>
                      <a:srgbClr val="FFFFFF"/>
                    </a:solidFill>
                  </a:tcPr>
                </a:tc>
              </a:tr>
              <a:tr h="297180">
                <a:tc>
                  <a:txBody>
                    <a:bodyPr/>
                    <a:lstStyle/>
                    <a:p>
                      <a:r>
                        <a:rPr sz="1150" b="0">
                          <a:solidFill>
                            <a:srgbClr val="1A2233"/>
                          </a:solidFill>
                          <a:latin typeface="Microsoft JhengHei"/>
                          <a:ea typeface="Microsoft JhengHei"/>
                          <a:cs typeface="Microsoft JhengHei"/>
                        </a:rPr>
                        <a:t>藥華藥</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6446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08/03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本公司目前正積極會同技術專家協助調查，初步評估對公司營運無重大影響。</a:t>
                      </a:r>
                    </a:p>
                  </a:txBody>
                  <a:tcPr anchor="ctr" marL="73152" marT="9144" marB="9144">
                    <a:solidFill>
                      <a:srgbClr val="EEF2F9"/>
                    </a:solidFill>
                  </a:tcPr>
                </a:tc>
              </a:tr>
              <a:tr h="297180">
                <a:tc>
                  <a:txBody>
                    <a:bodyPr/>
                    <a:lstStyle/>
                    <a:p>
                      <a:r>
                        <a:rPr sz="1150" b="0">
                          <a:solidFill>
                            <a:srgbClr val="1A2233"/>
                          </a:solidFill>
                          <a:latin typeface="Microsoft JhengHei"/>
                          <a:ea typeface="Microsoft JhengHei"/>
                          <a:cs typeface="Microsoft JhengHei"/>
                        </a:rPr>
                        <a:t>上銀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2049</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07/28</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目前初步評估對公司營運無重大影響。</a:t>
                      </a:r>
                    </a:p>
                  </a:txBody>
                  <a:tcPr anchor="ctr" marL="73152" marT="9144" marB="9144">
                    <a:solidFill>
                      <a:srgbClr val="FFFFFF"/>
                    </a:solidFill>
                  </a:tcPr>
                </a:tc>
              </a:tr>
              <a:tr h="297180">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07/27</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對本公司財務或業務並無重大影響。</a:t>
                      </a:r>
                    </a:p>
                  </a:txBody>
                  <a:tcPr anchor="ctr" marL="73152" marT="9144" marB="9144">
                    <a:solidFill>
                      <a:srgbClr val="EEF2F9"/>
                    </a:solidFill>
                  </a:tcPr>
                </a:tc>
              </a:tr>
              <a:tr h="29718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07/21</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FFFFFF"/>
                    </a:solidFill>
                  </a:tcPr>
                </a:tc>
              </a:tr>
              <a:tr h="29718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07/20</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EEF2F9"/>
                    </a:solidFill>
                  </a:tcPr>
                </a:tc>
              </a:tr>
              <a:tr h="297180">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07/17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7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正瀚-創、久裕、逸達、州巧、藥華藥、上銀、松上</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1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久裕</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1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萬達寵物</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24" name="Rounded Rectangle 23"/>
          <p:cNvSpPr/>
          <p:nvPr/>
        </p:nvSpPr>
        <p:spPr>
          <a:xfrm>
            <a:off x="5669280" y="5669279"/>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0" y="5669279"/>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97880" y="5779007"/>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7" name="TextBox 26"/>
          <p:cNvSpPr txBox="1"/>
          <p:nvPr/>
        </p:nvSpPr>
        <p:spPr>
          <a:xfrm>
            <a:off x="10058400" y="5779007"/>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2 起</a:t>
            </a:r>
          </a:p>
        </p:txBody>
      </p:sp>
      <p:sp>
        <p:nvSpPr>
          <p:cNvPr id="28" name="TextBox 27"/>
          <p:cNvSpPr txBox="1"/>
          <p:nvPr/>
        </p:nvSpPr>
        <p:spPr>
          <a:xfrm>
            <a:off x="5897880" y="617219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淳安、淳安</a:t>
            </a:r>
          </a:p>
        </p:txBody>
      </p:sp>
      <p:sp>
        <p:nvSpPr>
          <p:cNvPr id="29" name="TextBox 28"/>
          <p:cNvSpPr txBox="1"/>
          <p:nvPr/>
        </p:nvSpPr>
        <p:spPr>
          <a:xfrm>
            <a:off x="5897880" y="643737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37338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373380">
                <a:tc>
                  <a:txBody>
                    <a:bodyPr/>
                    <a:lstStyle/>
                    <a:p>
                      <a:r>
                        <a:rPr sz="1150" b="0">
                          <a:solidFill>
                            <a:srgbClr val="1A2233"/>
                          </a:solidFill>
                          <a:latin typeface="Microsoft JhengHei"/>
                          <a:ea typeface="Microsoft JhengHei"/>
                          <a:cs typeface="Microsoft JhengHei"/>
                        </a:rPr>
                        <a:t>久裕</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4173</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郭柔蘭、江曉苓</a:t>
                      </a:r>
                    </a:p>
                  </a:txBody>
                  <a:tcPr anchor="ctr" marL="73152" marT="9144" marB="9144">
                    <a:solidFill>
                      <a:srgbClr val="FFFFFF"/>
                    </a:solidFill>
                  </a:tcPr>
                </a:tc>
              </a:tr>
              <a:tr h="373380">
                <a:tc>
                  <a:txBody>
                    <a:bodyPr/>
                    <a:lstStyle/>
                    <a:p>
                      <a:r>
                        <a:rPr sz="1150" b="0">
                          <a:solidFill>
                            <a:srgbClr val="1A2233"/>
                          </a:solidFill>
                          <a:latin typeface="Microsoft JhengHei"/>
                          <a:ea typeface="Microsoft JhengHei"/>
                          <a:cs typeface="Microsoft JhengHei"/>
                        </a:rPr>
                        <a:t>正瀚-創</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6534</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陳政學、張字信</a:t>
                      </a:r>
                    </a:p>
                  </a:txBody>
                  <a:tcPr anchor="ctr" marL="73152" marT="9144" marB="9144">
                    <a:solidFill>
                      <a:srgbClr val="EEF2F9"/>
                    </a:solidFill>
                  </a:tcPr>
                </a:tc>
              </a:tr>
              <a:tr h="373380">
                <a:tc>
                  <a:txBody>
                    <a:bodyPr/>
                    <a:lstStyle/>
                    <a:p>
                      <a:r>
                        <a:rPr sz="1150" b="0">
                          <a:solidFill>
                            <a:srgbClr val="1A2233"/>
                          </a:solidFill>
                          <a:latin typeface="Microsoft JhengHei"/>
                          <a:ea typeface="Microsoft JhengHei"/>
                          <a:cs typeface="Microsoft JhengHei"/>
                        </a:rPr>
                        <a:t>久裕</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4173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郭柔蘭、江曉苓</a:t>
                      </a:r>
                    </a:p>
                  </a:txBody>
                  <a:tcPr anchor="ctr" marL="73152" marT="9144" marB="9144">
                    <a:solidFill>
                      <a:srgbClr val="FFFFFF"/>
                    </a:solidFill>
                  </a:tcPr>
                </a:tc>
              </a:tr>
              <a:tr h="373380">
                <a:tc>
                  <a:txBody>
                    <a:bodyPr/>
                    <a:lstStyle/>
                    <a:p>
                      <a:r>
                        <a:rPr sz="1150" b="0">
                          <a:solidFill>
                            <a:srgbClr val="1A2233"/>
                          </a:solidFill>
                          <a:latin typeface="Microsoft JhengHei"/>
                          <a:ea typeface="Microsoft JhengHei"/>
                          <a:cs typeface="Microsoft JhengHei"/>
                        </a:rPr>
                        <a:t>逸達</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6576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蔡蓓華、顏裕芳</a:t>
                      </a:r>
                    </a:p>
                  </a:txBody>
                  <a:tcPr anchor="ctr" marL="73152" marT="9144" marB="9144">
                    <a:solidFill>
                      <a:srgbClr val="EEF2F9"/>
                    </a:solidFill>
                  </a:tcPr>
                </a:tc>
              </a:tr>
              <a:tr h="373380">
                <a:tc>
                  <a:txBody>
                    <a:bodyPr/>
                    <a:lstStyle/>
                    <a:p>
                      <a:r>
                        <a:rPr sz="1150" b="0">
                          <a:solidFill>
                            <a:srgbClr val="1A2233"/>
                          </a:solidFill>
                          <a:latin typeface="Microsoft JhengHei"/>
                          <a:ea typeface="Microsoft JhengHei"/>
                          <a:cs typeface="Microsoft JhengHei"/>
                        </a:rPr>
                        <a:t>州巧</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3543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廖福銘、林永智</a:t>
                      </a:r>
                    </a:p>
                  </a:txBody>
                  <a:tcPr anchor="ctr" marL="73152" marT="9144" marB="9144">
                    <a:solidFill>
                      <a:srgbClr val="FFFFFF"/>
                    </a:solidFill>
                  </a:tcPr>
                </a:tc>
              </a:tr>
              <a:tr h="373380">
                <a:tc>
                  <a:txBody>
                    <a:bodyPr/>
                    <a:lstStyle/>
                    <a:p>
                      <a:r>
                        <a:rPr sz="1150" b="0">
                          <a:solidFill>
                            <a:srgbClr val="1A2233"/>
                          </a:solidFill>
                          <a:latin typeface="Microsoft JhengHei"/>
                          <a:ea typeface="Microsoft JhengHei"/>
                          <a:cs typeface="Microsoft JhengHei"/>
                        </a:rPr>
                        <a:t>藥華藥</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6446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呂倩雯、張巧穎</a:t>
                      </a:r>
                    </a:p>
                  </a:txBody>
                  <a:tcPr anchor="ctr" marL="73152" marT="9144" marB="9144">
                    <a:solidFill>
                      <a:srgbClr val="EEF2F9"/>
                    </a:solidFill>
                  </a:tcPr>
                </a:tc>
              </a:tr>
              <a:tr h="373380">
                <a:tc>
                  <a:txBody>
                    <a:bodyPr/>
                    <a:lstStyle/>
                    <a:p>
                      <a:r>
                        <a:rPr sz="1150" b="0">
                          <a:solidFill>
                            <a:srgbClr val="1A2233"/>
                          </a:solidFill>
                          <a:latin typeface="Microsoft JhengHei"/>
                          <a:ea typeface="Microsoft JhengHei"/>
                          <a:cs typeface="Microsoft JhengHei"/>
                        </a:rPr>
                        <a:t>上銀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2049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吳麗冬、顏曉芳</a:t>
                      </a:r>
                    </a:p>
                  </a:txBody>
                  <a:tcPr anchor="ctr" marL="73152" marT="9144" marB="9144">
                    <a:solidFill>
                      <a:srgbClr val="FFFFFF"/>
                    </a:solidFill>
                  </a:tcPr>
                </a:tc>
              </a:tr>
              <a:tr h="373380">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葉翠苗、黃世鈞</a:t>
                      </a:r>
                    </a:p>
                  </a:txBody>
                  <a:tcPr anchor="ctr" marL="73152" marT="9144" marB="9144">
                    <a:solidFill>
                      <a:srgbClr val="EEF2F9"/>
                    </a:solidFill>
                  </a:tcPr>
                </a:tc>
              </a:tr>
              <a:tr h="37338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FFFFFF"/>
                    </a:solidFill>
                  </a:tcPr>
                </a:tc>
              </a:tr>
              <a:tr h="37338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EEF2F9"/>
                    </a:solidFill>
                  </a:tcPr>
                </a:tc>
              </a:tr>
              <a:tr h="373380">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羅筱靖、陳國帥</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久裕 </a:t>
            </a:r>
            <a:r>
              <a:rPr sz="1300" b="0">
                <a:solidFill>
                  <a:srgbClr val="5C6679"/>
                </a:solidFill>
                <a:latin typeface="Microsoft JhengHei"/>
                <a:ea typeface="Microsoft JhengHei"/>
                <a:cs typeface="Microsoft JhengHei"/>
              </a:rPr>
              <a:t>4173</a:t>
            </a:r>
          </a:p>
        </p:txBody>
      </p:sp>
      <p:sp>
        <p:nvSpPr>
          <p:cNvPr id="8" name="Rounded Rectangle 7"/>
          <p:cNvSpPr/>
          <p:nvPr/>
        </p:nvSpPr>
        <p:spPr>
          <a:xfrm>
            <a:off x="452628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本公司遭受駭客加密攻擊事件，部分檔案無法解密。</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(1)本公司業已啟動資安相關防禦機制與應變作業，並將通報相關機關。(2)本公司將繼續尋求資安專家協助，改善及提升本公司資…</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正瀚-創 </a:t>
            </a:r>
            <a:r>
              <a:rPr sz="1300" b="0">
                <a:solidFill>
                  <a:srgbClr val="5C6679"/>
                </a:solidFill>
                <a:latin typeface="Microsoft JhengHei"/>
                <a:ea typeface="Microsoft JhengHei"/>
                <a:cs typeface="Microsoft JhengHei"/>
              </a:rPr>
              <a:t>6534</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本公司部分資訊系統遭受駭客網路攻擊，初步評估對公司營運無重大影響。</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久裕 </a:t>
            </a:r>
            <a:r>
              <a:rPr sz="1300" b="0">
                <a:solidFill>
                  <a:srgbClr val="5C6679"/>
                </a:solidFill>
                <a:latin typeface="Microsoft JhengHei"/>
                <a:ea typeface="Microsoft JhengHei"/>
                <a:cs typeface="Microsoft JhengHei"/>
              </a:rPr>
              <a:t>4173</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本公司部分資訊系統遭受駭客網路攻擊，初步評估對公司營運無重大影響。</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逸達 </a:t>
            </a:r>
            <a:r>
              <a:rPr sz="1300" b="0">
                <a:solidFill>
                  <a:srgbClr val="5C6679"/>
                </a:solidFill>
                <a:latin typeface="Microsoft JhengHei"/>
                <a:ea typeface="Microsoft JhengHei"/>
                <a:cs typeface="Microsoft JhengHei"/>
              </a:rPr>
              <a:t>6576</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本公司資訊系統遭受駭客網路攻擊，初步評估對公司營運暫無重大影響。</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州巧 </a:t>
            </a:r>
            <a:r>
              <a:rPr sz="1300" b="0">
                <a:solidFill>
                  <a:srgbClr val="5C6679"/>
                </a:solidFill>
                <a:latin typeface="Microsoft JhengHei"/>
                <a:ea typeface="Microsoft JhengHei"/>
                <a:cs typeface="Microsoft JhengHei"/>
              </a:rPr>
              <a:t>3543</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本公司及重要子公司(蘇州州巧、廈門州巧及越南州巧)之部份資訊系統遭不明駭客入侵，導致部分系統無法…</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完成相關安全漏洞修復後，將持續強化網路與資訊基礎架構之安全防護機制及管理措施，確保資訊系統穩定運作及資訊安全。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藥華藥 </a:t>
            </a:r>
            <a:r>
              <a:rPr sz="1300" b="0">
                <a:solidFill>
                  <a:srgbClr val="5C6679"/>
                </a:solidFill>
                <a:latin typeface="Microsoft JhengHei"/>
                <a:ea typeface="Microsoft JhengHei"/>
                <a:cs typeface="Microsoft JhengHei"/>
              </a:rPr>
              <a:t>6446</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本公司及泛泰醫療子公司之部分資訊系統遭受駭客網路攻擊，初步評估對公司營運無重大影響。</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上銀 </a:t>
            </a:r>
            <a:r>
              <a:rPr sz="1300" b="0">
                <a:solidFill>
                  <a:srgbClr val="5C6679"/>
                </a:solidFill>
                <a:latin typeface="Microsoft JhengHei"/>
                <a:ea typeface="Microsoft JhengHei"/>
                <a:cs typeface="Microsoft JhengHei"/>
              </a:rPr>
              <a:t>2049</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本公司義大利子公司部份資訊系統遭受駭客網路攻擊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完成相關安全漏洞修復後，將持續強化網路與資訊基礎架構之安全防護機制及管理措施，確保資訊系統穩定運作及資訊安全。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萬達寵物 </a:t>
            </a:r>
            <a:r>
              <a:rPr sz="1300" b="0">
                <a:solidFill>
                  <a:srgbClr val="5C6679"/>
                </a:solidFill>
                <a:latin typeface="Microsoft JhengHei"/>
                <a:ea typeface="Microsoft JhengHei"/>
                <a:cs typeface="Microsoft JhengHei"/>
              </a:rPr>
              <a:t>6968</a:t>
            </a:r>
          </a:p>
        </p:txBody>
      </p:sp>
      <p:sp>
        <p:nvSpPr>
          <p:cNvPr id="29" name="Rounded Rectangle 28"/>
          <p:cNvSpPr/>
          <p:nvPr/>
        </p:nvSpPr>
        <p:spPr>
          <a:xfrm>
            <a:off x="1014984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本公司因合作廠商資訊系統遭不明人士入侵，疑似部份資料外洩</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本公司並無與合作廠商串接會員資料、信用卡號、銀行帳戶等敏感資訊，不會產生任何金流交易。本公司已嚴正要求合作廠商技術團隊，…</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8" name="Rounded Rectangle 7"/>
          <p:cNvSpPr/>
          <p:nvPr/>
        </p:nvSpPr>
        <p:spPr>
          <a:xfrm>
            <a:off x="452628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松上 </a:t>
            </a:r>
            <a:r>
              <a:rPr sz="1300" b="0">
                <a:solidFill>
                  <a:srgbClr val="5C6679"/>
                </a:solidFill>
                <a:latin typeface="Microsoft JhengHei"/>
                <a:ea typeface="Microsoft JhengHei"/>
                <a:cs typeface="Microsoft JhengHei"/>
              </a:rPr>
              <a:t>6156</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本公司使用之部分資訊系統遭受駭客網路攻擊。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本公司後續仍將持續提升網路與資訊基礎架構之安全管控以確保資訊安全。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