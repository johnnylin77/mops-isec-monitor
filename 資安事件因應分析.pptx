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事件數</c:v>
                </c:pt>
              </c:strCache>
            </c:strRef>
          </c:tx>
          <c:dPt>
            <c:idx val="0"/>
            <c:spPr>
              <a:solidFill>
                <a:srgbClr val="E63946"/>
              </a:solidFill>
            </c:spPr>
          </c:dPt>
          <c:dPt>
            <c:idx val="1"/>
            <c:spPr>
              <a:solidFill>
                <a:srgbClr val="27A6C4"/>
              </a:solidFill>
            </c:spPr>
          </c:dPt>
          <c:dPt>
            <c:idx val="2"/>
            <c:spPr>
              <a:solidFill>
                <a:srgbClr val="5C6679"/>
              </a:solidFill>
            </c:spPr>
          </c:dPt>
          <c:cat>
            <c:strRef>
              <c:f>Sheet1!$A$2:$A$4</c:f>
              <c:strCache>
                <c:ptCount val="3"/>
                <c:pt idx="0">
                  <c:v>駭客攻擊</c:v>
                </c:pt>
                <c:pt idx="1">
                  <c:v>個資外洩</c:v>
                </c:pt>
                <c:pt idx="2">
                  <c:v>其他</c:v>
                </c:pt>
              </c:strCache>
            </c:strRef>
          </c:cat>
          <c:val>
            <c:numRef>
              <c:f>Sheet1!$B$2:$B$4</c:f>
              <c:numCache>
                <c:formatCode>General</c:formatCode>
                <c:ptCount val="3"/>
                <c:pt idx="0">
                  <c:v>3</c:v>
                </c:pt>
                <c:pt idx="1">
                  <c:v>7</c:v>
                </c:pt>
                <c:pt idx="2">
                  <c:v>4</c:v>
                </c:pt>
              </c:numCache>
            </c:numRef>
          </c:val>
        </c:ser>
        <c:dLbls>
          <c:numFmt formatCode="0" sourceLinked="0"/>
          <c:txPr>
            <a:bodyPr/>
            <a:lstStyle/>
            <a:p>
              <a:pPr>
                <a:defRPr sz="13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200">
              <a:latin typeface="Microsoft JhengHei"/>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1097280"/>
            <a:ext cx="3291840" cy="3291840"/>
          </a:xfrm>
          <a:prstGeom prst="ellipse">
            <a:avLst/>
          </a:prstGeom>
          <a:solidFill>
            <a:srgbClr val="1E2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55680" y="4754880"/>
            <a:ext cx="2560320" cy="2560320"/>
          </a:xfrm>
          <a:prstGeom prst="ellipse">
            <a:avLst/>
          </a:prstGeom>
          <a:solidFill>
            <a:srgbClr val="1E2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868680"/>
            <a:ext cx="457200" cy="457200"/>
          </a:xfrm>
          <a:prstGeom prst="ellipse">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868680"/>
            <a:ext cx="4572000" cy="457200"/>
          </a:xfrm>
          <a:prstGeom prst="rect">
            <a:avLst/>
          </a:prstGeom>
          <a:noFill/>
        </p:spPr>
        <p:txBody>
          <a:bodyPr wrap="square" anchor="ctr" lIns="0" rIns="0" tIns="0" bIns="0">
            <a:spAutoFit/>
          </a:bodyPr>
          <a:lstStyle/>
          <a:p>
            <a:pPr algn="l"/>
            <a:r>
              <a:rPr sz="1400" b="1">
                <a:solidFill>
                  <a:srgbClr val="2EC4B6"/>
                </a:solidFill>
                <a:latin typeface="Microsoft JhengHei"/>
                <a:ea typeface="Microsoft JhengHei"/>
                <a:cs typeface="Microsoft JhengHei"/>
              </a:rPr>
              <a:t>資安重訊分析</a:t>
            </a:r>
          </a:p>
        </p:txBody>
      </p:sp>
      <p:sp>
        <p:nvSpPr>
          <p:cNvPr id="7" name="TextBox 6"/>
          <p:cNvSpPr txBox="1"/>
          <p:nvPr/>
        </p:nvSpPr>
        <p:spPr>
          <a:xfrm>
            <a:off x="640080" y="1828800"/>
            <a:ext cx="10515600" cy="2011680"/>
          </a:xfrm>
          <a:prstGeom prst="rect">
            <a:avLst/>
          </a:prstGeom>
          <a:noFill/>
        </p:spPr>
        <p:txBody>
          <a:bodyPr wrap="square" anchor="t" lIns="0" rIns="0" tIns="0" bIns="0">
            <a:spAutoFit/>
          </a:bodyPr>
          <a:lstStyle/>
          <a:p>
            <a:pPr algn="l">
              <a:lnSpc>
                <a:spcPts val="5400"/>
              </a:lnSpc>
            </a:pPr>
            <a:r>
              <a:rPr sz="4400" b="1">
                <a:solidFill>
                  <a:srgbClr val="FFFFFF"/>
                </a:solidFill>
                <a:latin typeface="Microsoft JhengHei"/>
                <a:ea typeface="Microsoft JhengHei"/>
                <a:cs typeface="Microsoft JhengHei"/>
              </a:rPr>
              <a:t>上市櫃公司
資安事件因應分析</a:t>
            </a:r>
          </a:p>
        </p:txBody>
      </p:sp>
      <p:sp>
        <p:nvSpPr>
          <p:cNvPr id="8" name="TextBox 7"/>
          <p:cNvSpPr txBox="1"/>
          <p:nvPr/>
        </p:nvSpPr>
        <p:spPr>
          <a:xfrm>
            <a:off x="658368" y="4114800"/>
            <a:ext cx="10515600" cy="457200"/>
          </a:xfrm>
          <a:prstGeom prst="rect">
            <a:avLst/>
          </a:prstGeom>
          <a:noFill/>
        </p:spPr>
        <p:txBody>
          <a:bodyPr wrap="square" anchor="t" lIns="0" rIns="0" tIns="0" bIns="0">
            <a:spAutoFit/>
          </a:bodyPr>
          <a:lstStyle/>
          <a:p>
            <a:pPr algn="l"/>
            <a:r>
              <a:rPr sz="1600" b="0">
                <a:solidFill>
                  <a:srgbClr val="CADCFC"/>
                </a:solidFill>
                <a:latin typeface="Microsoft JhengHei"/>
                <a:ea typeface="Microsoft JhengHei"/>
                <a:cs typeface="Microsoft JhengHei"/>
              </a:rPr>
              <a:t>資料期間 2026-09-23 ~ 2026-10-23　｜　MOPS 重大訊息全文檢索　｜　14 家公司</a:t>
            </a:r>
          </a:p>
        </p:txBody>
      </p:sp>
      <p:sp>
        <p:nvSpPr>
          <p:cNvPr id="9" name="Rectangle 8"/>
          <p:cNvSpPr/>
          <p:nvPr/>
        </p:nvSpPr>
        <p:spPr>
          <a:xfrm>
            <a:off x="685800" y="4709160"/>
            <a:ext cx="2926080" cy="36576"/>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6126480"/>
            <a:ext cx="10058400" cy="365760"/>
          </a:xfrm>
          <a:prstGeom prst="rect">
            <a:avLst/>
          </a:prstGeom>
          <a:noFill/>
        </p:spPr>
        <p:txBody>
          <a:bodyPr wrap="square" anchor="t" lIns="0" rIns="0" tIns="0" bIns="0">
            <a:spAutoFit/>
          </a:bodyPr>
          <a:lstStyle/>
          <a:p>
            <a:pPr algn="l"/>
            <a:r>
              <a:rPr sz="1100" b="0">
                <a:solidFill>
                  <a:srgbClr val="8893AD"/>
                </a:solidFill>
                <a:latin typeface="Microsoft JhengHei"/>
                <a:ea typeface="Microsoft JhengHei"/>
                <a:cs typeface="Microsoft JhengHei"/>
              </a:rPr>
              <a:t>資料來源：台灣證券交易所公開資訊觀測站（mopsov.twse.com.tw）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640080"/>
          </a:xfrm>
          <a:prstGeom prst="rect">
            <a:avLst/>
          </a:prstGeom>
          <a:noFill/>
        </p:spPr>
        <p:txBody>
          <a:bodyPr wrap="square" anchor="t" lIns="0" rIns="0" tIns="0" bIns="0">
            <a:spAutoFit/>
          </a:bodyPr>
          <a:lstStyle/>
          <a:p>
            <a:pPr algn="l"/>
            <a:r>
              <a:rPr sz="3000" b="1">
                <a:solidFill>
                  <a:srgbClr val="1A2233"/>
                </a:solidFill>
                <a:latin typeface="Microsoft JhengHei"/>
                <a:ea typeface="Microsoft JhengHei"/>
                <a:cs typeface="Microsoft JhengHei"/>
              </a:rPr>
              <a:t>事件總覽</a:t>
            </a:r>
          </a:p>
        </p:txBody>
      </p:sp>
      <p:sp>
        <p:nvSpPr>
          <p:cNvPr id="4" name="TextBox 3"/>
          <p:cNvSpPr txBox="1"/>
          <p:nvPr/>
        </p:nvSpPr>
        <p:spPr>
          <a:xfrm>
            <a:off x="566928" y="1005840"/>
            <a:ext cx="9144000" cy="365760"/>
          </a:xfrm>
          <a:prstGeom prst="rect">
            <a:avLst/>
          </a:prstGeom>
          <a:noFill/>
        </p:spPr>
        <p:txBody>
          <a:bodyPr wrap="square" anchor="t" lIns="0" rIns="0" tIns="0" bIns="0">
            <a:spAutoFit/>
          </a:bodyPr>
          <a:lstStyle/>
          <a:p>
            <a:pPr algn="l"/>
            <a:r>
              <a:rPr sz="1300" b="0">
                <a:solidFill>
                  <a:srgbClr val="5C6679"/>
                </a:solidFill>
                <a:latin typeface="Microsoft JhengHei"/>
                <a:ea typeface="Microsoft JhengHei"/>
                <a:cs typeface="Microsoft JhengHei"/>
              </a:rPr>
              <a:t>資料期間內 MOPS 揭露之 14 起資安相關重大訊息</a:t>
            </a:r>
          </a:p>
        </p:txBody>
      </p:sp>
      <p:sp>
        <p:nvSpPr>
          <p:cNvPr id="5" name="Rounded Rectangle 4"/>
          <p:cNvSpPr/>
          <p:nvPr/>
        </p:nvSpPr>
        <p:spPr>
          <a:xfrm>
            <a:off x="548640" y="1463040"/>
            <a:ext cx="1965960" cy="96012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17904"/>
            <a:ext cx="1965960" cy="548640"/>
          </a:xfrm>
          <a:prstGeom prst="rect">
            <a:avLst/>
          </a:prstGeom>
          <a:noFill/>
        </p:spPr>
        <p:txBody>
          <a:bodyPr wrap="square" anchor="ctr" lIns="0" rIns="0" tIns="0" bIns="0">
            <a:spAutoFit/>
          </a:bodyPr>
          <a:lstStyle/>
          <a:p>
            <a:pPr algn="ctr"/>
            <a:r>
              <a:rPr sz="2700" b="1">
                <a:solidFill>
                  <a:srgbClr val="2EC4B6"/>
                </a:solidFill>
                <a:latin typeface="Microsoft JhengHei"/>
                <a:ea typeface="Microsoft JhengHei"/>
                <a:cs typeface="Microsoft JhengHei"/>
              </a:rPr>
              <a:t>14</a:t>
            </a:r>
          </a:p>
        </p:txBody>
      </p:sp>
      <p:sp>
        <p:nvSpPr>
          <p:cNvPr id="7" name="TextBox 6"/>
          <p:cNvSpPr txBox="1"/>
          <p:nvPr/>
        </p:nvSpPr>
        <p:spPr>
          <a:xfrm>
            <a:off x="548640" y="2029968"/>
            <a:ext cx="1965960" cy="329184"/>
          </a:xfrm>
          <a:prstGeom prst="rect">
            <a:avLst/>
          </a:prstGeom>
          <a:noFill/>
        </p:spPr>
        <p:txBody>
          <a:bodyPr wrap="square" anchor="t" lIns="0" rIns="0" tIns="0" bIns="0">
            <a:spAutoFit/>
          </a:bodyPr>
          <a:lstStyle/>
          <a:p>
            <a:pPr algn="ctr"/>
            <a:r>
              <a:rPr sz="1150" b="0">
                <a:solidFill>
                  <a:srgbClr val="5C6679"/>
                </a:solidFill>
                <a:latin typeface="Microsoft JhengHei"/>
                <a:ea typeface="Microsoft JhengHei"/>
                <a:cs typeface="Microsoft JhengHei"/>
              </a:rPr>
              <a:t>起資安事件</a:t>
            </a:r>
          </a:p>
        </p:txBody>
      </p:sp>
      <p:sp>
        <p:nvSpPr>
          <p:cNvPr id="8" name="Rounded Rectangle 7"/>
          <p:cNvSpPr/>
          <p:nvPr/>
        </p:nvSpPr>
        <p:spPr>
          <a:xfrm>
            <a:off x="2743200" y="1463040"/>
            <a:ext cx="1965960" cy="96012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1517904"/>
            <a:ext cx="1965960" cy="548640"/>
          </a:xfrm>
          <a:prstGeom prst="rect">
            <a:avLst/>
          </a:prstGeom>
          <a:noFill/>
        </p:spPr>
        <p:txBody>
          <a:bodyPr wrap="square" anchor="ctr" lIns="0" rIns="0" tIns="0" bIns="0">
            <a:spAutoFit/>
          </a:bodyPr>
          <a:lstStyle/>
          <a:p>
            <a:pPr algn="ctr"/>
            <a:r>
              <a:rPr sz="2700" b="1">
                <a:solidFill>
                  <a:srgbClr val="27A6C4"/>
                </a:solidFill>
                <a:latin typeface="Microsoft JhengHei"/>
                <a:ea typeface="Microsoft JhengHei"/>
                <a:cs typeface="Microsoft JhengHei"/>
              </a:rPr>
              <a:t>3</a:t>
            </a:r>
          </a:p>
        </p:txBody>
      </p:sp>
      <p:sp>
        <p:nvSpPr>
          <p:cNvPr id="10" name="TextBox 9"/>
          <p:cNvSpPr txBox="1"/>
          <p:nvPr/>
        </p:nvSpPr>
        <p:spPr>
          <a:xfrm>
            <a:off x="2743200" y="2029968"/>
            <a:ext cx="1965960" cy="329184"/>
          </a:xfrm>
          <a:prstGeom prst="rect">
            <a:avLst/>
          </a:prstGeom>
          <a:noFill/>
        </p:spPr>
        <p:txBody>
          <a:bodyPr wrap="square" anchor="t" lIns="0" rIns="0" tIns="0" bIns="0">
            <a:spAutoFit/>
          </a:bodyPr>
          <a:lstStyle/>
          <a:p>
            <a:pPr algn="ctr"/>
            <a:r>
              <a:rPr sz="1150" b="0">
                <a:solidFill>
                  <a:srgbClr val="5C6679"/>
                </a:solidFill>
                <a:latin typeface="Microsoft JhengHei"/>
                <a:ea typeface="Microsoft JhengHei"/>
                <a:cs typeface="Microsoft JhengHei"/>
              </a:rPr>
              <a:t>大事件類型</a:t>
            </a:r>
          </a:p>
        </p:txBody>
      </p:sp>
      <p:sp>
        <p:nvSpPr>
          <p:cNvPr id="11" name="Rounded Rectangle 10"/>
          <p:cNvSpPr/>
          <p:nvPr/>
        </p:nvSpPr>
        <p:spPr>
          <a:xfrm>
            <a:off x="4937759" y="1463040"/>
            <a:ext cx="1965960" cy="96012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59" y="1517904"/>
            <a:ext cx="1965960" cy="548640"/>
          </a:xfrm>
          <a:prstGeom prst="rect">
            <a:avLst/>
          </a:prstGeom>
          <a:noFill/>
        </p:spPr>
        <p:txBody>
          <a:bodyPr wrap="square" anchor="ctr" lIns="0" rIns="0" tIns="0" bIns="0">
            <a:spAutoFit/>
          </a:bodyPr>
          <a:lstStyle/>
          <a:p>
            <a:pPr algn="ctr"/>
            <a:r>
              <a:rPr sz="2700" b="1">
                <a:solidFill>
                  <a:srgbClr val="E63946"/>
                </a:solidFill>
                <a:latin typeface="Microsoft JhengHei"/>
                <a:ea typeface="Microsoft JhengHei"/>
                <a:cs typeface="Microsoft JhengHei"/>
              </a:rPr>
              <a:t>第26款</a:t>
            </a:r>
          </a:p>
        </p:txBody>
      </p:sp>
      <p:sp>
        <p:nvSpPr>
          <p:cNvPr id="13" name="TextBox 12"/>
          <p:cNvSpPr txBox="1"/>
          <p:nvPr/>
        </p:nvSpPr>
        <p:spPr>
          <a:xfrm>
            <a:off x="4937759" y="2029968"/>
            <a:ext cx="1965960" cy="329184"/>
          </a:xfrm>
          <a:prstGeom prst="rect">
            <a:avLst/>
          </a:prstGeom>
          <a:noFill/>
        </p:spPr>
        <p:txBody>
          <a:bodyPr wrap="square" anchor="t" lIns="0" rIns="0" tIns="0" bIns="0">
            <a:spAutoFit/>
          </a:bodyPr>
          <a:lstStyle/>
          <a:p>
            <a:pPr algn="ctr"/>
            <a:r>
              <a:rPr sz="1150" b="0">
                <a:solidFill>
                  <a:srgbClr val="5C6679"/>
                </a:solidFill>
                <a:latin typeface="Microsoft JhengHei"/>
                <a:ea typeface="Microsoft JhengHei"/>
                <a:cs typeface="Microsoft JhengHei"/>
              </a:rPr>
              <a:t>資通安全事件</a:t>
            </a:r>
          </a:p>
        </p:txBody>
      </p:sp>
      <p:graphicFrame>
        <p:nvGraphicFramePr>
          <p:cNvPr id="14" name="Table 13"/>
          <p:cNvGraphicFramePr>
            <a:graphicFrameLocks noGrp="1"/>
          </p:cNvGraphicFramePr>
          <p:nvPr/>
        </p:nvGraphicFramePr>
        <p:xfrm>
          <a:off x="548640" y="2697480"/>
          <a:ext cx="11064240" cy="3566160"/>
        </p:xfrm>
        <a:graphic>
          <a:graphicData uri="http://schemas.openxmlformats.org/drawingml/2006/table">
            <a:tbl>
              <a:tblPr>
                <a:tableStyleId>{5C22544A-7EE6-4342-B048-85BDC9FD1C3A}</a:tableStyleId>
              </a:tblPr>
              <a:tblGrid>
                <a:gridCol w="1828800"/>
                <a:gridCol w="868680"/>
                <a:gridCol w="960120"/>
                <a:gridCol w="2286000"/>
                <a:gridCol w="5120640"/>
              </a:tblGrid>
              <a:tr h="237744">
                <a:tc>
                  <a:txBody>
                    <a:bodyPr/>
                    <a:lstStyle/>
                    <a:p>
                      <a:r>
                        <a:rPr sz="1250" b="1">
                          <a:solidFill>
                            <a:srgbClr val="FFFFFF"/>
                          </a:solidFill>
                          <a:latin typeface="Microsoft JhengHei"/>
                          <a:ea typeface="Microsoft JhengHei"/>
                          <a:cs typeface="Microsoft JhengHei"/>
                        </a:rPr>
                        <a:t>公司</a:t>
                      </a:r>
                    </a:p>
                  </a:txBody>
                  <a:tcPr anchor="ctr" marL="73152" marT="18288" marB="18288">
                    <a:solidFill>
                      <a:srgbClr val="14213D"/>
                    </a:solidFill>
                  </a:tcPr>
                </a:tc>
                <a:tc>
                  <a:txBody>
                    <a:bodyPr/>
                    <a:lstStyle/>
                    <a:p>
                      <a:r>
                        <a:rPr sz="1250" b="1">
                          <a:solidFill>
                            <a:srgbClr val="FFFFFF"/>
                          </a:solidFill>
                          <a:latin typeface="Microsoft JhengHei"/>
                          <a:ea typeface="Microsoft JhengHei"/>
                          <a:cs typeface="Microsoft JhengHei"/>
                        </a:rPr>
                        <a:t>代號</a:t>
                      </a:r>
                    </a:p>
                  </a:txBody>
                  <a:tcPr anchor="ctr" marL="73152" marT="18288" marB="18288">
                    <a:solidFill>
                      <a:srgbClr val="14213D"/>
                    </a:solidFill>
                  </a:tcPr>
                </a:tc>
                <a:tc>
                  <a:txBody>
                    <a:bodyPr/>
                    <a:lstStyle/>
                    <a:p>
                      <a:r>
                        <a:rPr sz="1250" b="1">
                          <a:solidFill>
                            <a:srgbClr val="FFFFFF"/>
                          </a:solidFill>
                          <a:latin typeface="Microsoft JhengHei"/>
                          <a:ea typeface="Microsoft JhengHei"/>
                          <a:cs typeface="Microsoft JhengHei"/>
                        </a:rPr>
                        <a:t>事件日</a:t>
                      </a:r>
                    </a:p>
                  </a:txBody>
                  <a:tcPr anchor="ctr" marL="73152" marT="18288" marB="18288">
                    <a:solidFill>
                      <a:srgbClr val="14213D"/>
                    </a:solidFill>
                  </a:tcPr>
                </a:tc>
                <a:tc>
                  <a:txBody>
                    <a:bodyPr/>
                    <a:lstStyle/>
                    <a:p>
                      <a:r>
                        <a:rPr sz="1250" b="1">
                          <a:solidFill>
                            <a:srgbClr val="FFFFFF"/>
                          </a:solidFill>
                          <a:latin typeface="Microsoft JhengHei"/>
                          <a:ea typeface="Microsoft JhengHei"/>
                          <a:cs typeface="Microsoft JhengHei"/>
                        </a:rPr>
                        <a:t>事件類型</a:t>
                      </a:r>
                    </a:p>
                  </a:txBody>
                  <a:tcPr anchor="ctr" marL="73152" marT="18288" marB="18288">
                    <a:solidFill>
                      <a:srgbClr val="14213D"/>
                    </a:solidFill>
                  </a:tcPr>
                </a:tc>
                <a:tc>
                  <a:txBody>
                    <a:bodyPr/>
                    <a:lstStyle/>
                    <a:p>
                      <a:r>
                        <a:rPr sz="1250" b="1">
                          <a:solidFill>
                            <a:srgbClr val="FFFFFF"/>
                          </a:solidFill>
                          <a:latin typeface="Microsoft JhengHei"/>
                          <a:ea typeface="Microsoft JhengHei"/>
                          <a:cs typeface="Microsoft JhengHei"/>
                        </a:rPr>
                        <a:t>公司揭露之影響</a:t>
                      </a:r>
                    </a:p>
                  </a:txBody>
                  <a:tcPr anchor="ctr" marL="73152" marT="18288" marB="18288">
                    <a:solidFill>
                      <a:srgbClr val="14213D"/>
                    </a:solidFill>
                  </a:tcPr>
                </a:tc>
              </a:tr>
              <a:tr h="237744">
                <a:tc>
                  <a:txBody>
                    <a:bodyPr/>
                    <a:lstStyle/>
                    <a:p>
                      <a:r>
                        <a:rPr sz="1150" b="0">
                          <a:solidFill>
                            <a:srgbClr val="1A2233"/>
                          </a:solidFill>
                          <a:latin typeface="Microsoft JhengHei"/>
                          <a:ea typeface="Microsoft JhengHei"/>
                          <a:cs typeface="Microsoft JhengHei"/>
                        </a:rPr>
                        <a:t>科懋</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6496</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10/22</a:t>
                      </a:r>
                    </a:p>
                  </a:txBody>
                  <a:tcPr anchor="ctr" marL="73152" marT="9144" marB="9144">
                    <a:solidFill>
                      <a:srgbClr val="FFFFFF"/>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目前評估對公司營運無重大影響。</a:t>
                      </a:r>
                    </a:p>
                  </a:txBody>
                  <a:tcPr anchor="ctr" marL="73152" marT="9144" marB="9144">
                    <a:solidFill>
                      <a:srgbClr val="FFFFFF"/>
                    </a:solidFill>
                  </a:tcPr>
                </a:tc>
              </a:tr>
              <a:tr h="237744">
                <a:tc>
                  <a:txBody>
                    <a:bodyPr/>
                    <a:lstStyle/>
                    <a:p>
                      <a:r>
                        <a:rPr sz="1150" b="0">
                          <a:solidFill>
                            <a:srgbClr val="1A2233"/>
                          </a:solidFill>
                          <a:latin typeface="Microsoft JhengHei"/>
                          <a:ea typeface="Microsoft JhengHei"/>
                          <a:cs typeface="Microsoft JhengHei"/>
                        </a:rPr>
                        <a:t>立康</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6242</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10/21</a:t>
                      </a:r>
                    </a:p>
                  </a:txBody>
                  <a:tcPr anchor="ctr" marL="73152" marT="9144" marB="9144">
                    <a:solidFill>
                      <a:srgbClr val="EEF2F9"/>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截至目前為止對公司財務及業務並無重大影響。</a:t>
                      </a:r>
                    </a:p>
                  </a:txBody>
                  <a:tcPr anchor="ctr" marL="73152" marT="9144" marB="9144">
                    <a:solidFill>
                      <a:srgbClr val="EEF2F9"/>
                    </a:solidFill>
                  </a:tcPr>
                </a:tc>
              </a:tr>
              <a:tr h="237744">
                <a:tc>
                  <a:txBody>
                    <a:bodyPr/>
                    <a:lstStyle/>
                    <a:p>
                      <a:r>
                        <a:rPr sz="1150" b="0">
                          <a:solidFill>
                            <a:srgbClr val="1A2233"/>
                          </a:solidFill>
                          <a:latin typeface="Microsoft JhengHei"/>
                          <a:ea typeface="Microsoft JhengHei"/>
                          <a:cs typeface="Microsoft JhengHei"/>
                        </a:rPr>
                        <a:t>美食-KY</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2723</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10/21</a:t>
                      </a:r>
                    </a:p>
                  </a:txBody>
                  <a:tcPr anchor="ctr" marL="73152" marT="9144" marB="9144">
                    <a:solidFill>
                      <a:srgbClr val="FFFFFF"/>
                    </a:solidFill>
                  </a:tcPr>
                </a:tc>
                <a:tc>
                  <a:txBody>
                    <a:bodyPr/>
                    <a:lstStyle/>
                    <a:p>
                      <a:r>
                        <a:rPr sz="1150" b="1">
                          <a:solidFill>
                            <a:srgbClr val="E63946"/>
                          </a:solidFill>
                          <a:latin typeface="Microsoft JhengHei"/>
                          <a:ea typeface="Microsoft JhengHei"/>
                          <a:cs typeface="Microsoft JhengHei"/>
                        </a:rPr>
                        <a:t>駭客攻擊</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經初步評估，並綜合考量係單一市場事件，目前尚未對合併公司整體之營運及…</a:t>
                      </a:r>
                    </a:p>
                  </a:txBody>
                  <a:tcPr anchor="ctr" marL="73152" marT="9144" marB="9144">
                    <a:solidFill>
                      <a:srgbClr val="FFFFFF"/>
                    </a:solidFill>
                  </a:tcPr>
                </a:tc>
              </a:tr>
              <a:tr h="237744">
                <a:tc>
                  <a:txBody>
                    <a:bodyPr/>
                    <a:lstStyle/>
                    <a:p>
                      <a:r>
                        <a:rPr sz="1150" b="0">
                          <a:solidFill>
                            <a:srgbClr val="1A2233"/>
                          </a:solidFill>
                          <a:latin typeface="Microsoft JhengHei"/>
                          <a:ea typeface="Microsoft JhengHei"/>
                          <a:cs typeface="Microsoft JhengHei"/>
                        </a:rPr>
                        <a:t>滿心</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2916</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10/19</a:t>
                      </a:r>
                    </a:p>
                  </a:txBody>
                  <a:tcPr anchor="ctr" marL="73152" marT="9144" marB="9144">
                    <a:solidFill>
                      <a:srgbClr val="EEF2F9"/>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截至目前為止對公司財務及業務並無重大影響.</a:t>
                      </a:r>
                    </a:p>
                  </a:txBody>
                  <a:tcPr anchor="ctr" marL="73152" marT="9144" marB="9144">
                    <a:solidFill>
                      <a:srgbClr val="EEF2F9"/>
                    </a:solidFill>
                  </a:tcPr>
                </a:tc>
              </a:tr>
              <a:tr h="237744">
                <a:tc>
                  <a:txBody>
                    <a:bodyPr/>
                    <a:lstStyle/>
                    <a:p>
                      <a:r>
                        <a:rPr sz="1150" b="0">
                          <a:solidFill>
                            <a:srgbClr val="1A2233"/>
                          </a:solidFill>
                          <a:latin typeface="Microsoft JhengHei"/>
                          <a:ea typeface="Microsoft JhengHei"/>
                          <a:cs typeface="Microsoft JhengHei"/>
                        </a:rPr>
                        <a:t>91APP*-KY</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6741</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10/16</a:t>
                      </a:r>
                    </a:p>
                  </a:txBody>
                  <a:tcPr anchor="ctr" marL="73152" marT="9144" marB="9144">
                    <a:solidFill>
                      <a:srgbClr val="FFFFFF"/>
                    </a:solidFill>
                  </a:tcPr>
                </a:tc>
                <a:tc>
                  <a:txBody>
                    <a:bodyPr/>
                    <a:lstStyle/>
                    <a:p>
                      <a:r>
                        <a:rPr sz="1150" b="1">
                          <a:solidFill>
                            <a:srgbClr val="E63946"/>
                          </a:solidFill>
                          <a:latin typeface="Microsoft JhengHei"/>
                          <a:ea typeface="Microsoft JhengHei"/>
                          <a:cs typeface="Microsoft JhengHei"/>
                        </a:rPr>
                        <a:t>駭客攻擊</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目前評估對公司營運無重大影響。</a:t>
                      </a:r>
                    </a:p>
                  </a:txBody>
                  <a:tcPr anchor="ctr" marL="73152" marT="9144" marB="9144">
                    <a:solidFill>
                      <a:srgbClr val="FFFFFF"/>
                    </a:solidFill>
                  </a:tcPr>
                </a:tc>
              </a:tr>
              <a:tr h="237744">
                <a:tc>
                  <a:txBody>
                    <a:bodyPr/>
                    <a:lstStyle/>
                    <a:p>
                      <a:r>
                        <a:rPr sz="1150" b="0">
                          <a:solidFill>
                            <a:srgbClr val="1A2233"/>
                          </a:solidFill>
                          <a:latin typeface="Microsoft JhengHei"/>
                          <a:ea typeface="Microsoft JhengHei"/>
                          <a:cs typeface="Microsoft JhengHei"/>
                        </a:rPr>
                        <a:t>緯致</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4953</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10/09</a:t>
                      </a:r>
                    </a:p>
                  </a:txBody>
                  <a:tcPr anchor="ctr" marL="73152" marT="9144" marB="9144">
                    <a:solidFill>
                      <a:srgbClr val="EEF2F9"/>
                    </a:solidFill>
                  </a:tcPr>
                </a:tc>
                <a:tc>
                  <a:txBody>
                    <a:bodyPr/>
                    <a:lstStyle/>
                    <a:p>
                      <a:r>
                        <a:rPr sz="1150" b="1">
                          <a:solidFill>
                            <a:srgbClr val="5C6679"/>
                          </a:solidFill>
                          <a:latin typeface="Microsoft JhengHei"/>
                          <a:ea typeface="Microsoft JhengHei"/>
                          <a:cs typeface="Microsoft JhengHei"/>
                        </a:rPr>
                        <a:t>其他</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目前公司整體系統與營運正常運作，對公司尚無重大影響。</a:t>
                      </a:r>
                    </a:p>
                  </a:txBody>
                  <a:tcPr anchor="ctr" marL="73152" marT="9144" marB="9144">
                    <a:solidFill>
                      <a:srgbClr val="EEF2F9"/>
                    </a:solidFill>
                  </a:tcPr>
                </a:tc>
              </a:tr>
              <a:tr h="237744">
                <a:tc>
                  <a:txBody>
                    <a:bodyPr/>
                    <a:lstStyle/>
                    <a:p>
                      <a:r>
                        <a:rPr sz="1150" b="0">
                          <a:solidFill>
                            <a:srgbClr val="1A2233"/>
                          </a:solidFill>
                          <a:latin typeface="Microsoft JhengHei"/>
                          <a:ea typeface="Microsoft JhengHei"/>
                          <a:cs typeface="Microsoft JhengHei"/>
                        </a:rPr>
                        <a:t>上福</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6128</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10/07</a:t>
                      </a:r>
                    </a:p>
                  </a:txBody>
                  <a:tcPr anchor="ctr" marL="73152" marT="9144" marB="9144">
                    <a:solidFill>
                      <a:srgbClr val="FFFFFF"/>
                    </a:solidFill>
                  </a:tcPr>
                </a:tc>
                <a:tc>
                  <a:txBody>
                    <a:bodyPr/>
                    <a:lstStyle/>
                    <a:p>
                      <a:r>
                        <a:rPr sz="1150" b="1">
                          <a:solidFill>
                            <a:srgbClr val="5C6679"/>
                          </a:solidFill>
                          <a:latin typeface="Microsoft JhengHei"/>
                          <a:ea typeface="Microsoft JhengHei"/>
                          <a:cs typeface="Microsoft JhengHei"/>
                        </a:rPr>
                        <a:t>其他</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目前評估沒有個資、亦沒有機密或重要文件資料外洩等情事發生，對本公司營…</a:t>
                      </a:r>
                    </a:p>
                  </a:txBody>
                  <a:tcPr anchor="ctr" marL="73152" marT="9144" marB="9144">
                    <a:solidFill>
                      <a:srgbClr val="FFFFFF"/>
                    </a:solidFill>
                  </a:tcPr>
                </a:tc>
              </a:tr>
              <a:tr h="237744">
                <a:tc>
                  <a:txBody>
                    <a:bodyPr/>
                    <a:lstStyle/>
                    <a:p>
                      <a:r>
                        <a:rPr sz="1150" b="0">
                          <a:solidFill>
                            <a:srgbClr val="1A2233"/>
                          </a:solidFill>
                          <a:latin typeface="Microsoft JhengHei"/>
                          <a:ea typeface="Microsoft JhengHei"/>
                          <a:cs typeface="Microsoft JhengHei"/>
                        </a:rPr>
                        <a:t>杏一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4175</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10/07</a:t>
                      </a:r>
                    </a:p>
                  </a:txBody>
                  <a:tcPr anchor="ctr" marL="73152" marT="9144" marB="9144">
                    <a:solidFill>
                      <a:srgbClr val="EEF2F9"/>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截至目前為止對公司財務及業務並無重大影響。</a:t>
                      </a:r>
                    </a:p>
                  </a:txBody>
                  <a:tcPr anchor="ctr" marL="73152" marT="9144" marB="9144">
                    <a:solidFill>
                      <a:srgbClr val="EEF2F9"/>
                    </a:solidFill>
                  </a:tcPr>
                </a:tc>
              </a:tr>
              <a:tr h="237744">
                <a:tc>
                  <a:txBody>
                    <a:bodyPr/>
                    <a:lstStyle/>
                    <a:p>
                      <a:r>
                        <a:rPr sz="1150" b="0">
                          <a:solidFill>
                            <a:srgbClr val="1A2233"/>
                          </a:solidFill>
                          <a:latin typeface="Microsoft JhengHei"/>
                          <a:ea typeface="Microsoft JhengHei"/>
                          <a:cs typeface="Microsoft JhengHei"/>
                        </a:rPr>
                        <a:t>鈊象</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3293</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10/07</a:t>
                      </a:r>
                    </a:p>
                  </a:txBody>
                  <a:tcPr anchor="ctr" marL="73152" marT="9144" marB="9144">
                    <a:solidFill>
                      <a:srgbClr val="FFFFFF"/>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目前評估對公司營運無重大影響。</a:t>
                      </a:r>
                    </a:p>
                  </a:txBody>
                  <a:tcPr anchor="ctr" marL="73152" marT="9144" marB="9144">
                    <a:solidFill>
                      <a:srgbClr val="FFFFFF"/>
                    </a:solidFill>
                  </a:tcPr>
                </a:tc>
              </a:tr>
              <a:tr h="237744">
                <a:tc>
                  <a:txBody>
                    <a:bodyPr/>
                    <a:lstStyle/>
                    <a:p>
                      <a:r>
                        <a:rPr sz="1150" b="0">
                          <a:solidFill>
                            <a:srgbClr val="1A2233"/>
                          </a:solidFill>
                          <a:latin typeface="Microsoft JhengHei"/>
                          <a:ea typeface="Microsoft JhengHei"/>
                          <a:cs typeface="Microsoft JhengHei"/>
                        </a:rPr>
                        <a:t>一零四</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3130</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10/06</a:t>
                      </a:r>
                    </a:p>
                  </a:txBody>
                  <a:tcPr anchor="ctr" marL="73152" marT="9144" marB="9144">
                    <a:solidFill>
                      <a:srgbClr val="EEF2F9"/>
                    </a:solidFill>
                  </a:tcPr>
                </a:tc>
                <a:tc>
                  <a:txBody>
                    <a:bodyPr/>
                    <a:lstStyle/>
                    <a:p>
                      <a:r>
                        <a:rPr sz="1150" b="1">
                          <a:solidFill>
                            <a:srgbClr val="5C6679"/>
                          </a:solidFill>
                          <a:latin typeface="Microsoft JhengHei"/>
                          <a:ea typeface="Microsoft JhengHei"/>
                          <a:cs typeface="Microsoft JhengHei"/>
                        </a:rPr>
                        <a:t>其他</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目前系統與營運正常運作，對公司尚無重大影響。相關影響仍持續評估中。</a:t>
                      </a:r>
                    </a:p>
                  </a:txBody>
                  <a:tcPr anchor="ctr" marL="73152" marT="9144" marB="9144">
                    <a:solidFill>
                      <a:srgbClr val="EEF2F9"/>
                    </a:solidFill>
                  </a:tcPr>
                </a:tc>
              </a:tr>
              <a:tr h="237744">
                <a:tc>
                  <a:txBody>
                    <a:bodyPr/>
                    <a:lstStyle/>
                    <a:p>
                      <a:r>
                        <a:rPr sz="1150" b="0">
                          <a:solidFill>
                            <a:srgbClr val="1A2233"/>
                          </a:solidFill>
                          <a:latin typeface="Microsoft JhengHei"/>
                          <a:ea typeface="Microsoft JhengHei"/>
                          <a:cs typeface="Microsoft JhengHei"/>
                        </a:rPr>
                        <a:t>安心</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1259</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10/01</a:t>
                      </a:r>
                    </a:p>
                  </a:txBody>
                  <a:tcPr anchor="ctr" marL="73152" marT="9144" marB="9144">
                    <a:solidFill>
                      <a:srgbClr val="FFFFFF"/>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截至目前為止對公司財務及業務並無重大影響。</a:t>
                      </a:r>
                    </a:p>
                  </a:txBody>
                  <a:tcPr anchor="ctr" marL="73152" marT="9144" marB="9144">
                    <a:solidFill>
                      <a:srgbClr val="FFFFFF"/>
                    </a:solidFill>
                  </a:tcPr>
                </a:tc>
              </a:tr>
              <a:tr h="237744">
                <a:tc>
                  <a:txBody>
                    <a:bodyPr/>
                    <a:lstStyle/>
                    <a:p>
                      <a:r>
                        <a:rPr sz="1150" b="0">
                          <a:solidFill>
                            <a:srgbClr val="1A2233"/>
                          </a:solidFill>
                          <a:latin typeface="Microsoft JhengHei"/>
                          <a:ea typeface="Microsoft JhengHei"/>
                          <a:cs typeface="Microsoft JhengHei"/>
                        </a:rPr>
                        <a:t>神腦</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2450</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09/29</a:t>
                      </a:r>
                    </a:p>
                  </a:txBody>
                  <a:tcPr anchor="ctr" marL="73152" marT="9144" marB="9144">
                    <a:solidFill>
                      <a:srgbClr val="EEF2F9"/>
                    </a:solidFill>
                  </a:tcPr>
                </a:tc>
                <a:tc>
                  <a:txBody>
                    <a:bodyPr/>
                    <a:lstStyle/>
                    <a:p>
                      <a:r>
                        <a:rPr sz="1150" b="1">
                          <a:solidFill>
                            <a:srgbClr val="E63946"/>
                          </a:solidFill>
                          <a:latin typeface="Microsoft JhengHei"/>
                          <a:ea typeface="Microsoft JhengHei"/>
                          <a:cs typeface="Microsoft JhengHei"/>
                        </a:rPr>
                        <a:t>駭客攻擊</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評估對本公司營運、財務及服務提供無重大影響。</a:t>
                      </a:r>
                    </a:p>
                  </a:txBody>
                  <a:tcPr anchor="ctr" marL="73152" marT="9144" marB="9144">
                    <a:solidFill>
                      <a:srgbClr val="EEF2F9"/>
                    </a:solidFill>
                  </a:tcPr>
                </a:tc>
              </a:tr>
              <a:tr h="237744">
                <a:tc>
                  <a:txBody>
                    <a:bodyPr/>
                    <a:lstStyle/>
                    <a:p>
                      <a:r>
                        <a:rPr sz="1150" b="0">
                          <a:solidFill>
                            <a:srgbClr val="1A2233"/>
                          </a:solidFill>
                          <a:latin typeface="Microsoft JhengHei"/>
                          <a:ea typeface="Microsoft JhengHei"/>
                          <a:cs typeface="Microsoft JhengHei"/>
                        </a:rPr>
                        <a:t>鈊象</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3293</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09/29</a:t>
                      </a:r>
                    </a:p>
                  </a:txBody>
                  <a:tcPr anchor="ctr" marL="73152" marT="9144" marB="9144">
                    <a:solidFill>
                      <a:srgbClr val="FFFFFF"/>
                    </a:solidFill>
                  </a:tcPr>
                </a:tc>
                <a:tc>
                  <a:txBody>
                    <a:bodyPr/>
                    <a:lstStyle/>
                    <a:p>
                      <a:r>
                        <a:rPr sz="1150" b="1">
                          <a:solidFill>
                            <a:srgbClr val="5C6679"/>
                          </a:solidFill>
                          <a:latin typeface="Microsoft JhengHei"/>
                          <a:ea typeface="Microsoft JhengHei"/>
                          <a:cs typeface="Microsoft JhengHei"/>
                        </a:rPr>
                        <a:t>其他</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目前評估對公司營運尚無重大影響。</a:t>
                      </a:r>
                    </a:p>
                  </a:txBody>
                  <a:tcPr anchor="ctr" marL="73152" marT="9144" marB="9144">
                    <a:solidFill>
                      <a:srgbClr val="FFFFFF"/>
                    </a:solidFill>
                  </a:tcPr>
                </a:tc>
              </a:tr>
              <a:tr h="237744">
                <a:tc>
                  <a:txBody>
                    <a:bodyPr/>
                    <a:lstStyle/>
                    <a:p>
                      <a:r>
                        <a:rPr sz="1150" b="0">
                          <a:solidFill>
                            <a:srgbClr val="1A2233"/>
                          </a:solidFill>
                          <a:latin typeface="Microsoft JhengHei"/>
                          <a:ea typeface="Microsoft JhengHei"/>
                          <a:cs typeface="Microsoft JhengHei"/>
                        </a:rPr>
                        <a:t>柏文</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8462</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09/23</a:t>
                      </a:r>
                    </a:p>
                  </a:txBody>
                  <a:tcPr anchor="ctr" marL="73152" marT="9144" marB="9144">
                    <a:solidFill>
                      <a:srgbClr val="EEF2F9"/>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目前評估對公司營運無重大影響。</a:t>
                      </a:r>
                    </a:p>
                  </a:txBody>
                  <a:tcPr anchor="ctr" marL="73152" marT="9144" marB="9144">
                    <a:solidFill>
                      <a:srgbClr val="EEF2F9"/>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640080"/>
          </a:xfrm>
          <a:prstGeom prst="rect">
            <a:avLst/>
          </a:prstGeom>
          <a:noFill/>
        </p:spPr>
        <p:txBody>
          <a:bodyPr wrap="square" anchor="t" lIns="0" rIns="0" tIns="0" bIns="0">
            <a:spAutoFit/>
          </a:bodyPr>
          <a:lstStyle/>
          <a:p>
            <a:pPr algn="l"/>
            <a:r>
              <a:rPr sz="3000" b="1">
                <a:solidFill>
                  <a:srgbClr val="1A2233"/>
                </a:solidFill>
                <a:latin typeface="Microsoft JhengHei"/>
                <a:ea typeface="Microsoft JhengHei"/>
                <a:cs typeface="Microsoft JhengHei"/>
              </a:rPr>
              <a:t>事件類型分布</a:t>
            </a:r>
          </a:p>
        </p:txBody>
      </p:sp>
      <p:sp>
        <p:nvSpPr>
          <p:cNvPr id="4" name="TextBox 3"/>
          <p:cNvSpPr txBox="1"/>
          <p:nvPr/>
        </p:nvSpPr>
        <p:spPr>
          <a:xfrm>
            <a:off x="566928" y="1005840"/>
            <a:ext cx="9144000" cy="365760"/>
          </a:xfrm>
          <a:prstGeom prst="rect">
            <a:avLst/>
          </a:prstGeom>
          <a:noFill/>
        </p:spPr>
        <p:txBody>
          <a:bodyPr wrap="square" anchor="t" lIns="0" rIns="0" tIns="0" bIns="0">
            <a:spAutoFit/>
          </a:bodyPr>
          <a:lstStyle/>
          <a:p>
            <a:pPr algn="l"/>
            <a:r>
              <a:rPr sz="1300" b="0">
                <a:solidFill>
                  <a:srgbClr val="5C6679"/>
                </a:solidFill>
                <a:latin typeface="Microsoft JhengHei"/>
                <a:ea typeface="Microsoft JhengHei"/>
                <a:cs typeface="Microsoft JhengHei"/>
              </a:rPr>
              <a:t>依公告主旨與內文關鍵字分類</a:t>
            </a:r>
          </a:p>
        </p:txBody>
      </p:sp>
      <p:graphicFrame>
        <p:nvGraphicFramePr>
          <p:cNvPr id="5" name="Chart 4"/>
          <p:cNvGraphicFramePr>
            <a:graphicFrameLocks noGrp="1"/>
          </p:cNvGraphicFramePr>
          <p:nvPr/>
        </p:nvGraphicFramePr>
        <p:xfrm>
          <a:off x="457200" y="1554480"/>
          <a:ext cx="4754880" cy="4480560"/>
        </p:xfrm>
        <a:graphic>
          <a:graphicData uri="http://schemas.openxmlformats.org/drawingml/2006/chart">
            <c:chart xmlns:c="http://schemas.openxmlformats.org/drawingml/2006/chart" r:id="rId2"/>
          </a:graphicData>
        </a:graphic>
      </p:graphicFrame>
      <p:sp>
        <p:nvSpPr>
          <p:cNvPr id="6" name="Rounded Rectangle 5"/>
          <p:cNvSpPr/>
          <p:nvPr/>
        </p:nvSpPr>
        <p:spPr>
          <a:xfrm>
            <a:off x="5669280" y="1691640"/>
            <a:ext cx="6035040" cy="1170432"/>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691640"/>
            <a:ext cx="109728" cy="1170432"/>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801368"/>
            <a:ext cx="420624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駭客攻擊</a:t>
            </a:r>
          </a:p>
        </p:txBody>
      </p:sp>
      <p:sp>
        <p:nvSpPr>
          <p:cNvPr id="9" name="TextBox 8"/>
          <p:cNvSpPr txBox="1"/>
          <p:nvPr/>
        </p:nvSpPr>
        <p:spPr>
          <a:xfrm>
            <a:off x="10058400" y="1801368"/>
            <a:ext cx="1463040" cy="365760"/>
          </a:xfrm>
          <a:prstGeom prst="rect">
            <a:avLst/>
          </a:prstGeom>
          <a:noFill/>
        </p:spPr>
        <p:txBody>
          <a:bodyPr wrap="square" anchor="ctr" lIns="0" rIns="0" tIns="0" bIns="0">
            <a:spAutoFit/>
          </a:bodyPr>
          <a:lstStyle/>
          <a:p>
            <a:pPr algn="r"/>
            <a:r>
              <a:rPr sz="1800" b="1">
                <a:solidFill>
                  <a:srgbClr val="E63946"/>
                </a:solidFill>
                <a:latin typeface="Microsoft JhengHei"/>
                <a:ea typeface="Microsoft JhengHei"/>
                <a:cs typeface="Microsoft JhengHei"/>
              </a:rPr>
              <a:t>3 起</a:t>
            </a:r>
          </a:p>
        </p:txBody>
      </p:sp>
      <p:sp>
        <p:nvSpPr>
          <p:cNvPr id="10" name="TextBox 9"/>
          <p:cNvSpPr txBox="1"/>
          <p:nvPr/>
        </p:nvSpPr>
        <p:spPr>
          <a:xfrm>
            <a:off x="5897880" y="2194560"/>
            <a:ext cx="5577840" cy="274320"/>
          </a:xfrm>
          <a:prstGeom prst="rect">
            <a:avLst/>
          </a:prstGeom>
          <a:noFill/>
        </p:spPr>
        <p:txBody>
          <a:bodyPr wrap="square" anchor="t" lIns="0" rIns="0" tIns="0" bIns="0">
            <a:spAutoFit/>
          </a:bodyPr>
          <a:lstStyle/>
          <a:p>
            <a:pPr algn="l"/>
            <a:r>
              <a:rPr sz="1150" b="1">
                <a:solidFill>
                  <a:srgbClr val="1A2233"/>
                </a:solidFill>
                <a:latin typeface="Microsoft JhengHei"/>
                <a:ea typeface="Microsoft JhengHei"/>
                <a:cs typeface="Microsoft JhengHei"/>
              </a:rPr>
              <a:t>美食-KY、91APP*-KY、神腦</a:t>
            </a:r>
          </a:p>
        </p:txBody>
      </p:sp>
      <p:sp>
        <p:nvSpPr>
          <p:cNvPr id="11" name="TextBox 10"/>
          <p:cNvSpPr txBox="1"/>
          <p:nvPr/>
        </p:nvSpPr>
        <p:spPr>
          <a:xfrm>
            <a:off x="5897880" y="2459736"/>
            <a:ext cx="5669280" cy="329184"/>
          </a:xfrm>
          <a:prstGeom prst="rect">
            <a:avLst/>
          </a:prstGeom>
          <a:noFill/>
        </p:spPr>
        <p:txBody>
          <a:bodyPr wrap="square" anchor="t" lIns="0" rIns="0" tIns="0" bIns="0">
            <a:spAutoFit/>
          </a:bodyPr>
          <a:lstStyle/>
          <a:p>
            <a:pPr algn="l"/>
            <a:r>
              <a:rPr sz="1100" b="0">
                <a:solidFill>
                  <a:srgbClr val="5C6679"/>
                </a:solidFill>
                <a:latin typeface="Microsoft JhengHei"/>
                <a:ea typeface="Microsoft JhengHei"/>
                <a:cs typeface="Microsoft JhengHei"/>
              </a:rPr>
              <a:t>系統遭外部入侵或企圖登入，立即啟動防禦機制</a:t>
            </a:r>
          </a:p>
        </p:txBody>
      </p:sp>
      <p:sp>
        <p:nvSpPr>
          <p:cNvPr id="12" name="Rounded Rectangle 11"/>
          <p:cNvSpPr/>
          <p:nvPr/>
        </p:nvSpPr>
        <p:spPr>
          <a:xfrm>
            <a:off x="5669280" y="3017520"/>
            <a:ext cx="6035040" cy="1170432"/>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0" y="3017520"/>
            <a:ext cx="109728" cy="1170432"/>
          </a:xfrm>
          <a:prstGeom prst="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97880" y="3127248"/>
            <a:ext cx="420624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個資外洩</a:t>
            </a:r>
          </a:p>
        </p:txBody>
      </p:sp>
      <p:sp>
        <p:nvSpPr>
          <p:cNvPr id="15" name="TextBox 14"/>
          <p:cNvSpPr txBox="1"/>
          <p:nvPr/>
        </p:nvSpPr>
        <p:spPr>
          <a:xfrm>
            <a:off x="10058400" y="3127248"/>
            <a:ext cx="1463040" cy="365760"/>
          </a:xfrm>
          <a:prstGeom prst="rect">
            <a:avLst/>
          </a:prstGeom>
          <a:noFill/>
        </p:spPr>
        <p:txBody>
          <a:bodyPr wrap="square" anchor="ctr" lIns="0" rIns="0" tIns="0" bIns="0">
            <a:spAutoFit/>
          </a:bodyPr>
          <a:lstStyle/>
          <a:p>
            <a:pPr algn="r"/>
            <a:r>
              <a:rPr sz="1800" b="1">
                <a:solidFill>
                  <a:srgbClr val="27A6C4"/>
                </a:solidFill>
                <a:latin typeface="Microsoft JhengHei"/>
                <a:ea typeface="Microsoft JhengHei"/>
                <a:cs typeface="Microsoft JhengHei"/>
              </a:rPr>
              <a:t>7 起</a:t>
            </a:r>
          </a:p>
        </p:txBody>
      </p:sp>
      <p:sp>
        <p:nvSpPr>
          <p:cNvPr id="16" name="TextBox 15"/>
          <p:cNvSpPr txBox="1"/>
          <p:nvPr/>
        </p:nvSpPr>
        <p:spPr>
          <a:xfrm>
            <a:off x="5897880" y="3520439"/>
            <a:ext cx="5577840" cy="274320"/>
          </a:xfrm>
          <a:prstGeom prst="rect">
            <a:avLst/>
          </a:prstGeom>
          <a:noFill/>
        </p:spPr>
        <p:txBody>
          <a:bodyPr wrap="square" anchor="t" lIns="0" rIns="0" tIns="0" bIns="0">
            <a:spAutoFit/>
          </a:bodyPr>
          <a:lstStyle/>
          <a:p>
            <a:pPr algn="l"/>
            <a:r>
              <a:rPr sz="1150" b="1">
                <a:solidFill>
                  <a:srgbClr val="1A2233"/>
                </a:solidFill>
                <a:latin typeface="Microsoft JhengHei"/>
                <a:ea typeface="Microsoft JhengHei"/>
                <a:cs typeface="Microsoft JhengHei"/>
              </a:rPr>
              <a:t>科懋、立康、滿心、杏一、鈊象、安心、柏文</a:t>
            </a:r>
          </a:p>
        </p:txBody>
      </p:sp>
      <p:sp>
        <p:nvSpPr>
          <p:cNvPr id="17" name="TextBox 16"/>
          <p:cNvSpPr txBox="1"/>
          <p:nvPr/>
        </p:nvSpPr>
        <p:spPr>
          <a:xfrm>
            <a:off x="5897880" y="3785615"/>
            <a:ext cx="5669280" cy="329184"/>
          </a:xfrm>
          <a:prstGeom prst="rect">
            <a:avLst/>
          </a:prstGeom>
          <a:noFill/>
        </p:spPr>
        <p:txBody>
          <a:bodyPr wrap="square" anchor="t" lIns="0" rIns="0" tIns="0" bIns="0">
            <a:spAutoFit/>
          </a:bodyPr>
          <a:lstStyle/>
          <a:p>
            <a:pPr algn="l"/>
            <a:r>
              <a:rPr sz="1100" b="0">
                <a:solidFill>
                  <a:srgbClr val="5C6679"/>
                </a:solidFill>
                <a:latin typeface="Microsoft JhengHei"/>
                <a:ea typeface="Microsoft JhengHei"/>
                <a:cs typeface="Microsoft JhengHei"/>
              </a:rPr>
              <a:t>源自開發流程或委外廠商，須通報並通知當事人</a:t>
            </a:r>
          </a:p>
        </p:txBody>
      </p:sp>
      <p:sp>
        <p:nvSpPr>
          <p:cNvPr id="18" name="Rounded Rectangle 17"/>
          <p:cNvSpPr/>
          <p:nvPr/>
        </p:nvSpPr>
        <p:spPr>
          <a:xfrm>
            <a:off x="5669280" y="4343400"/>
            <a:ext cx="6035040" cy="1170432"/>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0" y="4343400"/>
            <a:ext cx="109728" cy="1170432"/>
          </a:xfrm>
          <a:prstGeom prst="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97880" y="4453128"/>
            <a:ext cx="420624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其他</a:t>
            </a:r>
          </a:p>
        </p:txBody>
      </p:sp>
      <p:sp>
        <p:nvSpPr>
          <p:cNvPr id="21" name="TextBox 20"/>
          <p:cNvSpPr txBox="1"/>
          <p:nvPr/>
        </p:nvSpPr>
        <p:spPr>
          <a:xfrm>
            <a:off x="10058400" y="4453128"/>
            <a:ext cx="1463040" cy="365760"/>
          </a:xfrm>
          <a:prstGeom prst="rect">
            <a:avLst/>
          </a:prstGeom>
          <a:noFill/>
        </p:spPr>
        <p:txBody>
          <a:bodyPr wrap="square" anchor="ctr" lIns="0" rIns="0" tIns="0" bIns="0">
            <a:spAutoFit/>
          </a:bodyPr>
          <a:lstStyle/>
          <a:p>
            <a:pPr algn="r"/>
            <a:r>
              <a:rPr sz="1800" b="1">
                <a:solidFill>
                  <a:srgbClr val="5C6679"/>
                </a:solidFill>
                <a:latin typeface="Microsoft JhengHei"/>
                <a:ea typeface="Microsoft JhengHei"/>
                <a:cs typeface="Microsoft JhengHei"/>
              </a:rPr>
              <a:t>4 起</a:t>
            </a:r>
          </a:p>
        </p:txBody>
      </p:sp>
      <p:sp>
        <p:nvSpPr>
          <p:cNvPr id="22" name="TextBox 21"/>
          <p:cNvSpPr txBox="1"/>
          <p:nvPr/>
        </p:nvSpPr>
        <p:spPr>
          <a:xfrm>
            <a:off x="5897880" y="4846320"/>
            <a:ext cx="5577840" cy="274320"/>
          </a:xfrm>
          <a:prstGeom prst="rect">
            <a:avLst/>
          </a:prstGeom>
          <a:noFill/>
        </p:spPr>
        <p:txBody>
          <a:bodyPr wrap="square" anchor="t" lIns="0" rIns="0" tIns="0" bIns="0">
            <a:spAutoFit/>
          </a:bodyPr>
          <a:lstStyle/>
          <a:p>
            <a:pPr algn="l"/>
            <a:r>
              <a:rPr sz="1150" b="1">
                <a:solidFill>
                  <a:srgbClr val="1A2233"/>
                </a:solidFill>
                <a:latin typeface="Microsoft JhengHei"/>
                <a:ea typeface="Microsoft JhengHei"/>
                <a:cs typeface="Microsoft JhengHei"/>
              </a:rPr>
              <a:t>緯致、上福、一零四、鈊象</a:t>
            </a:r>
          </a:p>
        </p:txBody>
      </p:sp>
      <p:sp>
        <p:nvSpPr>
          <p:cNvPr id="23" name="TextBox 22"/>
          <p:cNvSpPr txBox="1"/>
          <p:nvPr/>
        </p:nvSpPr>
        <p:spPr>
          <a:xfrm>
            <a:off x="5897880" y="5111496"/>
            <a:ext cx="5669280" cy="329184"/>
          </a:xfrm>
          <a:prstGeom prst="rect">
            <a:avLst/>
          </a:prstGeom>
          <a:noFill/>
        </p:spPr>
        <p:txBody>
          <a:bodyPr wrap="square" anchor="t" lIns="0" rIns="0" tIns="0" bIns="0">
            <a:spAutoFit/>
          </a:bodyPr>
          <a:lstStyle/>
          <a:p>
            <a:pPr algn="l"/>
            <a:r>
              <a:rPr sz="1100" b="0">
                <a:solidFill>
                  <a:srgbClr val="5C6679"/>
                </a:solidFill>
                <a:latin typeface="Microsoft JhengHei"/>
                <a:ea typeface="Microsoft JhengHei"/>
                <a:cs typeface="Microsoft JhengHei"/>
              </a:rPr>
              <a:t>其他資安相關事件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640080"/>
          </a:xfrm>
          <a:prstGeom prst="rect">
            <a:avLst/>
          </a:prstGeom>
          <a:noFill/>
        </p:spPr>
        <p:txBody>
          <a:bodyPr wrap="square" anchor="t" lIns="0" rIns="0" tIns="0" bIns="0">
            <a:spAutoFit/>
          </a:bodyPr>
          <a:lstStyle/>
          <a:p>
            <a:pPr algn="l"/>
            <a:r>
              <a:rPr sz="3000" b="1">
                <a:solidFill>
                  <a:srgbClr val="1A2233"/>
                </a:solidFill>
                <a:latin typeface="Microsoft JhengHei"/>
                <a:ea typeface="Microsoft JhengHei"/>
                <a:cs typeface="Microsoft JhengHei"/>
              </a:rPr>
              <a:t>簽證會計師一覽</a:t>
            </a:r>
          </a:p>
        </p:txBody>
      </p:sp>
      <p:sp>
        <p:nvSpPr>
          <p:cNvPr id="4" name="TextBox 3"/>
          <p:cNvSpPr txBox="1"/>
          <p:nvPr/>
        </p:nvSpPr>
        <p:spPr>
          <a:xfrm>
            <a:off x="566928" y="1005840"/>
            <a:ext cx="10058400" cy="365760"/>
          </a:xfrm>
          <a:prstGeom prst="rect">
            <a:avLst/>
          </a:prstGeom>
          <a:noFill/>
        </p:spPr>
        <p:txBody>
          <a:bodyPr wrap="square" anchor="t" lIns="0" rIns="0" tIns="0" bIns="0">
            <a:spAutoFit/>
          </a:bodyPr>
          <a:lstStyle/>
          <a:p>
            <a:pPr algn="l"/>
            <a:r>
              <a:rPr sz="1300" b="0">
                <a:solidFill>
                  <a:srgbClr val="5C6679"/>
                </a:solidFill>
                <a:latin typeface="Microsoft JhengHei"/>
                <a:ea typeface="Microsoft JhengHei"/>
                <a:cs typeface="Microsoft JhengHei"/>
              </a:rPr>
              <a:t>各公司目前之簽證會計師事務所與簽證會計師</a:t>
            </a:r>
          </a:p>
        </p:txBody>
      </p:sp>
      <p:graphicFrame>
        <p:nvGraphicFramePr>
          <p:cNvPr id="5" name="Table 4"/>
          <p:cNvGraphicFramePr>
            <a:graphicFrameLocks noGrp="1"/>
          </p:cNvGraphicFramePr>
          <p:nvPr/>
        </p:nvGraphicFramePr>
        <p:xfrm>
          <a:off x="548640" y="1600200"/>
          <a:ext cx="10789920" cy="4480560"/>
        </p:xfrm>
        <a:graphic>
          <a:graphicData uri="http://schemas.openxmlformats.org/drawingml/2006/table">
            <a:tbl>
              <a:tblPr>
                <a:tableStyleId>{5C22544A-7EE6-4342-B048-85BDC9FD1C3A}</a:tableStyleId>
              </a:tblPr>
              <a:tblGrid>
                <a:gridCol w="1828800"/>
                <a:gridCol w="868680"/>
                <a:gridCol w="2103120"/>
                <a:gridCol w="3383280"/>
                <a:gridCol w="2606040"/>
              </a:tblGrid>
              <a:tr h="298704">
                <a:tc>
                  <a:txBody>
                    <a:bodyPr/>
                    <a:lstStyle/>
                    <a:p>
                      <a:r>
                        <a:rPr sz="1250" b="1">
                          <a:solidFill>
                            <a:srgbClr val="FFFFFF"/>
                          </a:solidFill>
                          <a:latin typeface="Microsoft JhengHei"/>
                          <a:ea typeface="Microsoft JhengHei"/>
                          <a:cs typeface="Microsoft JhengHei"/>
                        </a:rPr>
                        <a:t>公司</a:t>
                      </a:r>
                    </a:p>
                  </a:txBody>
                  <a:tcPr anchor="ctr" marL="73152" marT="18288" marB="18288">
                    <a:solidFill>
                      <a:srgbClr val="14213D"/>
                    </a:solidFill>
                  </a:tcPr>
                </a:tc>
                <a:tc>
                  <a:txBody>
                    <a:bodyPr/>
                    <a:lstStyle/>
                    <a:p>
                      <a:r>
                        <a:rPr sz="1250" b="1">
                          <a:solidFill>
                            <a:srgbClr val="FFFFFF"/>
                          </a:solidFill>
                          <a:latin typeface="Microsoft JhengHei"/>
                          <a:ea typeface="Microsoft JhengHei"/>
                          <a:cs typeface="Microsoft JhengHei"/>
                        </a:rPr>
                        <a:t>代號</a:t>
                      </a:r>
                    </a:p>
                  </a:txBody>
                  <a:tcPr anchor="ctr" marL="73152" marT="18288" marB="18288">
                    <a:solidFill>
                      <a:srgbClr val="14213D"/>
                    </a:solidFill>
                  </a:tcPr>
                </a:tc>
                <a:tc>
                  <a:txBody>
                    <a:bodyPr/>
                    <a:lstStyle/>
                    <a:p>
                      <a:r>
                        <a:rPr sz="1250" b="1">
                          <a:solidFill>
                            <a:srgbClr val="FFFFFF"/>
                          </a:solidFill>
                          <a:latin typeface="Microsoft JhengHei"/>
                          <a:ea typeface="Microsoft JhengHei"/>
                          <a:cs typeface="Microsoft JhengHei"/>
                        </a:rPr>
                        <a:t>事件類型</a:t>
                      </a:r>
                    </a:p>
                  </a:txBody>
                  <a:tcPr anchor="ctr" marL="73152" marT="18288" marB="18288">
                    <a:solidFill>
                      <a:srgbClr val="14213D"/>
                    </a:solidFill>
                  </a:tcPr>
                </a:tc>
                <a:tc>
                  <a:txBody>
                    <a:bodyPr/>
                    <a:lstStyle/>
                    <a:p>
                      <a:r>
                        <a:rPr sz="1250" b="1">
                          <a:solidFill>
                            <a:srgbClr val="FFFFFF"/>
                          </a:solidFill>
                          <a:latin typeface="Microsoft JhengHei"/>
                          <a:ea typeface="Microsoft JhengHei"/>
                          <a:cs typeface="Microsoft JhengHei"/>
                        </a:rPr>
                        <a:t>簽證會計師事務所</a:t>
                      </a:r>
                    </a:p>
                  </a:txBody>
                  <a:tcPr anchor="ctr" marL="73152" marT="18288" marB="18288">
                    <a:solidFill>
                      <a:srgbClr val="14213D"/>
                    </a:solidFill>
                  </a:tcPr>
                </a:tc>
                <a:tc>
                  <a:txBody>
                    <a:bodyPr/>
                    <a:lstStyle/>
                    <a:p>
                      <a:r>
                        <a:rPr sz="1250" b="1">
                          <a:solidFill>
                            <a:srgbClr val="FFFFFF"/>
                          </a:solidFill>
                          <a:latin typeface="Microsoft JhengHei"/>
                          <a:ea typeface="Microsoft JhengHei"/>
                          <a:cs typeface="Microsoft JhengHei"/>
                        </a:rPr>
                        <a:t>簽證會計師</a:t>
                      </a:r>
                    </a:p>
                  </a:txBody>
                  <a:tcPr anchor="ctr" marL="73152" marT="18288" marB="18288">
                    <a:solidFill>
                      <a:srgbClr val="14213D"/>
                    </a:solidFill>
                  </a:tcPr>
                </a:tc>
              </a:tr>
              <a:tr h="298704">
                <a:tc>
                  <a:txBody>
                    <a:bodyPr/>
                    <a:lstStyle/>
                    <a:p>
                      <a:r>
                        <a:rPr sz="1150" b="0">
                          <a:solidFill>
                            <a:srgbClr val="1A2233"/>
                          </a:solidFill>
                          <a:latin typeface="Microsoft JhengHei"/>
                          <a:ea typeface="Microsoft JhengHei"/>
                          <a:cs typeface="Microsoft JhengHei"/>
                        </a:rPr>
                        <a:t>科懋</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6496</a:t>
                      </a:r>
                    </a:p>
                  </a:txBody>
                  <a:tcPr anchor="ctr" marL="73152" marT="9144" marB="9144">
                    <a:solidFill>
                      <a:srgbClr val="FFFFFF"/>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安侯建業聯合會計師事務所</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黃柏淑、黃采絹</a:t>
                      </a:r>
                    </a:p>
                  </a:txBody>
                  <a:tcPr anchor="ctr" marL="73152" marT="9144" marB="9144">
                    <a:solidFill>
                      <a:srgbClr val="FFFFFF"/>
                    </a:solidFill>
                  </a:tcPr>
                </a:tc>
              </a:tr>
              <a:tr h="298704">
                <a:tc>
                  <a:txBody>
                    <a:bodyPr/>
                    <a:lstStyle/>
                    <a:p>
                      <a:r>
                        <a:rPr sz="1150" b="0">
                          <a:solidFill>
                            <a:srgbClr val="1A2233"/>
                          </a:solidFill>
                          <a:latin typeface="Microsoft JhengHei"/>
                          <a:ea typeface="Microsoft JhengHei"/>
                          <a:cs typeface="Microsoft JhengHei"/>
                        </a:rPr>
                        <a:t>立康</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6242</a:t>
                      </a:r>
                    </a:p>
                  </a:txBody>
                  <a:tcPr anchor="ctr" marL="73152" marT="9144" marB="9144">
                    <a:solidFill>
                      <a:srgbClr val="EEF2F9"/>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勤業眾信聯合會計師事務所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李季珍、廖鴻儒</a:t>
                      </a:r>
                    </a:p>
                  </a:txBody>
                  <a:tcPr anchor="ctr" marL="73152" marT="9144" marB="9144">
                    <a:solidFill>
                      <a:srgbClr val="EEF2F9"/>
                    </a:solidFill>
                  </a:tcPr>
                </a:tc>
              </a:tr>
              <a:tr h="298704">
                <a:tc>
                  <a:txBody>
                    <a:bodyPr/>
                    <a:lstStyle/>
                    <a:p>
                      <a:r>
                        <a:rPr sz="1150" b="0">
                          <a:solidFill>
                            <a:srgbClr val="1A2233"/>
                          </a:solidFill>
                          <a:latin typeface="Microsoft JhengHei"/>
                          <a:ea typeface="Microsoft JhengHei"/>
                          <a:cs typeface="Microsoft JhengHei"/>
                        </a:rPr>
                        <a:t>美食-KY</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2723</a:t>
                      </a:r>
                    </a:p>
                  </a:txBody>
                  <a:tcPr anchor="ctr" marL="73152" marT="9144" marB="9144">
                    <a:solidFill>
                      <a:srgbClr val="FFFFFF"/>
                    </a:solidFill>
                  </a:tcPr>
                </a:tc>
                <a:tc>
                  <a:txBody>
                    <a:bodyPr/>
                    <a:lstStyle/>
                    <a:p>
                      <a:r>
                        <a:rPr sz="1150" b="1">
                          <a:solidFill>
                            <a:srgbClr val="E63946"/>
                          </a:solidFill>
                          <a:latin typeface="Microsoft JhengHei"/>
                          <a:ea typeface="Microsoft JhengHei"/>
                          <a:cs typeface="Microsoft JhengHei"/>
                        </a:rPr>
                        <a:t>駭客攻擊</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勤業眾信聯合會計師事務所</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彭以驊、謝明忠</a:t>
                      </a:r>
                    </a:p>
                  </a:txBody>
                  <a:tcPr anchor="ctr" marL="73152" marT="9144" marB="9144">
                    <a:solidFill>
                      <a:srgbClr val="FFFFFF"/>
                    </a:solidFill>
                  </a:tcPr>
                </a:tc>
              </a:tr>
              <a:tr h="298704">
                <a:tc>
                  <a:txBody>
                    <a:bodyPr/>
                    <a:lstStyle/>
                    <a:p>
                      <a:r>
                        <a:rPr sz="1150" b="0">
                          <a:solidFill>
                            <a:srgbClr val="1A2233"/>
                          </a:solidFill>
                          <a:latin typeface="Microsoft JhengHei"/>
                          <a:ea typeface="Microsoft JhengHei"/>
                          <a:cs typeface="Microsoft JhengHei"/>
                        </a:rPr>
                        <a:t>滿心</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2916</a:t>
                      </a:r>
                    </a:p>
                  </a:txBody>
                  <a:tcPr anchor="ctr" marL="73152" marT="9144" marB="9144">
                    <a:solidFill>
                      <a:srgbClr val="EEF2F9"/>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安侯建業聯合會計師事務所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陳宜君、許淑敏</a:t>
                      </a:r>
                    </a:p>
                  </a:txBody>
                  <a:tcPr anchor="ctr" marL="73152" marT="9144" marB="9144">
                    <a:solidFill>
                      <a:srgbClr val="EEF2F9"/>
                    </a:solidFill>
                  </a:tcPr>
                </a:tc>
              </a:tr>
              <a:tr h="298704">
                <a:tc>
                  <a:txBody>
                    <a:bodyPr/>
                    <a:lstStyle/>
                    <a:p>
                      <a:r>
                        <a:rPr sz="1150" b="0">
                          <a:solidFill>
                            <a:srgbClr val="1A2233"/>
                          </a:solidFill>
                          <a:latin typeface="Microsoft JhengHei"/>
                          <a:ea typeface="Microsoft JhengHei"/>
                          <a:cs typeface="Microsoft JhengHei"/>
                        </a:rPr>
                        <a:t>91APP*-KY</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6741</a:t>
                      </a:r>
                    </a:p>
                  </a:txBody>
                  <a:tcPr anchor="ctr" marL="73152" marT="9144" marB="9144">
                    <a:solidFill>
                      <a:srgbClr val="FFFFFF"/>
                    </a:solidFill>
                  </a:tcPr>
                </a:tc>
                <a:tc>
                  <a:txBody>
                    <a:bodyPr/>
                    <a:lstStyle/>
                    <a:p>
                      <a:r>
                        <a:rPr sz="1150" b="1">
                          <a:solidFill>
                            <a:srgbClr val="E63946"/>
                          </a:solidFill>
                          <a:latin typeface="Microsoft JhengHei"/>
                          <a:ea typeface="Microsoft JhengHei"/>
                          <a:cs typeface="Microsoft JhengHei"/>
                        </a:rPr>
                        <a:t>駭客攻擊</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勤業眾信聯合會計師事務所</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曾建銘、王攀發</a:t>
                      </a:r>
                    </a:p>
                  </a:txBody>
                  <a:tcPr anchor="ctr" marL="73152" marT="9144" marB="9144">
                    <a:solidFill>
                      <a:srgbClr val="FFFFFF"/>
                    </a:solidFill>
                  </a:tcPr>
                </a:tc>
              </a:tr>
              <a:tr h="298704">
                <a:tc>
                  <a:txBody>
                    <a:bodyPr/>
                    <a:lstStyle/>
                    <a:p>
                      <a:r>
                        <a:rPr sz="1150" b="0">
                          <a:solidFill>
                            <a:srgbClr val="1A2233"/>
                          </a:solidFill>
                          <a:latin typeface="Microsoft JhengHei"/>
                          <a:ea typeface="Microsoft JhengHei"/>
                          <a:cs typeface="Microsoft JhengHei"/>
                        </a:rPr>
                        <a:t>緯致</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4953</a:t>
                      </a:r>
                    </a:p>
                  </a:txBody>
                  <a:tcPr anchor="ctr" marL="73152" marT="9144" marB="9144">
                    <a:solidFill>
                      <a:srgbClr val="EEF2F9"/>
                    </a:solidFill>
                  </a:tcPr>
                </a:tc>
                <a:tc>
                  <a:txBody>
                    <a:bodyPr/>
                    <a:lstStyle/>
                    <a:p>
                      <a:r>
                        <a:rPr sz="1150" b="1">
                          <a:solidFill>
                            <a:srgbClr val="5C6679"/>
                          </a:solidFill>
                          <a:latin typeface="Microsoft JhengHei"/>
                          <a:ea typeface="Microsoft JhengHei"/>
                          <a:cs typeface="Microsoft JhengHei"/>
                        </a:rPr>
                        <a:t>其他</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安侯建業聯合會計師事務所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唐嘉鍵、楊雲筑</a:t>
                      </a:r>
                    </a:p>
                  </a:txBody>
                  <a:tcPr anchor="ctr" marL="73152" marT="9144" marB="9144">
                    <a:solidFill>
                      <a:srgbClr val="EEF2F9"/>
                    </a:solidFill>
                  </a:tcPr>
                </a:tc>
              </a:tr>
              <a:tr h="298704">
                <a:tc>
                  <a:txBody>
                    <a:bodyPr/>
                    <a:lstStyle/>
                    <a:p>
                      <a:r>
                        <a:rPr sz="1150" b="0">
                          <a:solidFill>
                            <a:srgbClr val="1A2233"/>
                          </a:solidFill>
                          <a:latin typeface="Microsoft JhengHei"/>
                          <a:ea typeface="Microsoft JhengHei"/>
                          <a:cs typeface="Microsoft JhengHei"/>
                        </a:rPr>
                        <a:t>上福</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6128</a:t>
                      </a:r>
                    </a:p>
                  </a:txBody>
                  <a:tcPr anchor="ctr" marL="73152" marT="9144" marB="9144">
                    <a:solidFill>
                      <a:srgbClr val="FFFFFF"/>
                    </a:solidFill>
                  </a:tcPr>
                </a:tc>
                <a:tc>
                  <a:txBody>
                    <a:bodyPr/>
                    <a:lstStyle/>
                    <a:p>
                      <a:r>
                        <a:rPr sz="1150" b="1">
                          <a:solidFill>
                            <a:srgbClr val="5C6679"/>
                          </a:solidFill>
                          <a:latin typeface="Microsoft JhengHei"/>
                          <a:ea typeface="Microsoft JhengHei"/>
                          <a:cs typeface="Microsoft JhengHei"/>
                        </a:rPr>
                        <a:t>其他</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安永聯合會計師事務所</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黃宇廷、賴書晨</a:t>
                      </a:r>
                    </a:p>
                  </a:txBody>
                  <a:tcPr anchor="ctr" marL="73152" marT="9144" marB="9144">
                    <a:solidFill>
                      <a:srgbClr val="FFFFFF"/>
                    </a:solidFill>
                  </a:tcPr>
                </a:tc>
              </a:tr>
              <a:tr h="298704">
                <a:tc>
                  <a:txBody>
                    <a:bodyPr/>
                    <a:lstStyle/>
                    <a:p>
                      <a:r>
                        <a:rPr sz="1150" b="0">
                          <a:solidFill>
                            <a:srgbClr val="1A2233"/>
                          </a:solidFill>
                          <a:latin typeface="Microsoft JhengHei"/>
                          <a:ea typeface="Microsoft JhengHei"/>
                          <a:cs typeface="Microsoft JhengHei"/>
                        </a:rPr>
                        <a:t>杏一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4175</a:t>
                      </a:r>
                    </a:p>
                  </a:txBody>
                  <a:tcPr anchor="ctr" marL="73152" marT="9144" marB="9144">
                    <a:solidFill>
                      <a:srgbClr val="EEF2F9"/>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勤業眾信聯合會計師事務所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池瑞全、蔡宗遠</a:t>
                      </a:r>
                    </a:p>
                  </a:txBody>
                  <a:tcPr anchor="ctr" marL="73152" marT="9144" marB="9144">
                    <a:solidFill>
                      <a:srgbClr val="EEF2F9"/>
                    </a:solidFill>
                  </a:tcPr>
                </a:tc>
              </a:tr>
              <a:tr h="298704">
                <a:tc>
                  <a:txBody>
                    <a:bodyPr/>
                    <a:lstStyle/>
                    <a:p>
                      <a:r>
                        <a:rPr sz="1150" b="0">
                          <a:solidFill>
                            <a:srgbClr val="1A2233"/>
                          </a:solidFill>
                          <a:latin typeface="Microsoft JhengHei"/>
                          <a:ea typeface="Microsoft JhengHei"/>
                          <a:cs typeface="Microsoft JhengHei"/>
                        </a:rPr>
                        <a:t>鈊象</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3293</a:t>
                      </a:r>
                    </a:p>
                  </a:txBody>
                  <a:tcPr anchor="ctr" marL="73152" marT="9144" marB="9144">
                    <a:solidFill>
                      <a:srgbClr val="FFFFFF"/>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勤業眾信聯合會計師事務所</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周仕杰、李東峰</a:t>
                      </a:r>
                    </a:p>
                  </a:txBody>
                  <a:tcPr anchor="ctr" marL="73152" marT="9144" marB="9144">
                    <a:solidFill>
                      <a:srgbClr val="FFFFFF"/>
                    </a:solidFill>
                  </a:tcPr>
                </a:tc>
              </a:tr>
              <a:tr h="298704">
                <a:tc>
                  <a:txBody>
                    <a:bodyPr/>
                    <a:lstStyle/>
                    <a:p>
                      <a:r>
                        <a:rPr sz="1150" b="0">
                          <a:solidFill>
                            <a:srgbClr val="1A2233"/>
                          </a:solidFill>
                          <a:latin typeface="Microsoft JhengHei"/>
                          <a:ea typeface="Microsoft JhengHei"/>
                          <a:cs typeface="Microsoft JhengHei"/>
                        </a:rPr>
                        <a:t>一零四</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3130</a:t>
                      </a:r>
                    </a:p>
                  </a:txBody>
                  <a:tcPr anchor="ctr" marL="73152" marT="9144" marB="9144">
                    <a:solidFill>
                      <a:srgbClr val="EEF2F9"/>
                    </a:solidFill>
                  </a:tcPr>
                </a:tc>
                <a:tc>
                  <a:txBody>
                    <a:bodyPr/>
                    <a:lstStyle/>
                    <a:p>
                      <a:r>
                        <a:rPr sz="1150" b="1">
                          <a:solidFill>
                            <a:srgbClr val="5C6679"/>
                          </a:solidFill>
                          <a:latin typeface="Microsoft JhengHei"/>
                          <a:ea typeface="Microsoft JhengHei"/>
                          <a:cs typeface="Microsoft JhengHei"/>
                        </a:rPr>
                        <a:t>其他</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安侯建業聯合會計師事務所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趙敏如、江家齊</a:t>
                      </a:r>
                    </a:p>
                  </a:txBody>
                  <a:tcPr anchor="ctr" marL="73152" marT="9144" marB="9144">
                    <a:solidFill>
                      <a:srgbClr val="EEF2F9"/>
                    </a:solidFill>
                  </a:tcPr>
                </a:tc>
              </a:tr>
              <a:tr h="298704">
                <a:tc>
                  <a:txBody>
                    <a:bodyPr/>
                    <a:lstStyle/>
                    <a:p>
                      <a:r>
                        <a:rPr sz="1150" b="0">
                          <a:solidFill>
                            <a:srgbClr val="1A2233"/>
                          </a:solidFill>
                          <a:latin typeface="Microsoft JhengHei"/>
                          <a:ea typeface="Microsoft JhengHei"/>
                          <a:cs typeface="Microsoft JhengHei"/>
                        </a:rPr>
                        <a:t>安心</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1259</a:t>
                      </a:r>
                    </a:p>
                  </a:txBody>
                  <a:tcPr anchor="ctr" marL="73152" marT="9144" marB="9144">
                    <a:solidFill>
                      <a:srgbClr val="FFFFFF"/>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資誠聯合會計師事務所</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徐明釧、陳怡婷</a:t>
                      </a:r>
                    </a:p>
                  </a:txBody>
                  <a:tcPr anchor="ctr" marL="73152" marT="9144" marB="9144">
                    <a:solidFill>
                      <a:srgbClr val="FFFFFF"/>
                    </a:solidFill>
                  </a:tcPr>
                </a:tc>
              </a:tr>
              <a:tr h="298704">
                <a:tc>
                  <a:txBody>
                    <a:bodyPr/>
                    <a:lstStyle/>
                    <a:p>
                      <a:r>
                        <a:rPr sz="1150" b="0">
                          <a:solidFill>
                            <a:srgbClr val="1A2233"/>
                          </a:solidFill>
                          <a:latin typeface="Microsoft JhengHei"/>
                          <a:ea typeface="Microsoft JhengHei"/>
                          <a:cs typeface="Microsoft JhengHei"/>
                        </a:rPr>
                        <a:t>神腦</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2450</a:t>
                      </a:r>
                    </a:p>
                  </a:txBody>
                  <a:tcPr anchor="ctr" marL="73152" marT="9144" marB="9144">
                    <a:solidFill>
                      <a:srgbClr val="EEF2F9"/>
                    </a:solidFill>
                  </a:tcPr>
                </a:tc>
                <a:tc>
                  <a:txBody>
                    <a:bodyPr/>
                    <a:lstStyle/>
                    <a:p>
                      <a:r>
                        <a:rPr sz="1150" b="1">
                          <a:solidFill>
                            <a:srgbClr val="E63946"/>
                          </a:solidFill>
                          <a:latin typeface="Microsoft JhengHei"/>
                          <a:ea typeface="Microsoft JhengHei"/>
                          <a:cs typeface="Microsoft JhengHei"/>
                        </a:rPr>
                        <a:t>駭客攻擊</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資誠聯合會計師事務所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王銘義、林永智</a:t>
                      </a:r>
                    </a:p>
                  </a:txBody>
                  <a:tcPr anchor="ctr" marL="73152" marT="9144" marB="9144">
                    <a:solidFill>
                      <a:srgbClr val="EEF2F9"/>
                    </a:solidFill>
                  </a:tcPr>
                </a:tc>
              </a:tr>
              <a:tr h="298704">
                <a:tc>
                  <a:txBody>
                    <a:bodyPr/>
                    <a:lstStyle/>
                    <a:p>
                      <a:r>
                        <a:rPr sz="1150" b="0">
                          <a:solidFill>
                            <a:srgbClr val="1A2233"/>
                          </a:solidFill>
                          <a:latin typeface="Microsoft JhengHei"/>
                          <a:ea typeface="Microsoft JhengHei"/>
                          <a:cs typeface="Microsoft JhengHei"/>
                        </a:rPr>
                        <a:t>鈊象</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3293</a:t>
                      </a:r>
                    </a:p>
                  </a:txBody>
                  <a:tcPr anchor="ctr" marL="73152" marT="9144" marB="9144">
                    <a:solidFill>
                      <a:srgbClr val="FFFFFF"/>
                    </a:solidFill>
                  </a:tcPr>
                </a:tc>
                <a:tc>
                  <a:txBody>
                    <a:bodyPr/>
                    <a:lstStyle/>
                    <a:p>
                      <a:r>
                        <a:rPr sz="1150" b="1">
                          <a:solidFill>
                            <a:srgbClr val="5C6679"/>
                          </a:solidFill>
                          <a:latin typeface="Microsoft JhengHei"/>
                          <a:ea typeface="Microsoft JhengHei"/>
                          <a:cs typeface="Microsoft JhengHei"/>
                        </a:rPr>
                        <a:t>其他</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勤業眾信聯合會計師事務所</a:t>
                      </a:r>
                    </a:p>
                  </a:txBody>
                  <a:tcPr anchor="ctr" marL="73152" marT="9144" marB="9144">
                    <a:solidFill>
                      <a:srgbClr val="FFFFFF"/>
                    </a:solidFill>
                  </a:tcPr>
                </a:tc>
                <a:tc>
                  <a:txBody>
                    <a:bodyPr/>
                    <a:lstStyle/>
                    <a:p>
                      <a:r>
                        <a:rPr sz="1150" b="0">
                          <a:solidFill>
                            <a:srgbClr val="1A2233"/>
                          </a:solidFill>
                          <a:latin typeface="Microsoft JhengHei"/>
                          <a:ea typeface="Microsoft JhengHei"/>
                          <a:cs typeface="Microsoft JhengHei"/>
                        </a:rPr>
                        <a:t>周仕杰、李東峰</a:t>
                      </a:r>
                    </a:p>
                  </a:txBody>
                  <a:tcPr anchor="ctr" marL="73152" marT="9144" marB="9144">
                    <a:solidFill>
                      <a:srgbClr val="FFFFFF"/>
                    </a:solidFill>
                  </a:tcPr>
                </a:tc>
              </a:tr>
              <a:tr h="298704">
                <a:tc>
                  <a:txBody>
                    <a:bodyPr/>
                    <a:lstStyle/>
                    <a:p>
                      <a:r>
                        <a:rPr sz="1150" b="0">
                          <a:solidFill>
                            <a:srgbClr val="1A2233"/>
                          </a:solidFill>
                          <a:latin typeface="Microsoft JhengHei"/>
                          <a:ea typeface="Microsoft JhengHei"/>
                          <a:cs typeface="Microsoft JhengHei"/>
                        </a:rPr>
                        <a:t>柏文</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8462</a:t>
                      </a:r>
                    </a:p>
                  </a:txBody>
                  <a:tcPr anchor="ctr" marL="73152" marT="9144" marB="9144">
                    <a:solidFill>
                      <a:srgbClr val="EEF2F9"/>
                    </a:solidFill>
                  </a:tcPr>
                </a:tc>
                <a:tc>
                  <a:txBody>
                    <a:bodyPr/>
                    <a:lstStyle/>
                    <a:p>
                      <a:r>
                        <a:rPr sz="1150" b="1">
                          <a:solidFill>
                            <a:srgbClr val="27A6C4"/>
                          </a:solidFill>
                          <a:latin typeface="Microsoft JhengHei"/>
                          <a:ea typeface="Microsoft JhengHei"/>
                          <a:cs typeface="Microsoft JhengHei"/>
                        </a:rPr>
                        <a:t>個資外洩</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安永聯合會計師事務所</a:t>
                      </a:r>
                    </a:p>
                  </a:txBody>
                  <a:tcPr anchor="ctr" marL="73152" marT="9144" marB="9144">
                    <a:solidFill>
                      <a:srgbClr val="EEF2F9"/>
                    </a:solidFill>
                  </a:tcPr>
                </a:tc>
                <a:tc>
                  <a:txBody>
                    <a:bodyPr/>
                    <a:lstStyle/>
                    <a:p>
                      <a:r>
                        <a:rPr sz="1150" b="0">
                          <a:solidFill>
                            <a:srgbClr val="1A2233"/>
                          </a:solidFill>
                          <a:latin typeface="Microsoft JhengHei"/>
                          <a:ea typeface="Microsoft JhengHei"/>
                          <a:cs typeface="Microsoft JhengHei"/>
                        </a:rPr>
                        <a:t>洪福讚、陳政初</a:t>
                      </a:r>
                    </a:p>
                  </a:txBody>
                  <a:tcPr anchor="ctr" marL="73152" marT="9144" marB="9144">
                    <a:solidFill>
                      <a:srgbClr val="EEF2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229600" cy="640080"/>
          </a:xfrm>
          <a:prstGeom prst="rect">
            <a:avLst/>
          </a:prstGeom>
          <a:noFill/>
        </p:spPr>
        <p:txBody>
          <a:bodyPr wrap="square" anchor="t" lIns="0" rIns="0" tIns="0" bIns="0">
            <a:spAutoFit/>
          </a:bodyPr>
          <a:lstStyle/>
          <a:p>
            <a:pPr algn="l"/>
            <a:r>
              <a:rPr sz="3000" b="1">
                <a:solidFill>
                  <a:srgbClr val="1A2233"/>
                </a:solidFill>
                <a:latin typeface="Microsoft JhengHei"/>
                <a:ea typeface="Microsoft JhengHei"/>
                <a:cs typeface="Microsoft JhengHei"/>
              </a:rPr>
              <a:t>共通因應流程</a:t>
            </a:r>
          </a:p>
        </p:txBody>
      </p:sp>
      <p:sp>
        <p:nvSpPr>
          <p:cNvPr id="4" name="TextBox 3"/>
          <p:cNvSpPr txBox="1"/>
          <p:nvPr/>
        </p:nvSpPr>
        <p:spPr>
          <a:xfrm>
            <a:off x="566928" y="1005840"/>
            <a:ext cx="10058400" cy="365760"/>
          </a:xfrm>
          <a:prstGeom prst="rect">
            <a:avLst/>
          </a:prstGeom>
          <a:noFill/>
        </p:spPr>
        <p:txBody>
          <a:bodyPr wrap="square" anchor="t" lIns="0" rIns="0" tIns="0" bIns="0">
            <a:spAutoFit/>
          </a:bodyPr>
          <a:lstStyle/>
          <a:p>
            <a:pPr algn="l"/>
            <a:r>
              <a:rPr sz="1300" b="0">
                <a:solidFill>
                  <a:srgbClr val="5C6679"/>
                </a:solidFill>
                <a:latin typeface="Microsoft JhengHei"/>
                <a:ea typeface="Microsoft JhengHei"/>
                <a:cs typeface="Microsoft JhengHei"/>
              </a:rPr>
              <a:t>各公司處理過程高度一致，已形成標準應變劇本</a:t>
            </a:r>
          </a:p>
        </p:txBody>
      </p:sp>
      <p:sp>
        <p:nvSpPr>
          <p:cNvPr id="5" name="Rounded Rectangle 4"/>
          <p:cNvSpPr/>
          <p:nvPr/>
        </p:nvSpPr>
        <p:spPr>
          <a:xfrm>
            <a:off x="640080" y="1828800"/>
            <a:ext cx="2514600" cy="2286000"/>
          </a:xfrm>
          <a:prstGeom prst="roundRect">
            <a:avLst/>
          </a:prstGeom>
          <a:solidFill>
            <a:srgbClr val="14213D"/>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2057400"/>
            <a:ext cx="658368" cy="658368"/>
          </a:xfrm>
          <a:prstGeom prst="ellipse">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057400"/>
            <a:ext cx="658368" cy="658368"/>
          </a:xfrm>
          <a:prstGeom prst="rect">
            <a:avLst/>
          </a:prstGeom>
          <a:noFill/>
        </p:spPr>
        <p:txBody>
          <a:bodyPr wrap="square" anchor="ctr" lIns="0" rIns="0" tIns="0" bIns="0">
            <a:spAutoFit/>
          </a:bodyPr>
          <a:lstStyle/>
          <a:p>
            <a:pPr algn="ctr"/>
            <a:r>
              <a:rPr sz="1900" b="1">
                <a:solidFill>
                  <a:srgbClr val="14213D"/>
                </a:solidFill>
                <a:latin typeface="Microsoft JhengHei"/>
                <a:ea typeface="Microsoft JhengHei"/>
                <a:cs typeface="Microsoft JhengHei"/>
              </a:rPr>
              <a:t>01</a:t>
            </a:r>
          </a:p>
        </p:txBody>
      </p:sp>
      <p:sp>
        <p:nvSpPr>
          <p:cNvPr id="8" name="TextBox 7"/>
          <p:cNvSpPr txBox="1"/>
          <p:nvPr/>
        </p:nvSpPr>
        <p:spPr>
          <a:xfrm>
            <a:off x="640080" y="2880360"/>
            <a:ext cx="2514600" cy="457200"/>
          </a:xfrm>
          <a:prstGeom prst="rect">
            <a:avLst/>
          </a:prstGeom>
          <a:noFill/>
        </p:spPr>
        <p:txBody>
          <a:bodyPr wrap="square" anchor="t" lIns="0" rIns="0" tIns="0" bIns="0">
            <a:spAutoFit/>
          </a:bodyPr>
          <a:lstStyle/>
          <a:p>
            <a:pPr algn="ctr"/>
            <a:r>
              <a:rPr sz="1800" b="1">
                <a:solidFill>
                  <a:srgbClr val="FFFFFF"/>
                </a:solidFill>
                <a:latin typeface="Microsoft JhengHei"/>
                <a:ea typeface="Microsoft JhengHei"/>
                <a:cs typeface="Microsoft JhengHei"/>
              </a:rPr>
              <a:t>偵測異常</a:t>
            </a:r>
          </a:p>
        </p:txBody>
      </p:sp>
      <p:sp>
        <p:nvSpPr>
          <p:cNvPr id="9" name="TextBox 8"/>
          <p:cNvSpPr txBox="1"/>
          <p:nvPr/>
        </p:nvSpPr>
        <p:spPr>
          <a:xfrm>
            <a:off x="777240" y="3364992"/>
            <a:ext cx="2240280" cy="685800"/>
          </a:xfrm>
          <a:prstGeom prst="rect">
            <a:avLst/>
          </a:prstGeom>
          <a:noFill/>
        </p:spPr>
        <p:txBody>
          <a:bodyPr wrap="square" anchor="t" lIns="0" rIns="0" tIns="0" bIns="0">
            <a:spAutoFit/>
          </a:bodyPr>
          <a:lstStyle/>
          <a:p>
            <a:pPr algn="ctr">
              <a:lnSpc>
                <a:spcPts val="1500"/>
              </a:lnSpc>
            </a:pPr>
            <a:r>
              <a:rPr sz="1150" b="0">
                <a:solidFill>
                  <a:srgbClr val="CADCFC"/>
                </a:solidFill>
                <a:latin typeface="Microsoft JhengHei"/>
                <a:ea typeface="Microsoft JhengHei"/>
                <a:cs typeface="Microsoft JhengHei"/>
              </a:rPr>
              <a:t>資安單位或外部通報
發現系統異常或入侵</a:t>
            </a:r>
          </a:p>
        </p:txBody>
      </p:sp>
      <p:sp>
        <p:nvSpPr>
          <p:cNvPr id="10" name="TextBox 9"/>
          <p:cNvSpPr txBox="1"/>
          <p:nvPr/>
        </p:nvSpPr>
        <p:spPr>
          <a:xfrm>
            <a:off x="3127248" y="1828800"/>
            <a:ext cx="365760" cy="2286000"/>
          </a:xfrm>
          <a:prstGeom prst="rect">
            <a:avLst/>
          </a:prstGeom>
          <a:noFill/>
        </p:spPr>
        <p:txBody>
          <a:bodyPr wrap="square" anchor="ctr" lIns="0" rIns="0" tIns="0" bIns="0">
            <a:spAutoFit/>
          </a:bodyPr>
          <a:lstStyle/>
          <a:p>
            <a:pPr algn="ctr"/>
            <a:r>
              <a:rPr sz="2800" b="1">
                <a:solidFill>
                  <a:srgbClr val="5C6679"/>
                </a:solidFill>
                <a:latin typeface="Microsoft JhengHei"/>
                <a:ea typeface="Microsoft JhengHei"/>
                <a:cs typeface="Microsoft JhengHei"/>
              </a:rPr>
              <a:t>›</a:t>
            </a:r>
          </a:p>
        </p:txBody>
      </p:sp>
      <p:sp>
        <p:nvSpPr>
          <p:cNvPr id="11" name="Rounded Rectangle 10"/>
          <p:cNvSpPr/>
          <p:nvPr/>
        </p:nvSpPr>
        <p:spPr>
          <a:xfrm>
            <a:off x="3447287" y="1828800"/>
            <a:ext cx="2514600" cy="2286000"/>
          </a:xfrm>
          <a:prstGeom prst="roundRect">
            <a:avLst/>
          </a:prstGeom>
          <a:solidFill>
            <a:srgbClr val="14213D"/>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79975" y="2057400"/>
            <a:ext cx="658368" cy="658368"/>
          </a:xfrm>
          <a:prstGeom prst="ellipse">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9975" y="2057400"/>
            <a:ext cx="658368" cy="658368"/>
          </a:xfrm>
          <a:prstGeom prst="rect">
            <a:avLst/>
          </a:prstGeom>
          <a:noFill/>
        </p:spPr>
        <p:txBody>
          <a:bodyPr wrap="square" anchor="ctr" lIns="0" rIns="0" tIns="0" bIns="0">
            <a:spAutoFit/>
          </a:bodyPr>
          <a:lstStyle/>
          <a:p>
            <a:pPr algn="ctr"/>
            <a:r>
              <a:rPr sz="1900" b="1">
                <a:solidFill>
                  <a:srgbClr val="14213D"/>
                </a:solidFill>
                <a:latin typeface="Microsoft JhengHei"/>
                <a:ea typeface="Microsoft JhengHei"/>
                <a:cs typeface="Microsoft JhengHei"/>
              </a:rPr>
              <a:t>02</a:t>
            </a:r>
          </a:p>
        </p:txBody>
      </p:sp>
      <p:sp>
        <p:nvSpPr>
          <p:cNvPr id="14" name="TextBox 13"/>
          <p:cNvSpPr txBox="1"/>
          <p:nvPr/>
        </p:nvSpPr>
        <p:spPr>
          <a:xfrm>
            <a:off x="3447287" y="2880360"/>
            <a:ext cx="2514600" cy="457200"/>
          </a:xfrm>
          <a:prstGeom prst="rect">
            <a:avLst/>
          </a:prstGeom>
          <a:noFill/>
        </p:spPr>
        <p:txBody>
          <a:bodyPr wrap="square" anchor="t" lIns="0" rIns="0" tIns="0" bIns="0">
            <a:spAutoFit/>
          </a:bodyPr>
          <a:lstStyle/>
          <a:p>
            <a:pPr algn="ctr"/>
            <a:r>
              <a:rPr sz="1800" b="1">
                <a:solidFill>
                  <a:srgbClr val="FFFFFF"/>
                </a:solidFill>
                <a:latin typeface="Microsoft JhengHei"/>
                <a:ea typeface="Microsoft JhengHei"/>
                <a:cs typeface="Microsoft JhengHei"/>
              </a:rPr>
              <a:t>啟動應變</a:t>
            </a:r>
          </a:p>
        </p:txBody>
      </p:sp>
      <p:sp>
        <p:nvSpPr>
          <p:cNvPr id="15" name="TextBox 14"/>
          <p:cNvSpPr txBox="1"/>
          <p:nvPr/>
        </p:nvSpPr>
        <p:spPr>
          <a:xfrm>
            <a:off x="3584447" y="3364992"/>
            <a:ext cx="2240280" cy="685800"/>
          </a:xfrm>
          <a:prstGeom prst="rect">
            <a:avLst/>
          </a:prstGeom>
          <a:noFill/>
        </p:spPr>
        <p:txBody>
          <a:bodyPr wrap="square" anchor="t" lIns="0" rIns="0" tIns="0" bIns="0">
            <a:spAutoFit/>
          </a:bodyPr>
          <a:lstStyle/>
          <a:p>
            <a:pPr algn="ctr">
              <a:lnSpc>
                <a:spcPts val="1500"/>
              </a:lnSpc>
            </a:pPr>
            <a:r>
              <a:rPr sz="1150" b="0">
                <a:solidFill>
                  <a:srgbClr val="CADCFC"/>
                </a:solidFill>
                <a:latin typeface="Microsoft JhengHei"/>
                <a:ea typeface="Microsoft JhengHei"/>
                <a:cs typeface="Microsoft JhengHei"/>
              </a:rPr>
              <a:t>立即啟動資安應變機制
系統隔離、防護強化</a:t>
            </a:r>
          </a:p>
        </p:txBody>
      </p:sp>
      <p:sp>
        <p:nvSpPr>
          <p:cNvPr id="16" name="TextBox 15"/>
          <p:cNvSpPr txBox="1"/>
          <p:nvPr/>
        </p:nvSpPr>
        <p:spPr>
          <a:xfrm>
            <a:off x="5934456" y="1828800"/>
            <a:ext cx="365760" cy="2286000"/>
          </a:xfrm>
          <a:prstGeom prst="rect">
            <a:avLst/>
          </a:prstGeom>
          <a:noFill/>
        </p:spPr>
        <p:txBody>
          <a:bodyPr wrap="square" anchor="ctr" lIns="0" rIns="0" tIns="0" bIns="0">
            <a:spAutoFit/>
          </a:bodyPr>
          <a:lstStyle/>
          <a:p>
            <a:pPr algn="ctr"/>
            <a:r>
              <a:rPr sz="2800" b="1">
                <a:solidFill>
                  <a:srgbClr val="5C6679"/>
                </a:solidFill>
                <a:latin typeface="Microsoft JhengHei"/>
                <a:ea typeface="Microsoft JhengHei"/>
                <a:cs typeface="Microsoft JhengHei"/>
              </a:rPr>
              <a:t>›</a:t>
            </a:r>
          </a:p>
        </p:txBody>
      </p:sp>
      <p:sp>
        <p:nvSpPr>
          <p:cNvPr id="17" name="Rounded Rectangle 16"/>
          <p:cNvSpPr/>
          <p:nvPr/>
        </p:nvSpPr>
        <p:spPr>
          <a:xfrm>
            <a:off x="6254496" y="1828800"/>
            <a:ext cx="2514600" cy="2286000"/>
          </a:xfrm>
          <a:prstGeom prst="roundRect">
            <a:avLst/>
          </a:prstGeom>
          <a:solidFill>
            <a:srgbClr val="14213D"/>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87183" y="2057400"/>
            <a:ext cx="658368" cy="658368"/>
          </a:xfrm>
          <a:prstGeom prst="ellipse">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87183" y="2057400"/>
            <a:ext cx="658368" cy="658368"/>
          </a:xfrm>
          <a:prstGeom prst="rect">
            <a:avLst/>
          </a:prstGeom>
          <a:noFill/>
        </p:spPr>
        <p:txBody>
          <a:bodyPr wrap="square" anchor="ctr" lIns="0" rIns="0" tIns="0" bIns="0">
            <a:spAutoFit/>
          </a:bodyPr>
          <a:lstStyle/>
          <a:p>
            <a:pPr algn="ctr"/>
            <a:r>
              <a:rPr sz="1900" b="1">
                <a:solidFill>
                  <a:srgbClr val="14213D"/>
                </a:solidFill>
                <a:latin typeface="Microsoft JhengHei"/>
                <a:ea typeface="Microsoft JhengHei"/>
                <a:cs typeface="Microsoft JhengHei"/>
              </a:rPr>
              <a:t>03</a:t>
            </a:r>
          </a:p>
        </p:txBody>
      </p:sp>
      <p:sp>
        <p:nvSpPr>
          <p:cNvPr id="20" name="TextBox 19"/>
          <p:cNvSpPr txBox="1"/>
          <p:nvPr/>
        </p:nvSpPr>
        <p:spPr>
          <a:xfrm>
            <a:off x="6254496" y="2880360"/>
            <a:ext cx="2514600" cy="457200"/>
          </a:xfrm>
          <a:prstGeom prst="rect">
            <a:avLst/>
          </a:prstGeom>
          <a:noFill/>
        </p:spPr>
        <p:txBody>
          <a:bodyPr wrap="square" anchor="t" lIns="0" rIns="0" tIns="0" bIns="0">
            <a:spAutoFit/>
          </a:bodyPr>
          <a:lstStyle/>
          <a:p>
            <a:pPr algn="ctr"/>
            <a:r>
              <a:rPr sz="1800" b="1">
                <a:solidFill>
                  <a:srgbClr val="FFFFFF"/>
                </a:solidFill>
                <a:latin typeface="Microsoft JhengHei"/>
                <a:ea typeface="Microsoft JhengHei"/>
                <a:cs typeface="Microsoft JhengHei"/>
              </a:rPr>
              <a:t>外部協助</a:t>
            </a:r>
          </a:p>
        </p:txBody>
      </p:sp>
      <p:sp>
        <p:nvSpPr>
          <p:cNvPr id="21" name="TextBox 20"/>
          <p:cNvSpPr txBox="1"/>
          <p:nvPr/>
        </p:nvSpPr>
        <p:spPr>
          <a:xfrm>
            <a:off x="6391656" y="3364992"/>
            <a:ext cx="2240280" cy="685800"/>
          </a:xfrm>
          <a:prstGeom prst="rect">
            <a:avLst/>
          </a:prstGeom>
          <a:noFill/>
        </p:spPr>
        <p:txBody>
          <a:bodyPr wrap="square" anchor="t" lIns="0" rIns="0" tIns="0" bIns="0">
            <a:spAutoFit/>
          </a:bodyPr>
          <a:lstStyle/>
          <a:p>
            <a:pPr algn="ctr">
              <a:lnSpc>
                <a:spcPts val="1500"/>
              </a:lnSpc>
            </a:pPr>
            <a:r>
              <a:rPr sz="1150" b="0">
                <a:solidFill>
                  <a:srgbClr val="CADCFC"/>
                </a:solidFill>
                <a:latin typeface="Microsoft JhengHei"/>
                <a:ea typeface="Microsoft JhengHei"/>
                <a:cs typeface="Microsoft JhengHei"/>
              </a:rPr>
              <a:t>委請外部資安專業團隊
鑑識調查與資料復原</a:t>
            </a:r>
          </a:p>
        </p:txBody>
      </p:sp>
      <p:sp>
        <p:nvSpPr>
          <p:cNvPr id="22" name="TextBox 21"/>
          <p:cNvSpPr txBox="1"/>
          <p:nvPr/>
        </p:nvSpPr>
        <p:spPr>
          <a:xfrm>
            <a:off x="8741664" y="1828800"/>
            <a:ext cx="365760" cy="2286000"/>
          </a:xfrm>
          <a:prstGeom prst="rect">
            <a:avLst/>
          </a:prstGeom>
          <a:noFill/>
        </p:spPr>
        <p:txBody>
          <a:bodyPr wrap="square" anchor="ctr" lIns="0" rIns="0" tIns="0" bIns="0">
            <a:spAutoFit/>
          </a:bodyPr>
          <a:lstStyle/>
          <a:p>
            <a:pPr algn="ctr"/>
            <a:r>
              <a:rPr sz="2800" b="1">
                <a:solidFill>
                  <a:srgbClr val="5C6679"/>
                </a:solidFill>
                <a:latin typeface="Microsoft JhengHei"/>
                <a:ea typeface="Microsoft JhengHei"/>
                <a:cs typeface="Microsoft JhengHei"/>
              </a:rPr>
              <a:t>›</a:t>
            </a:r>
          </a:p>
        </p:txBody>
      </p:sp>
      <p:sp>
        <p:nvSpPr>
          <p:cNvPr id="23" name="Rounded Rectangle 22"/>
          <p:cNvSpPr/>
          <p:nvPr/>
        </p:nvSpPr>
        <p:spPr>
          <a:xfrm>
            <a:off x="9061703" y="1828800"/>
            <a:ext cx="2514600" cy="2286000"/>
          </a:xfrm>
          <a:prstGeom prst="roundRect">
            <a:avLst/>
          </a:prstGeom>
          <a:solidFill>
            <a:srgbClr val="14213D"/>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994391" y="2057400"/>
            <a:ext cx="658368" cy="658368"/>
          </a:xfrm>
          <a:prstGeom prst="ellipse">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4391" y="2057400"/>
            <a:ext cx="658368" cy="658368"/>
          </a:xfrm>
          <a:prstGeom prst="rect">
            <a:avLst/>
          </a:prstGeom>
          <a:noFill/>
        </p:spPr>
        <p:txBody>
          <a:bodyPr wrap="square" anchor="ctr" lIns="0" rIns="0" tIns="0" bIns="0">
            <a:spAutoFit/>
          </a:bodyPr>
          <a:lstStyle/>
          <a:p>
            <a:pPr algn="ctr"/>
            <a:r>
              <a:rPr sz="1900" b="1">
                <a:solidFill>
                  <a:srgbClr val="14213D"/>
                </a:solidFill>
                <a:latin typeface="Microsoft JhengHei"/>
                <a:ea typeface="Microsoft JhengHei"/>
                <a:cs typeface="Microsoft JhengHei"/>
              </a:rPr>
              <a:t>04</a:t>
            </a:r>
          </a:p>
        </p:txBody>
      </p:sp>
      <p:sp>
        <p:nvSpPr>
          <p:cNvPr id="26" name="TextBox 25"/>
          <p:cNvSpPr txBox="1"/>
          <p:nvPr/>
        </p:nvSpPr>
        <p:spPr>
          <a:xfrm>
            <a:off x="9061703" y="2880360"/>
            <a:ext cx="2514600" cy="457200"/>
          </a:xfrm>
          <a:prstGeom prst="rect">
            <a:avLst/>
          </a:prstGeom>
          <a:noFill/>
        </p:spPr>
        <p:txBody>
          <a:bodyPr wrap="square" anchor="t" lIns="0" rIns="0" tIns="0" bIns="0">
            <a:spAutoFit/>
          </a:bodyPr>
          <a:lstStyle/>
          <a:p>
            <a:pPr algn="ctr"/>
            <a:r>
              <a:rPr sz="1800" b="1">
                <a:solidFill>
                  <a:srgbClr val="FFFFFF"/>
                </a:solidFill>
                <a:latin typeface="Microsoft JhengHei"/>
                <a:ea typeface="Microsoft JhengHei"/>
                <a:cs typeface="Microsoft JhengHei"/>
              </a:rPr>
              <a:t>強化監控</a:t>
            </a:r>
          </a:p>
        </p:txBody>
      </p:sp>
      <p:sp>
        <p:nvSpPr>
          <p:cNvPr id="27" name="TextBox 26"/>
          <p:cNvSpPr txBox="1"/>
          <p:nvPr/>
        </p:nvSpPr>
        <p:spPr>
          <a:xfrm>
            <a:off x="9198863" y="3364992"/>
            <a:ext cx="2240280" cy="685800"/>
          </a:xfrm>
          <a:prstGeom prst="rect">
            <a:avLst/>
          </a:prstGeom>
          <a:noFill/>
        </p:spPr>
        <p:txBody>
          <a:bodyPr wrap="square" anchor="t" lIns="0" rIns="0" tIns="0" bIns="0">
            <a:spAutoFit/>
          </a:bodyPr>
          <a:lstStyle/>
          <a:p>
            <a:pPr algn="ctr">
              <a:lnSpc>
                <a:spcPts val="1500"/>
              </a:lnSpc>
            </a:pPr>
            <a:r>
              <a:rPr sz="1150" b="0">
                <a:solidFill>
                  <a:srgbClr val="CADCFC"/>
                </a:solidFill>
                <a:latin typeface="Microsoft JhengHei"/>
                <a:ea typeface="Microsoft JhengHei"/>
                <a:cs typeface="Microsoft JhengHei"/>
              </a:rPr>
              <a:t>盤查系統、提升架構
持續密切監控防護</a:t>
            </a:r>
          </a:p>
        </p:txBody>
      </p:sp>
      <p:sp>
        <p:nvSpPr>
          <p:cNvPr id="28" name="Rounded Rectangle 27"/>
          <p:cNvSpPr/>
          <p:nvPr/>
        </p:nvSpPr>
        <p:spPr>
          <a:xfrm>
            <a:off x="640080" y="4572000"/>
            <a:ext cx="10881360" cy="1325880"/>
          </a:xfrm>
          <a:prstGeom prst="roundRect">
            <a:avLst/>
          </a:prstGeom>
          <a:solidFill>
            <a:srgbClr val="FF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4572000"/>
            <a:ext cx="109728" cy="1325880"/>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709160"/>
            <a:ext cx="10424160" cy="411480"/>
          </a:xfrm>
          <a:prstGeom prst="rect">
            <a:avLst/>
          </a:prstGeom>
          <a:noFill/>
        </p:spPr>
        <p:txBody>
          <a:bodyPr wrap="square" anchor="ctr" lIns="0" rIns="0" tIns="0" bIns="0">
            <a:spAutoFit/>
          </a:bodyPr>
          <a:lstStyle/>
          <a:p>
            <a:pPr algn="l"/>
            <a:r>
              <a:rPr sz="1500" b="1">
                <a:solidFill>
                  <a:srgbClr val="E63946"/>
                </a:solidFill>
                <a:latin typeface="Microsoft JhengHei"/>
                <a:ea typeface="Microsoft JhengHei"/>
                <a:cs typeface="Microsoft JhengHei"/>
              </a:rPr>
              <a:t>個資外洩事件額外步驟　</a:t>
            </a:r>
            <a:r>
              <a:rPr sz="1200" b="0">
                <a:solidFill>
                  <a:srgbClr val="5C6679"/>
                </a:solidFill>
                <a:latin typeface="Microsoft JhengHei"/>
                <a:ea typeface="Microsoft JhengHei"/>
                <a:cs typeface="Microsoft JhengHei"/>
              </a:rPr>
              <a:t>（依事件性質適用）</a:t>
            </a:r>
          </a:p>
        </p:txBody>
      </p:sp>
      <p:sp>
        <p:nvSpPr>
          <p:cNvPr id="31" name="TextBox 30"/>
          <p:cNvSpPr txBox="1"/>
          <p:nvPr/>
        </p:nvSpPr>
        <p:spPr>
          <a:xfrm>
            <a:off x="868680" y="5166360"/>
            <a:ext cx="10515600" cy="548640"/>
          </a:xfrm>
          <a:prstGeom prst="rect">
            <a:avLst/>
          </a:prstGeom>
          <a:noFill/>
        </p:spPr>
        <p:txBody>
          <a:bodyPr wrap="square" anchor="t" lIns="0" rIns="0" tIns="0" bIns="0">
            <a:spAutoFit/>
          </a:bodyPr>
          <a:lstStyle/>
          <a:p>
            <a:pPr algn="l">
              <a:lnSpc>
                <a:spcPts val="1600"/>
              </a:lnSpc>
            </a:pPr>
            <a:r>
              <a:rPr sz="1200" b="0">
                <a:solidFill>
                  <a:srgbClr val="1A2233"/>
                </a:solidFill>
                <a:latin typeface="Microsoft JhengHei"/>
                <a:ea typeface="Microsoft JhengHei"/>
                <a:cs typeface="Microsoft JhengHei"/>
              </a:rPr>
              <a:t>依法通報主管機關　•　主動通知受影響當事人並提供客服　•　向調查局報案　•　強化委外廠商與第三方工具管理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9144000" cy="640080"/>
          </a:xfrm>
          <a:prstGeom prst="rect">
            <a:avLst/>
          </a:prstGeom>
          <a:noFill/>
        </p:spPr>
        <p:txBody>
          <a:bodyPr wrap="square" anchor="t" lIns="0" rIns="0" tIns="0" bIns="0">
            <a:spAutoFit/>
          </a:bodyPr>
          <a:lstStyle/>
          <a:p>
            <a:pPr algn="l"/>
            <a:r>
              <a:rPr sz="3000" b="1">
                <a:solidFill>
                  <a:srgbClr val="1A2233"/>
                </a:solidFill>
                <a:latin typeface="Microsoft JhengHei"/>
                <a:ea typeface="Microsoft JhengHei"/>
                <a:cs typeface="Microsoft JhengHei"/>
              </a:rPr>
              <a:t>個案因應重點（1）</a:t>
            </a:r>
          </a:p>
        </p:txBody>
      </p:sp>
      <p:sp>
        <p:nvSpPr>
          <p:cNvPr id="4" name="TextBox 3"/>
          <p:cNvSpPr txBox="1"/>
          <p:nvPr/>
        </p:nvSpPr>
        <p:spPr>
          <a:xfrm>
            <a:off x="566928" y="1005840"/>
            <a:ext cx="10058400" cy="365760"/>
          </a:xfrm>
          <a:prstGeom prst="rect">
            <a:avLst/>
          </a:prstGeom>
          <a:noFill/>
        </p:spPr>
        <p:txBody>
          <a:bodyPr wrap="square" anchor="t" lIns="0" rIns="0" tIns="0" bIns="0">
            <a:spAutoFit/>
          </a:bodyPr>
          <a:lstStyle/>
          <a:p>
            <a:pPr algn="l"/>
            <a:r>
              <a:rPr sz="1300" b="0">
                <a:solidFill>
                  <a:srgbClr val="5C6679"/>
                </a:solidFill>
                <a:latin typeface="Microsoft JhengHei"/>
                <a:ea typeface="Microsoft JhengHei"/>
                <a:cs typeface="Microsoft JhengHei"/>
              </a:rPr>
              <a:t>各公司公告之發生緣由與因應措施摘要</a:t>
            </a:r>
          </a:p>
        </p:txBody>
      </p:sp>
      <p:sp>
        <p:nvSpPr>
          <p:cNvPr id="5" name="Rounded Rectangle 4"/>
          <p:cNvSpPr/>
          <p:nvPr/>
        </p:nvSpPr>
        <p:spPr>
          <a:xfrm>
            <a:off x="548640" y="155448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394960" cy="109728"/>
          </a:xfrm>
          <a:prstGeom prst="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7393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科懋 </a:t>
            </a:r>
            <a:r>
              <a:rPr sz="1300" b="0">
                <a:solidFill>
                  <a:srgbClr val="5C6679"/>
                </a:solidFill>
                <a:latin typeface="Microsoft JhengHei"/>
                <a:ea typeface="Microsoft JhengHei"/>
                <a:cs typeface="Microsoft JhengHei"/>
              </a:rPr>
              <a:t>6496</a:t>
            </a:r>
          </a:p>
        </p:txBody>
      </p:sp>
      <p:sp>
        <p:nvSpPr>
          <p:cNvPr id="8" name="Rounded Rectangle 7"/>
          <p:cNvSpPr/>
          <p:nvPr/>
        </p:nvSpPr>
        <p:spPr>
          <a:xfrm>
            <a:off x="4526280" y="1792224"/>
            <a:ext cx="1234440" cy="347472"/>
          </a:xfrm>
          <a:prstGeom prst="round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9222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個資外洩</a:t>
            </a:r>
          </a:p>
        </p:txBody>
      </p:sp>
      <p:sp>
        <p:nvSpPr>
          <p:cNvPr id="10" name="TextBox 9"/>
          <p:cNvSpPr txBox="1"/>
          <p:nvPr/>
        </p:nvSpPr>
        <p:spPr>
          <a:xfrm>
            <a:off x="777240" y="2267712"/>
            <a:ext cx="4937760" cy="640080"/>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本公司接獲線上會員通知有個資洩漏情形，經查主因本公司產品線上銷售平台之系統服務委外廠商其對外服務…</a:t>
            </a:r>
          </a:p>
        </p:txBody>
      </p:sp>
      <p:sp>
        <p:nvSpPr>
          <p:cNvPr id="11" name="TextBox 10"/>
          <p:cNvSpPr txBox="1"/>
          <p:nvPr/>
        </p:nvSpPr>
        <p:spPr>
          <a:xfrm>
            <a:off x="777240" y="2926080"/>
            <a:ext cx="4937760" cy="713232"/>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本公司已要求系統服務委外廠商重新檢視造成資安疑慮因子並加以改善及防範，同時持續針對系統服務委外廠商加強監控。</a:t>
            </a:r>
          </a:p>
        </p:txBody>
      </p:sp>
      <p:sp>
        <p:nvSpPr>
          <p:cNvPr id="12" name="Rounded Rectangle 11"/>
          <p:cNvSpPr/>
          <p:nvPr/>
        </p:nvSpPr>
        <p:spPr>
          <a:xfrm>
            <a:off x="6172200" y="155448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554480"/>
            <a:ext cx="5394960" cy="109728"/>
          </a:xfrm>
          <a:prstGeom prst="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7393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立康 </a:t>
            </a:r>
            <a:r>
              <a:rPr sz="1300" b="0">
                <a:solidFill>
                  <a:srgbClr val="5C6679"/>
                </a:solidFill>
                <a:latin typeface="Microsoft JhengHei"/>
                <a:ea typeface="Microsoft JhengHei"/>
                <a:cs typeface="Microsoft JhengHei"/>
              </a:rPr>
              <a:t>6242</a:t>
            </a:r>
          </a:p>
        </p:txBody>
      </p:sp>
      <p:sp>
        <p:nvSpPr>
          <p:cNvPr id="15" name="Rounded Rectangle 14"/>
          <p:cNvSpPr/>
          <p:nvPr/>
        </p:nvSpPr>
        <p:spPr>
          <a:xfrm>
            <a:off x="10149840" y="1792224"/>
            <a:ext cx="1234440" cy="347472"/>
          </a:xfrm>
          <a:prstGeom prst="round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0" y="179222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個資外洩</a:t>
            </a:r>
          </a:p>
        </p:txBody>
      </p:sp>
      <p:sp>
        <p:nvSpPr>
          <p:cNvPr id="17" name="TextBox 16"/>
          <p:cNvSpPr txBox="1"/>
          <p:nvPr/>
        </p:nvSpPr>
        <p:spPr>
          <a:xfrm>
            <a:off x="6400800" y="2267712"/>
            <a:ext cx="4937760" cy="640080"/>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本公司接獲消費者反映疑似個資外洩事件</a:t>
            </a:r>
          </a:p>
        </p:txBody>
      </p:sp>
      <p:sp>
        <p:nvSpPr>
          <p:cNvPr id="18" name="TextBox 17"/>
          <p:cNvSpPr txBox="1"/>
          <p:nvPr/>
        </p:nvSpPr>
        <p:spPr>
          <a:xfrm>
            <a:off x="6400800" y="2926080"/>
            <a:ext cx="4937760" cy="713232"/>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(1)本公司已立即啟動資安事件應變作業，針對相關系統、存取紀錄及可能涉及之資料範圍進行調查，並要求購物網平台委外廠商同步…</a:t>
            </a:r>
          </a:p>
        </p:txBody>
      </p:sp>
      <p:sp>
        <p:nvSpPr>
          <p:cNvPr id="19" name="Rounded Rectangle 18"/>
          <p:cNvSpPr/>
          <p:nvPr/>
        </p:nvSpPr>
        <p:spPr>
          <a:xfrm>
            <a:off x="548640" y="388620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5394960" cy="109728"/>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0565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美食-KY </a:t>
            </a:r>
            <a:r>
              <a:rPr sz="1300" b="0">
                <a:solidFill>
                  <a:srgbClr val="5C6679"/>
                </a:solidFill>
                <a:latin typeface="Microsoft JhengHei"/>
                <a:ea typeface="Microsoft JhengHei"/>
                <a:cs typeface="Microsoft JhengHei"/>
              </a:rPr>
              <a:t>2723</a:t>
            </a:r>
          </a:p>
        </p:txBody>
      </p:sp>
      <p:sp>
        <p:nvSpPr>
          <p:cNvPr id="22" name="Rounded Rectangle 21"/>
          <p:cNvSpPr/>
          <p:nvPr/>
        </p:nvSpPr>
        <p:spPr>
          <a:xfrm>
            <a:off x="4526280" y="4123944"/>
            <a:ext cx="1234440" cy="347472"/>
          </a:xfrm>
          <a:prstGeom prst="round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412394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駭客攻擊</a:t>
            </a:r>
          </a:p>
        </p:txBody>
      </p:sp>
      <p:sp>
        <p:nvSpPr>
          <p:cNvPr id="24" name="TextBox 23"/>
          <p:cNvSpPr txBox="1"/>
          <p:nvPr/>
        </p:nvSpPr>
        <p:spPr>
          <a:xfrm>
            <a:off x="777240" y="4599432"/>
            <a:ext cx="4937760" cy="640080"/>
          </a:xfrm>
          <a:prstGeom prst="rect">
            <a:avLst/>
          </a:prstGeom>
          <a:noFill/>
        </p:spPr>
        <p:txBody>
          <a:bodyPr wrap="square" anchor="t" lIns="0" rIns="0" tIns="0" bIns="0">
            <a:spAutoFit/>
          </a:bodyPr>
          <a:lstStyle/>
          <a:p>
            <a:pPr algn="l">
              <a:lnSpc>
                <a:spcPts val="1500"/>
              </a:lnSpc>
            </a:pPr>
            <a:r>
              <a:rPr sz="1100" b="1">
                <a:solidFill>
                  <a:srgbClr val="E63946"/>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台灣子公司美食達人股份有限公司於今日發現部分資訊系統遭受網路攻擊，已立即啟動資安應變機制，並委請…</a:t>
            </a:r>
          </a:p>
        </p:txBody>
      </p:sp>
      <p:sp>
        <p:nvSpPr>
          <p:cNvPr id="25" name="TextBox 24"/>
          <p:cNvSpPr txBox="1"/>
          <p:nvPr/>
        </p:nvSpPr>
        <p:spPr>
          <a:xfrm>
            <a:off x="777240" y="5257800"/>
            <a:ext cx="4937760" cy="713232"/>
          </a:xfrm>
          <a:prstGeom prst="rect">
            <a:avLst/>
          </a:prstGeom>
          <a:noFill/>
        </p:spPr>
        <p:txBody>
          <a:bodyPr wrap="square" anchor="t" lIns="0" rIns="0" tIns="0" bIns="0">
            <a:spAutoFit/>
          </a:bodyPr>
          <a:lstStyle/>
          <a:p>
            <a:pPr algn="l">
              <a:lnSpc>
                <a:spcPts val="1500"/>
              </a:lnSpc>
            </a:pPr>
            <a:r>
              <a:rPr sz="1100" b="1">
                <a:solidFill>
                  <a:srgbClr val="E63946"/>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公司將持續進行資安鑑識、系統安全強化及相關風險控管作業，受影響系統預期可逐步恢復運作；後續如調查結果或事件發展有重大變化…</a:t>
            </a:r>
          </a:p>
        </p:txBody>
      </p:sp>
      <p:sp>
        <p:nvSpPr>
          <p:cNvPr id="26" name="Rounded Rectangle 25"/>
          <p:cNvSpPr/>
          <p:nvPr/>
        </p:nvSpPr>
        <p:spPr>
          <a:xfrm>
            <a:off x="6172200" y="388620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886200"/>
            <a:ext cx="5394960" cy="109728"/>
          </a:xfrm>
          <a:prstGeom prst="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10565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滿心 </a:t>
            </a:r>
            <a:r>
              <a:rPr sz="1300" b="0">
                <a:solidFill>
                  <a:srgbClr val="5C6679"/>
                </a:solidFill>
                <a:latin typeface="Microsoft JhengHei"/>
                <a:ea typeface="Microsoft JhengHei"/>
                <a:cs typeface="Microsoft JhengHei"/>
              </a:rPr>
              <a:t>2916</a:t>
            </a:r>
          </a:p>
        </p:txBody>
      </p:sp>
      <p:sp>
        <p:nvSpPr>
          <p:cNvPr id="29" name="Rounded Rectangle 28"/>
          <p:cNvSpPr/>
          <p:nvPr/>
        </p:nvSpPr>
        <p:spPr>
          <a:xfrm>
            <a:off x="10149840" y="4123944"/>
            <a:ext cx="1234440" cy="347472"/>
          </a:xfrm>
          <a:prstGeom prst="round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0" y="412394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個資外洩</a:t>
            </a:r>
          </a:p>
        </p:txBody>
      </p:sp>
      <p:sp>
        <p:nvSpPr>
          <p:cNvPr id="31" name="TextBox 30"/>
          <p:cNvSpPr txBox="1"/>
          <p:nvPr/>
        </p:nvSpPr>
        <p:spPr>
          <a:xfrm>
            <a:off x="6400800" y="4599432"/>
            <a:ext cx="4937760" cy="640080"/>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本公司委外服務平台業者所提供之資料庫發生自動化攻擊事件,部分資訊遭非法擷取,本公司近日接獲消費者…</a:t>
            </a:r>
          </a:p>
        </p:txBody>
      </p:sp>
      <p:sp>
        <p:nvSpPr>
          <p:cNvPr id="32" name="TextBox 31"/>
          <p:cNvSpPr txBox="1"/>
          <p:nvPr/>
        </p:nvSpPr>
        <p:spPr>
          <a:xfrm>
            <a:off x="6400800" y="5257800"/>
            <a:ext cx="4937760" cy="713232"/>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(1)本公司已立即啟動資安事件應變作業,針對相關系統與存取紀錄及可能涉及之資料範圍進行調查,並要求委外服務平台業者同步進…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9144000" cy="640080"/>
          </a:xfrm>
          <a:prstGeom prst="rect">
            <a:avLst/>
          </a:prstGeom>
          <a:noFill/>
        </p:spPr>
        <p:txBody>
          <a:bodyPr wrap="square" anchor="t" lIns="0" rIns="0" tIns="0" bIns="0">
            <a:spAutoFit/>
          </a:bodyPr>
          <a:lstStyle/>
          <a:p>
            <a:pPr algn="l"/>
            <a:r>
              <a:rPr sz="3000" b="1">
                <a:solidFill>
                  <a:srgbClr val="1A2233"/>
                </a:solidFill>
                <a:latin typeface="Microsoft JhengHei"/>
                <a:ea typeface="Microsoft JhengHei"/>
                <a:cs typeface="Microsoft JhengHei"/>
              </a:rPr>
              <a:t>個案因應重點（2）</a:t>
            </a:r>
          </a:p>
        </p:txBody>
      </p:sp>
      <p:sp>
        <p:nvSpPr>
          <p:cNvPr id="4" name="TextBox 3"/>
          <p:cNvSpPr txBox="1"/>
          <p:nvPr/>
        </p:nvSpPr>
        <p:spPr>
          <a:xfrm>
            <a:off x="566928" y="1005840"/>
            <a:ext cx="10058400" cy="365760"/>
          </a:xfrm>
          <a:prstGeom prst="rect">
            <a:avLst/>
          </a:prstGeom>
          <a:noFill/>
        </p:spPr>
        <p:txBody>
          <a:bodyPr wrap="square" anchor="t" lIns="0" rIns="0" tIns="0" bIns="0">
            <a:spAutoFit/>
          </a:bodyPr>
          <a:lstStyle/>
          <a:p>
            <a:pPr algn="l"/>
            <a:r>
              <a:rPr sz="1300" b="0">
                <a:solidFill>
                  <a:srgbClr val="5C6679"/>
                </a:solidFill>
                <a:latin typeface="Microsoft JhengHei"/>
                <a:ea typeface="Microsoft JhengHei"/>
                <a:cs typeface="Microsoft JhengHei"/>
              </a:rPr>
              <a:t>各公司公告之發生緣由與因應措施摘要</a:t>
            </a:r>
          </a:p>
        </p:txBody>
      </p:sp>
      <p:sp>
        <p:nvSpPr>
          <p:cNvPr id="5" name="Rounded Rectangle 4"/>
          <p:cNvSpPr/>
          <p:nvPr/>
        </p:nvSpPr>
        <p:spPr>
          <a:xfrm>
            <a:off x="548640" y="155448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394960" cy="109728"/>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7393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91APP*-KY </a:t>
            </a:r>
            <a:r>
              <a:rPr sz="1300" b="0">
                <a:solidFill>
                  <a:srgbClr val="5C6679"/>
                </a:solidFill>
                <a:latin typeface="Microsoft JhengHei"/>
                <a:ea typeface="Microsoft JhengHei"/>
                <a:cs typeface="Microsoft JhengHei"/>
              </a:rPr>
              <a:t>6741</a:t>
            </a:r>
          </a:p>
        </p:txBody>
      </p:sp>
      <p:sp>
        <p:nvSpPr>
          <p:cNvPr id="8" name="Rounded Rectangle 7"/>
          <p:cNvSpPr/>
          <p:nvPr/>
        </p:nvSpPr>
        <p:spPr>
          <a:xfrm>
            <a:off x="4526280" y="1792224"/>
            <a:ext cx="1234440" cy="347472"/>
          </a:xfrm>
          <a:prstGeom prst="round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9222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駭客攻擊</a:t>
            </a:r>
          </a:p>
        </p:txBody>
      </p:sp>
      <p:sp>
        <p:nvSpPr>
          <p:cNvPr id="10" name="TextBox 9"/>
          <p:cNvSpPr txBox="1"/>
          <p:nvPr/>
        </p:nvSpPr>
        <p:spPr>
          <a:xfrm>
            <a:off x="777240" y="2267712"/>
            <a:ext cx="4937760" cy="640080"/>
          </a:xfrm>
          <a:prstGeom prst="rect">
            <a:avLst/>
          </a:prstGeom>
          <a:noFill/>
        </p:spPr>
        <p:txBody>
          <a:bodyPr wrap="square" anchor="t" lIns="0" rIns="0" tIns="0" bIns="0">
            <a:spAutoFit/>
          </a:bodyPr>
          <a:lstStyle/>
          <a:p>
            <a:pPr algn="l">
              <a:lnSpc>
                <a:spcPts val="1500"/>
              </a:lnSpc>
            </a:pPr>
            <a:r>
              <a:rPr sz="1100" b="1">
                <a:solidFill>
                  <a:srgbClr val="E63946"/>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本公司CommerceCloud資料庫受到自動化攻擊事件說明。</a:t>
            </a:r>
          </a:p>
        </p:txBody>
      </p:sp>
      <p:sp>
        <p:nvSpPr>
          <p:cNvPr id="11" name="TextBox 10"/>
          <p:cNvSpPr txBox="1"/>
          <p:nvPr/>
        </p:nvSpPr>
        <p:spPr>
          <a:xfrm>
            <a:off x="777240" y="2926080"/>
            <a:ext cx="4937760" cy="713232"/>
          </a:xfrm>
          <a:prstGeom prst="rect">
            <a:avLst/>
          </a:prstGeom>
          <a:noFill/>
        </p:spPr>
        <p:txBody>
          <a:bodyPr wrap="square" anchor="t" lIns="0" rIns="0" tIns="0" bIns="0">
            <a:spAutoFit/>
          </a:bodyPr>
          <a:lstStyle/>
          <a:p>
            <a:pPr algn="l">
              <a:lnSpc>
                <a:spcPts val="1500"/>
              </a:lnSpc>
            </a:pPr>
            <a:r>
              <a:rPr sz="1100" b="1">
                <a:solidFill>
                  <a:srgbClr val="E63946"/>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(1)強化監控防禦：升級全天候監控，全面提升系統防護層級。(2)委外第三方公正單位調查：協同外部專家深入調查，並於相關主…</a:t>
            </a:r>
          </a:p>
        </p:txBody>
      </p:sp>
      <p:sp>
        <p:nvSpPr>
          <p:cNvPr id="12" name="Rounded Rectangle 11"/>
          <p:cNvSpPr/>
          <p:nvPr/>
        </p:nvSpPr>
        <p:spPr>
          <a:xfrm>
            <a:off x="6172200" y="155448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554480"/>
            <a:ext cx="5394960" cy="109728"/>
          </a:xfrm>
          <a:prstGeom prst="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7393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緯致 </a:t>
            </a:r>
            <a:r>
              <a:rPr sz="1300" b="0">
                <a:solidFill>
                  <a:srgbClr val="5C6679"/>
                </a:solidFill>
                <a:latin typeface="Microsoft JhengHei"/>
                <a:ea typeface="Microsoft JhengHei"/>
                <a:cs typeface="Microsoft JhengHei"/>
              </a:rPr>
              <a:t>4953</a:t>
            </a:r>
          </a:p>
        </p:txBody>
      </p:sp>
      <p:sp>
        <p:nvSpPr>
          <p:cNvPr id="15" name="Rounded Rectangle 14"/>
          <p:cNvSpPr/>
          <p:nvPr/>
        </p:nvSpPr>
        <p:spPr>
          <a:xfrm>
            <a:off x="10149840" y="1792224"/>
            <a:ext cx="1234440" cy="347472"/>
          </a:xfrm>
          <a:prstGeom prst="round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0" y="179222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其他</a:t>
            </a:r>
          </a:p>
        </p:txBody>
      </p:sp>
      <p:sp>
        <p:nvSpPr>
          <p:cNvPr id="17" name="TextBox 16"/>
          <p:cNvSpPr txBox="1"/>
          <p:nvPr/>
        </p:nvSpPr>
        <p:spPr>
          <a:xfrm>
            <a:off x="6400800" y="2267712"/>
            <a:ext cx="4937760" cy="640080"/>
          </a:xfrm>
          <a:prstGeom prst="rect">
            <a:avLst/>
          </a:prstGeom>
          <a:noFill/>
        </p:spPr>
        <p:txBody>
          <a:bodyPr wrap="square" anchor="t" lIns="0" rIns="0" tIns="0" bIns="0">
            <a:spAutoFit/>
          </a:bodyPr>
          <a:lstStyle/>
          <a:p>
            <a:pPr algn="l">
              <a:lnSpc>
                <a:spcPts val="1500"/>
              </a:lnSpc>
            </a:pPr>
            <a:r>
              <a:rPr sz="1100" b="1">
                <a:solidFill>
                  <a:srgbClr val="5C6679"/>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本公司偵測到內部系統有異常存取情形，經調查確認，部分員工資訊與公務聯繫資訊遭未經授權存取。</a:t>
            </a:r>
          </a:p>
        </p:txBody>
      </p:sp>
      <p:sp>
        <p:nvSpPr>
          <p:cNvPr id="18" name="TextBox 17"/>
          <p:cNvSpPr txBox="1"/>
          <p:nvPr/>
        </p:nvSpPr>
        <p:spPr>
          <a:xfrm>
            <a:off x="6400800" y="2926080"/>
            <a:ext cx="4937760" cy="713232"/>
          </a:xfrm>
          <a:prstGeom prst="rect">
            <a:avLst/>
          </a:prstGeom>
          <a:noFill/>
        </p:spPr>
        <p:txBody>
          <a:bodyPr wrap="square" anchor="t" lIns="0" rIns="0" tIns="0" bIns="0">
            <a:spAutoFit/>
          </a:bodyPr>
          <a:lstStyle/>
          <a:p>
            <a:pPr algn="l">
              <a:lnSpc>
                <a:spcPts val="1500"/>
              </a:lnSpc>
            </a:pPr>
            <a:r>
              <a:rPr sz="1100" b="1">
                <a:solidFill>
                  <a:srgbClr val="5C6679"/>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本公司已採取相關防護、阻斷及修補措施，並持續強化資訊安全防護機制。</a:t>
            </a:r>
          </a:p>
        </p:txBody>
      </p:sp>
      <p:sp>
        <p:nvSpPr>
          <p:cNvPr id="19" name="Rounded Rectangle 18"/>
          <p:cNvSpPr/>
          <p:nvPr/>
        </p:nvSpPr>
        <p:spPr>
          <a:xfrm>
            <a:off x="548640" y="388620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5394960" cy="109728"/>
          </a:xfrm>
          <a:prstGeom prst="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0565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上福 </a:t>
            </a:r>
            <a:r>
              <a:rPr sz="1300" b="0">
                <a:solidFill>
                  <a:srgbClr val="5C6679"/>
                </a:solidFill>
                <a:latin typeface="Microsoft JhengHei"/>
                <a:ea typeface="Microsoft JhengHei"/>
                <a:cs typeface="Microsoft JhengHei"/>
              </a:rPr>
              <a:t>6128</a:t>
            </a:r>
          </a:p>
        </p:txBody>
      </p:sp>
      <p:sp>
        <p:nvSpPr>
          <p:cNvPr id="22" name="Rounded Rectangle 21"/>
          <p:cNvSpPr/>
          <p:nvPr/>
        </p:nvSpPr>
        <p:spPr>
          <a:xfrm>
            <a:off x="4526280" y="4123944"/>
            <a:ext cx="1234440" cy="347472"/>
          </a:xfrm>
          <a:prstGeom prst="round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412394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其他</a:t>
            </a:r>
          </a:p>
        </p:txBody>
      </p:sp>
      <p:sp>
        <p:nvSpPr>
          <p:cNvPr id="24" name="TextBox 23"/>
          <p:cNvSpPr txBox="1"/>
          <p:nvPr/>
        </p:nvSpPr>
        <p:spPr>
          <a:xfrm>
            <a:off x="777240" y="4599432"/>
            <a:ext cx="4937760" cy="640080"/>
          </a:xfrm>
          <a:prstGeom prst="rect">
            <a:avLst/>
          </a:prstGeom>
          <a:noFill/>
        </p:spPr>
        <p:txBody>
          <a:bodyPr wrap="square" anchor="t" lIns="0" rIns="0" tIns="0" bIns="0">
            <a:spAutoFit/>
          </a:bodyPr>
          <a:lstStyle/>
          <a:p>
            <a:pPr algn="l">
              <a:lnSpc>
                <a:spcPts val="1500"/>
              </a:lnSpc>
            </a:pPr>
            <a:r>
              <a:rPr sz="1100" b="1">
                <a:solidFill>
                  <a:srgbClr val="5C6679"/>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KatunCorporation發現資訊安全異常事件，經調查發現部分資訊系統有異常存取行為。</a:t>
            </a:r>
          </a:p>
        </p:txBody>
      </p:sp>
      <p:sp>
        <p:nvSpPr>
          <p:cNvPr id="25" name="TextBox 24"/>
          <p:cNvSpPr txBox="1"/>
          <p:nvPr/>
        </p:nvSpPr>
        <p:spPr>
          <a:xfrm>
            <a:off x="777240" y="5257800"/>
            <a:ext cx="4937760" cy="713232"/>
          </a:xfrm>
          <a:prstGeom prst="rect">
            <a:avLst/>
          </a:prstGeom>
          <a:noFill/>
        </p:spPr>
        <p:txBody>
          <a:bodyPr wrap="square" anchor="t" lIns="0" rIns="0" tIns="0" bIns="0">
            <a:spAutoFit/>
          </a:bodyPr>
          <a:lstStyle/>
          <a:p>
            <a:pPr algn="l">
              <a:lnSpc>
                <a:spcPts val="1500"/>
              </a:lnSpc>
            </a:pPr>
            <a:r>
              <a:rPr sz="1100" b="1">
                <a:solidFill>
                  <a:srgbClr val="5C6679"/>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KatunCorporation將持續進行事件調查、鑑識分析及監控作業，並進一步強化資訊安全管理、遠端存取管控、網路安全…</a:t>
            </a:r>
          </a:p>
        </p:txBody>
      </p:sp>
      <p:sp>
        <p:nvSpPr>
          <p:cNvPr id="26" name="Rounded Rectangle 25"/>
          <p:cNvSpPr/>
          <p:nvPr/>
        </p:nvSpPr>
        <p:spPr>
          <a:xfrm>
            <a:off x="6172200" y="388620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886200"/>
            <a:ext cx="5394960" cy="109728"/>
          </a:xfrm>
          <a:prstGeom prst="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10565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杏一 </a:t>
            </a:r>
            <a:r>
              <a:rPr sz="1300" b="0">
                <a:solidFill>
                  <a:srgbClr val="5C6679"/>
                </a:solidFill>
                <a:latin typeface="Microsoft JhengHei"/>
                <a:ea typeface="Microsoft JhengHei"/>
                <a:cs typeface="Microsoft JhengHei"/>
              </a:rPr>
              <a:t>4175</a:t>
            </a:r>
          </a:p>
        </p:txBody>
      </p:sp>
      <p:sp>
        <p:nvSpPr>
          <p:cNvPr id="29" name="Rounded Rectangle 28"/>
          <p:cNvSpPr/>
          <p:nvPr/>
        </p:nvSpPr>
        <p:spPr>
          <a:xfrm>
            <a:off x="10149840" y="4123944"/>
            <a:ext cx="1234440" cy="347472"/>
          </a:xfrm>
          <a:prstGeom prst="round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0" y="412394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個資外洩</a:t>
            </a:r>
          </a:p>
        </p:txBody>
      </p:sp>
      <p:sp>
        <p:nvSpPr>
          <p:cNvPr id="31" name="TextBox 30"/>
          <p:cNvSpPr txBox="1"/>
          <p:nvPr/>
        </p:nvSpPr>
        <p:spPr>
          <a:xfrm>
            <a:off x="6400800" y="4599432"/>
            <a:ext cx="4937760" cy="640080"/>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本公司接獲消費者反映疑似個資外洩事件</a:t>
            </a:r>
          </a:p>
        </p:txBody>
      </p:sp>
      <p:sp>
        <p:nvSpPr>
          <p:cNvPr id="32" name="TextBox 31"/>
          <p:cNvSpPr txBox="1"/>
          <p:nvPr/>
        </p:nvSpPr>
        <p:spPr>
          <a:xfrm>
            <a:off x="6400800" y="5257800"/>
            <a:ext cx="4937760" cy="713232"/>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(1)本公司已立即啟動資安事件應變作業，針對相關系統、存取紀錄及可能涉及之資料範圍進行調查，並要求官網平台委外廠商同步進…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9144000" cy="640080"/>
          </a:xfrm>
          <a:prstGeom prst="rect">
            <a:avLst/>
          </a:prstGeom>
          <a:noFill/>
        </p:spPr>
        <p:txBody>
          <a:bodyPr wrap="square" anchor="t" lIns="0" rIns="0" tIns="0" bIns="0">
            <a:spAutoFit/>
          </a:bodyPr>
          <a:lstStyle/>
          <a:p>
            <a:pPr algn="l"/>
            <a:r>
              <a:rPr sz="3000" b="1">
                <a:solidFill>
                  <a:srgbClr val="1A2233"/>
                </a:solidFill>
                <a:latin typeface="Microsoft JhengHei"/>
                <a:ea typeface="Microsoft JhengHei"/>
                <a:cs typeface="Microsoft JhengHei"/>
              </a:rPr>
              <a:t>個案因應重點（3）</a:t>
            </a:r>
          </a:p>
        </p:txBody>
      </p:sp>
      <p:sp>
        <p:nvSpPr>
          <p:cNvPr id="4" name="TextBox 3"/>
          <p:cNvSpPr txBox="1"/>
          <p:nvPr/>
        </p:nvSpPr>
        <p:spPr>
          <a:xfrm>
            <a:off x="566928" y="1005840"/>
            <a:ext cx="10058400" cy="365760"/>
          </a:xfrm>
          <a:prstGeom prst="rect">
            <a:avLst/>
          </a:prstGeom>
          <a:noFill/>
        </p:spPr>
        <p:txBody>
          <a:bodyPr wrap="square" anchor="t" lIns="0" rIns="0" tIns="0" bIns="0">
            <a:spAutoFit/>
          </a:bodyPr>
          <a:lstStyle/>
          <a:p>
            <a:pPr algn="l"/>
            <a:r>
              <a:rPr sz="1300" b="0">
                <a:solidFill>
                  <a:srgbClr val="5C6679"/>
                </a:solidFill>
                <a:latin typeface="Microsoft JhengHei"/>
                <a:ea typeface="Microsoft JhengHei"/>
                <a:cs typeface="Microsoft JhengHei"/>
              </a:rPr>
              <a:t>各公司公告之發生緣由與因應措施摘要</a:t>
            </a:r>
          </a:p>
        </p:txBody>
      </p:sp>
      <p:sp>
        <p:nvSpPr>
          <p:cNvPr id="5" name="Rounded Rectangle 4"/>
          <p:cNvSpPr/>
          <p:nvPr/>
        </p:nvSpPr>
        <p:spPr>
          <a:xfrm>
            <a:off x="548640" y="155448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394960" cy="109728"/>
          </a:xfrm>
          <a:prstGeom prst="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7393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鈊象 </a:t>
            </a:r>
            <a:r>
              <a:rPr sz="1300" b="0">
                <a:solidFill>
                  <a:srgbClr val="5C6679"/>
                </a:solidFill>
                <a:latin typeface="Microsoft JhengHei"/>
                <a:ea typeface="Microsoft JhengHei"/>
                <a:cs typeface="Microsoft JhengHei"/>
              </a:rPr>
              <a:t>3293</a:t>
            </a:r>
          </a:p>
        </p:txBody>
      </p:sp>
      <p:sp>
        <p:nvSpPr>
          <p:cNvPr id="8" name="Rounded Rectangle 7"/>
          <p:cNvSpPr/>
          <p:nvPr/>
        </p:nvSpPr>
        <p:spPr>
          <a:xfrm>
            <a:off x="4526280" y="1792224"/>
            <a:ext cx="1234440" cy="347472"/>
          </a:xfrm>
          <a:prstGeom prst="round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9222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個資外洩</a:t>
            </a:r>
          </a:p>
        </p:txBody>
      </p:sp>
      <p:sp>
        <p:nvSpPr>
          <p:cNvPr id="10" name="TextBox 9"/>
          <p:cNvSpPr txBox="1"/>
          <p:nvPr/>
        </p:nvSpPr>
        <p:spPr>
          <a:xfrm>
            <a:off x="777240" y="2267712"/>
            <a:ext cx="4937760" cy="640080"/>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本公司於115年9月29日發現不明IP異常侵入公司營運資訊設備，造成公司遊戲營運資料外洩，包含部…</a:t>
            </a:r>
          </a:p>
        </p:txBody>
      </p:sp>
      <p:sp>
        <p:nvSpPr>
          <p:cNvPr id="11" name="TextBox 10"/>
          <p:cNvSpPr txBox="1"/>
          <p:nvPr/>
        </p:nvSpPr>
        <p:spPr>
          <a:xfrm>
            <a:off x="777240" y="2926080"/>
            <a:ext cx="4937760" cy="713232"/>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(1)持續提升資安防禦，強化監控與防護層級。(2)委由外部專業資安團隊協助事件調查，並於相關主機部署偵測及防護機制。(3…</a:t>
            </a:r>
          </a:p>
        </p:txBody>
      </p:sp>
      <p:sp>
        <p:nvSpPr>
          <p:cNvPr id="12" name="Rounded Rectangle 11"/>
          <p:cNvSpPr/>
          <p:nvPr/>
        </p:nvSpPr>
        <p:spPr>
          <a:xfrm>
            <a:off x="6172200" y="155448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554480"/>
            <a:ext cx="5394960" cy="109728"/>
          </a:xfrm>
          <a:prstGeom prst="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7393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一零四 </a:t>
            </a:r>
            <a:r>
              <a:rPr sz="1300" b="0">
                <a:solidFill>
                  <a:srgbClr val="5C6679"/>
                </a:solidFill>
                <a:latin typeface="Microsoft JhengHei"/>
                <a:ea typeface="Microsoft JhengHei"/>
                <a:cs typeface="Microsoft JhengHei"/>
              </a:rPr>
              <a:t>3130</a:t>
            </a:r>
          </a:p>
        </p:txBody>
      </p:sp>
      <p:sp>
        <p:nvSpPr>
          <p:cNvPr id="15" name="Rounded Rectangle 14"/>
          <p:cNvSpPr/>
          <p:nvPr/>
        </p:nvSpPr>
        <p:spPr>
          <a:xfrm>
            <a:off x="10149840" y="1792224"/>
            <a:ext cx="1234440" cy="347472"/>
          </a:xfrm>
          <a:prstGeom prst="round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0" y="179222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其他</a:t>
            </a:r>
          </a:p>
        </p:txBody>
      </p:sp>
      <p:sp>
        <p:nvSpPr>
          <p:cNvPr id="17" name="TextBox 16"/>
          <p:cNvSpPr txBox="1"/>
          <p:nvPr/>
        </p:nvSpPr>
        <p:spPr>
          <a:xfrm>
            <a:off x="6400800" y="2267712"/>
            <a:ext cx="4937760" cy="640080"/>
          </a:xfrm>
          <a:prstGeom prst="rect">
            <a:avLst/>
          </a:prstGeom>
          <a:noFill/>
        </p:spPr>
        <p:txBody>
          <a:bodyPr wrap="square" anchor="t" lIns="0" rIns="0" tIns="0" bIns="0">
            <a:spAutoFit/>
          </a:bodyPr>
          <a:lstStyle/>
          <a:p>
            <a:pPr algn="l">
              <a:lnSpc>
                <a:spcPts val="1500"/>
              </a:lnSpc>
            </a:pPr>
            <a:r>
              <a:rPr sz="1100" b="1">
                <a:solidFill>
                  <a:srgbClr val="5C6679"/>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本公司偵測到APP系統有異常讀取情形，經調查確認，約12萬筆履歷資料遭未經授權讀取。</a:t>
            </a:r>
          </a:p>
        </p:txBody>
      </p:sp>
      <p:sp>
        <p:nvSpPr>
          <p:cNvPr id="18" name="TextBox 17"/>
          <p:cNvSpPr txBox="1"/>
          <p:nvPr/>
        </p:nvSpPr>
        <p:spPr>
          <a:xfrm>
            <a:off x="6400800" y="2926080"/>
            <a:ext cx="4937760" cy="713232"/>
          </a:xfrm>
          <a:prstGeom prst="rect">
            <a:avLst/>
          </a:prstGeom>
          <a:noFill/>
        </p:spPr>
        <p:txBody>
          <a:bodyPr wrap="square" anchor="t" lIns="0" rIns="0" tIns="0" bIns="0">
            <a:spAutoFit/>
          </a:bodyPr>
          <a:lstStyle/>
          <a:p>
            <a:pPr algn="l">
              <a:lnSpc>
                <a:spcPts val="1500"/>
              </a:lnSpc>
            </a:pPr>
            <a:r>
              <a:rPr sz="1100" b="1">
                <a:solidFill>
                  <a:srgbClr val="5C6679"/>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本公司已採取相關防護及阻斷措施，並持續進行資安鑑識及強化資訊安全防護機制。本公司將依調查結果及相關法令辦理後續事宜，如有…</a:t>
            </a:r>
          </a:p>
        </p:txBody>
      </p:sp>
      <p:sp>
        <p:nvSpPr>
          <p:cNvPr id="19" name="Rounded Rectangle 18"/>
          <p:cNvSpPr/>
          <p:nvPr/>
        </p:nvSpPr>
        <p:spPr>
          <a:xfrm>
            <a:off x="548640" y="388620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886200"/>
            <a:ext cx="5394960" cy="109728"/>
          </a:xfrm>
          <a:prstGeom prst="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0565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安心 </a:t>
            </a:r>
            <a:r>
              <a:rPr sz="1300" b="0">
                <a:solidFill>
                  <a:srgbClr val="5C6679"/>
                </a:solidFill>
                <a:latin typeface="Microsoft JhengHei"/>
                <a:ea typeface="Microsoft JhengHei"/>
                <a:cs typeface="Microsoft JhengHei"/>
              </a:rPr>
              <a:t>1259</a:t>
            </a:r>
          </a:p>
        </p:txBody>
      </p:sp>
      <p:sp>
        <p:nvSpPr>
          <p:cNvPr id="22" name="Rounded Rectangle 21"/>
          <p:cNvSpPr/>
          <p:nvPr/>
        </p:nvSpPr>
        <p:spPr>
          <a:xfrm>
            <a:off x="4526280" y="4123944"/>
            <a:ext cx="1234440" cy="347472"/>
          </a:xfrm>
          <a:prstGeom prst="round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412394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個資外洩</a:t>
            </a:r>
          </a:p>
        </p:txBody>
      </p:sp>
      <p:sp>
        <p:nvSpPr>
          <p:cNvPr id="24" name="TextBox 23"/>
          <p:cNvSpPr txBox="1"/>
          <p:nvPr/>
        </p:nvSpPr>
        <p:spPr>
          <a:xfrm>
            <a:off x="777240" y="4599432"/>
            <a:ext cx="4937760" cy="640080"/>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消費者反應疑似個資外洩事件</a:t>
            </a:r>
          </a:p>
        </p:txBody>
      </p:sp>
      <p:sp>
        <p:nvSpPr>
          <p:cNvPr id="25" name="TextBox 24"/>
          <p:cNvSpPr txBox="1"/>
          <p:nvPr/>
        </p:nvSpPr>
        <p:spPr>
          <a:xfrm>
            <a:off x="777240" y="5257800"/>
            <a:ext cx="4937760" cy="713232"/>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本公司已立即針對本次資安事件啟動應變作業。需特別說明，本次疑似個資外洩事件之平台係由委外廠商管理，非屬本公司自有之MOS…</a:t>
            </a:r>
          </a:p>
        </p:txBody>
      </p:sp>
      <p:sp>
        <p:nvSpPr>
          <p:cNvPr id="26" name="Rounded Rectangle 25"/>
          <p:cNvSpPr/>
          <p:nvPr/>
        </p:nvSpPr>
        <p:spPr>
          <a:xfrm>
            <a:off x="6172200" y="388620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886200"/>
            <a:ext cx="5394960" cy="109728"/>
          </a:xfrm>
          <a:prstGeom prst="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10565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神腦 </a:t>
            </a:r>
            <a:r>
              <a:rPr sz="1300" b="0">
                <a:solidFill>
                  <a:srgbClr val="5C6679"/>
                </a:solidFill>
                <a:latin typeface="Microsoft JhengHei"/>
                <a:ea typeface="Microsoft JhengHei"/>
                <a:cs typeface="Microsoft JhengHei"/>
              </a:rPr>
              <a:t>2450</a:t>
            </a:r>
          </a:p>
        </p:txBody>
      </p:sp>
      <p:sp>
        <p:nvSpPr>
          <p:cNvPr id="29" name="Rounded Rectangle 28"/>
          <p:cNvSpPr/>
          <p:nvPr/>
        </p:nvSpPr>
        <p:spPr>
          <a:xfrm>
            <a:off x="10149840" y="4123944"/>
            <a:ext cx="1234440" cy="347472"/>
          </a:xfrm>
          <a:prstGeom prst="roundRect">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0" y="412394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駭客攻擊</a:t>
            </a:r>
          </a:p>
        </p:txBody>
      </p:sp>
      <p:sp>
        <p:nvSpPr>
          <p:cNvPr id="31" name="TextBox 30"/>
          <p:cNvSpPr txBox="1"/>
          <p:nvPr/>
        </p:nvSpPr>
        <p:spPr>
          <a:xfrm>
            <a:off x="6400800" y="4599432"/>
            <a:ext cx="4937760" cy="640080"/>
          </a:xfrm>
          <a:prstGeom prst="rect">
            <a:avLst/>
          </a:prstGeom>
          <a:noFill/>
        </p:spPr>
        <p:txBody>
          <a:bodyPr wrap="square" anchor="t" lIns="0" rIns="0" tIns="0" bIns="0">
            <a:spAutoFit/>
          </a:bodyPr>
          <a:lstStyle/>
          <a:p>
            <a:pPr algn="l">
              <a:lnSpc>
                <a:spcPts val="1500"/>
              </a:lnSpc>
            </a:pPr>
            <a:r>
              <a:rPr sz="1100" b="1">
                <a:solidFill>
                  <a:srgbClr val="E63946"/>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本公司外部伺服器遭受自動化攻擊事件說明。</a:t>
            </a:r>
          </a:p>
        </p:txBody>
      </p:sp>
      <p:sp>
        <p:nvSpPr>
          <p:cNvPr id="32" name="TextBox 31"/>
          <p:cNvSpPr txBox="1"/>
          <p:nvPr/>
        </p:nvSpPr>
        <p:spPr>
          <a:xfrm>
            <a:off x="6400800" y="5257800"/>
            <a:ext cx="4937760" cy="713232"/>
          </a:xfrm>
          <a:prstGeom prst="rect">
            <a:avLst/>
          </a:prstGeom>
          <a:noFill/>
        </p:spPr>
        <p:txBody>
          <a:bodyPr wrap="square" anchor="t" lIns="0" rIns="0" tIns="0" bIns="0">
            <a:spAutoFit/>
          </a:bodyPr>
          <a:lstStyle/>
          <a:p>
            <a:pPr algn="l">
              <a:lnSpc>
                <a:spcPts val="1500"/>
              </a:lnSpc>
            </a:pPr>
            <a:r>
              <a:rPr sz="1100" b="1">
                <a:solidFill>
                  <a:srgbClr val="E63946"/>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本公司已與第三方資安廠商合作，全面強化網路偵測、系統監控與安全管控，以確保資訊安全。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9144000" cy="640080"/>
          </a:xfrm>
          <a:prstGeom prst="rect">
            <a:avLst/>
          </a:prstGeom>
          <a:noFill/>
        </p:spPr>
        <p:txBody>
          <a:bodyPr wrap="square" anchor="t" lIns="0" rIns="0" tIns="0" bIns="0">
            <a:spAutoFit/>
          </a:bodyPr>
          <a:lstStyle/>
          <a:p>
            <a:pPr algn="l"/>
            <a:r>
              <a:rPr sz="3000" b="1">
                <a:solidFill>
                  <a:srgbClr val="1A2233"/>
                </a:solidFill>
                <a:latin typeface="Microsoft JhengHei"/>
                <a:ea typeface="Microsoft JhengHei"/>
                <a:cs typeface="Microsoft JhengHei"/>
              </a:rPr>
              <a:t>個案因應重點（4）</a:t>
            </a:r>
          </a:p>
        </p:txBody>
      </p:sp>
      <p:sp>
        <p:nvSpPr>
          <p:cNvPr id="4" name="TextBox 3"/>
          <p:cNvSpPr txBox="1"/>
          <p:nvPr/>
        </p:nvSpPr>
        <p:spPr>
          <a:xfrm>
            <a:off x="566928" y="1005840"/>
            <a:ext cx="10058400" cy="365760"/>
          </a:xfrm>
          <a:prstGeom prst="rect">
            <a:avLst/>
          </a:prstGeom>
          <a:noFill/>
        </p:spPr>
        <p:txBody>
          <a:bodyPr wrap="square" anchor="t" lIns="0" rIns="0" tIns="0" bIns="0">
            <a:spAutoFit/>
          </a:bodyPr>
          <a:lstStyle/>
          <a:p>
            <a:pPr algn="l"/>
            <a:r>
              <a:rPr sz="1300" b="0">
                <a:solidFill>
                  <a:srgbClr val="5C6679"/>
                </a:solidFill>
                <a:latin typeface="Microsoft JhengHei"/>
                <a:ea typeface="Microsoft JhengHei"/>
                <a:cs typeface="Microsoft JhengHei"/>
              </a:rPr>
              <a:t>各公司公告之發生緣由與因應措施摘要</a:t>
            </a:r>
          </a:p>
        </p:txBody>
      </p:sp>
      <p:sp>
        <p:nvSpPr>
          <p:cNvPr id="5" name="Rounded Rectangle 4"/>
          <p:cNvSpPr/>
          <p:nvPr/>
        </p:nvSpPr>
        <p:spPr>
          <a:xfrm>
            <a:off x="548640" y="155448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394960" cy="109728"/>
          </a:xfrm>
          <a:prstGeom prst="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7393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鈊象 </a:t>
            </a:r>
            <a:r>
              <a:rPr sz="1300" b="0">
                <a:solidFill>
                  <a:srgbClr val="5C6679"/>
                </a:solidFill>
                <a:latin typeface="Microsoft JhengHei"/>
                <a:ea typeface="Microsoft JhengHei"/>
                <a:cs typeface="Microsoft JhengHei"/>
              </a:rPr>
              <a:t>3293</a:t>
            </a:r>
          </a:p>
        </p:txBody>
      </p:sp>
      <p:sp>
        <p:nvSpPr>
          <p:cNvPr id="8" name="Rounded Rectangle 7"/>
          <p:cNvSpPr/>
          <p:nvPr/>
        </p:nvSpPr>
        <p:spPr>
          <a:xfrm>
            <a:off x="4526280" y="1792224"/>
            <a:ext cx="1234440" cy="347472"/>
          </a:xfrm>
          <a:prstGeom prst="roundRect">
            <a:avLst/>
          </a:prstGeom>
          <a:solidFill>
            <a:srgbClr val="5C66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9222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其他</a:t>
            </a:r>
          </a:p>
        </p:txBody>
      </p:sp>
      <p:sp>
        <p:nvSpPr>
          <p:cNvPr id="10" name="TextBox 9"/>
          <p:cNvSpPr txBox="1"/>
          <p:nvPr/>
        </p:nvSpPr>
        <p:spPr>
          <a:xfrm>
            <a:off x="777240" y="2267712"/>
            <a:ext cx="4937760" cy="640080"/>
          </a:xfrm>
          <a:prstGeom prst="rect">
            <a:avLst/>
          </a:prstGeom>
          <a:noFill/>
        </p:spPr>
        <p:txBody>
          <a:bodyPr wrap="square" anchor="t" lIns="0" rIns="0" tIns="0" bIns="0">
            <a:spAutoFit/>
          </a:bodyPr>
          <a:lstStyle/>
          <a:p>
            <a:pPr algn="l">
              <a:lnSpc>
                <a:spcPts val="1500"/>
              </a:lnSpc>
            </a:pPr>
            <a:r>
              <a:rPr sz="1100" b="1">
                <a:solidFill>
                  <a:srgbClr val="5C6679"/>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本公司於115年9月29日發現不明IP異常侵入公司營運資訊設備。</a:t>
            </a:r>
          </a:p>
        </p:txBody>
      </p:sp>
      <p:sp>
        <p:nvSpPr>
          <p:cNvPr id="11" name="TextBox 10"/>
          <p:cNvSpPr txBox="1"/>
          <p:nvPr/>
        </p:nvSpPr>
        <p:spPr>
          <a:xfrm>
            <a:off x="777240" y="2926080"/>
            <a:ext cx="4937760" cy="713232"/>
          </a:xfrm>
          <a:prstGeom prst="rect">
            <a:avLst/>
          </a:prstGeom>
          <a:noFill/>
        </p:spPr>
        <p:txBody>
          <a:bodyPr wrap="square" anchor="t" lIns="0" rIns="0" tIns="0" bIns="0">
            <a:spAutoFit/>
          </a:bodyPr>
          <a:lstStyle/>
          <a:p>
            <a:pPr algn="l">
              <a:lnSpc>
                <a:spcPts val="1500"/>
              </a:lnSpc>
            </a:pPr>
            <a:r>
              <a:rPr sz="1100" b="1">
                <a:solidFill>
                  <a:srgbClr val="5C6679"/>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持續提升資安防禦，強化監控與防護層級。</a:t>
            </a:r>
          </a:p>
        </p:txBody>
      </p:sp>
      <p:sp>
        <p:nvSpPr>
          <p:cNvPr id="12" name="Rounded Rectangle 11"/>
          <p:cNvSpPr/>
          <p:nvPr/>
        </p:nvSpPr>
        <p:spPr>
          <a:xfrm>
            <a:off x="6172200" y="1554480"/>
            <a:ext cx="5394960" cy="2148840"/>
          </a:xfrm>
          <a:prstGeom prst="roundRect">
            <a:avLst/>
          </a:prstGeom>
          <a:solidFill>
            <a:srgbClr val="FFFFFF"/>
          </a:solidFill>
          <a:ln w="12700">
            <a:solidFill>
              <a:srgbClr val="DD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554480"/>
            <a:ext cx="5394960" cy="109728"/>
          </a:xfrm>
          <a:prstGeom prst="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73936"/>
            <a:ext cx="3657600" cy="365760"/>
          </a:xfrm>
          <a:prstGeom prst="rect">
            <a:avLst/>
          </a:prstGeom>
          <a:noFill/>
        </p:spPr>
        <p:txBody>
          <a:bodyPr wrap="square" anchor="ctr" lIns="0" rIns="0" tIns="0" bIns="0">
            <a:spAutoFit/>
          </a:bodyPr>
          <a:lstStyle/>
          <a:p>
            <a:pPr algn="l"/>
            <a:r>
              <a:rPr sz="1600" b="1">
                <a:solidFill>
                  <a:srgbClr val="1A2233"/>
                </a:solidFill>
                <a:latin typeface="Microsoft JhengHei"/>
                <a:ea typeface="Microsoft JhengHei"/>
                <a:cs typeface="Microsoft JhengHei"/>
              </a:rPr>
              <a:t>柏文 </a:t>
            </a:r>
            <a:r>
              <a:rPr sz="1300" b="0">
                <a:solidFill>
                  <a:srgbClr val="5C6679"/>
                </a:solidFill>
                <a:latin typeface="Microsoft JhengHei"/>
                <a:ea typeface="Microsoft JhengHei"/>
                <a:cs typeface="Microsoft JhengHei"/>
              </a:rPr>
              <a:t>8462</a:t>
            </a:r>
          </a:p>
        </p:txBody>
      </p:sp>
      <p:sp>
        <p:nvSpPr>
          <p:cNvPr id="15" name="Rounded Rectangle 14"/>
          <p:cNvSpPr/>
          <p:nvPr/>
        </p:nvSpPr>
        <p:spPr>
          <a:xfrm>
            <a:off x="10149840" y="1792224"/>
            <a:ext cx="1234440" cy="347472"/>
          </a:xfrm>
          <a:prstGeom prst="roundRect">
            <a:avLst/>
          </a:prstGeom>
          <a:solidFill>
            <a:srgbClr val="27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0" y="1792224"/>
            <a:ext cx="1234440" cy="347472"/>
          </a:xfrm>
          <a:prstGeom prst="rect">
            <a:avLst/>
          </a:prstGeom>
          <a:noFill/>
        </p:spPr>
        <p:txBody>
          <a:bodyPr wrap="square" anchor="ctr" lIns="0" rIns="0" tIns="0" bIns="0">
            <a:spAutoFit/>
          </a:bodyPr>
          <a:lstStyle/>
          <a:p>
            <a:pPr algn="ctr"/>
            <a:r>
              <a:rPr sz="1050" b="1">
                <a:solidFill>
                  <a:srgbClr val="FFFFFF"/>
                </a:solidFill>
                <a:latin typeface="Microsoft JhengHei"/>
                <a:ea typeface="Microsoft JhengHei"/>
                <a:cs typeface="Microsoft JhengHei"/>
              </a:rPr>
              <a:t>個資外洩</a:t>
            </a:r>
          </a:p>
        </p:txBody>
      </p:sp>
      <p:sp>
        <p:nvSpPr>
          <p:cNvPr id="17" name="TextBox 16"/>
          <p:cNvSpPr txBox="1"/>
          <p:nvPr/>
        </p:nvSpPr>
        <p:spPr>
          <a:xfrm>
            <a:off x="6400800" y="2267712"/>
            <a:ext cx="4937760" cy="640080"/>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緣由　</a:t>
            </a:r>
            <a:r>
              <a:rPr sz="1100" b="0">
                <a:solidFill>
                  <a:srgbClr val="1A2233"/>
                </a:solidFill>
                <a:latin typeface="Microsoft JhengHei"/>
                <a:ea typeface="Microsoft JhengHei"/>
                <a:cs typeface="Microsoft JhengHei"/>
              </a:rPr>
              <a:t>本公司接獲系統委外廠商通知其對外服務系統遭自動化攻擊，並對客戶資料表分頁擷取，其中部分涉及本公司…</a:t>
            </a:r>
          </a:p>
        </p:txBody>
      </p:sp>
      <p:sp>
        <p:nvSpPr>
          <p:cNvPr id="18" name="TextBox 17"/>
          <p:cNvSpPr txBox="1"/>
          <p:nvPr/>
        </p:nvSpPr>
        <p:spPr>
          <a:xfrm>
            <a:off x="6400800" y="2926080"/>
            <a:ext cx="4937760" cy="713232"/>
          </a:xfrm>
          <a:prstGeom prst="rect">
            <a:avLst/>
          </a:prstGeom>
          <a:noFill/>
        </p:spPr>
        <p:txBody>
          <a:bodyPr wrap="square" anchor="t" lIns="0" rIns="0" tIns="0" bIns="0">
            <a:spAutoFit/>
          </a:bodyPr>
          <a:lstStyle/>
          <a:p>
            <a:pPr algn="l">
              <a:lnSpc>
                <a:spcPts val="1500"/>
              </a:lnSpc>
            </a:pPr>
            <a:r>
              <a:rPr sz="1100" b="1">
                <a:solidFill>
                  <a:srgbClr val="27A6C4"/>
                </a:solidFill>
                <a:latin typeface="Microsoft JhengHei"/>
                <a:ea typeface="Microsoft JhengHei"/>
                <a:cs typeface="Microsoft JhengHei"/>
              </a:rPr>
              <a:t>因應　</a:t>
            </a:r>
            <a:r>
              <a:rPr sz="1100" b="0">
                <a:solidFill>
                  <a:srgbClr val="1A2233"/>
                </a:solidFill>
                <a:latin typeface="Microsoft JhengHei"/>
                <a:ea typeface="Microsoft JhengHei"/>
                <a:cs typeface="Microsoft JhengHei"/>
              </a:rPr>
              <a:t>本公司已要求系統委外廠商重新檢視造成資安疑慮因子並加以防範，同時持續針對系統委外廠商加強監控。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