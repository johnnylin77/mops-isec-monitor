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5C6679"/>
              </a:solidFill>
            </c:spPr>
          </c:dPt>
          <c:cat>
            <c:strRef>
              <c:f>Sheet1!$A$2:$A$3</c:f>
              <c:strCache>
                <c:ptCount val="2"/>
                <c:pt idx="0">
                  <c:v>駭客攻擊</c:v>
                </c:pt>
                <c:pt idx="1">
                  <c:v>其他</c:v>
                </c:pt>
              </c:strCache>
            </c:strRef>
          </c:cat>
          <c:val>
            <c:numRef>
              <c:f>Sheet1!$B$2:$B$3</c:f>
              <c:numCache>
                <c:formatCode>General</c:formatCode>
                <c:ptCount val="2"/>
                <c:pt idx="0">
                  <c:v>4</c:v>
                </c:pt>
                <c:pt idx="1">
                  <c:v>3</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2026-06-25 ~ 2026-07-25　｜　MOPS 重大訊息全文檢索　｜　7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7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7</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2</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072384"/>
        </p:xfrm>
        <a:graphic>
          <a:graphicData uri="http://schemas.openxmlformats.org/drawingml/2006/table">
            <a:tbl>
              <a:tblPr>
                <a:tableStyleId>{5C22544A-7EE6-4342-B048-85BDC9FD1C3A}</a:tableStyleId>
              </a:tblPr>
              <a:tblGrid>
                <a:gridCol w="1828800"/>
                <a:gridCol w="868680"/>
                <a:gridCol w="960120"/>
                <a:gridCol w="2286000"/>
                <a:gridCol w="5120640"/>
              </a:tblGrid>
              <a:tr h="384048">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384048">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07/21</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經評估對公司營運無重大影響。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07/20</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經評估對公司營運無重大影響。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松上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6156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07/17</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優盛</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4121</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07/07</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本資訊網站已暫時停止服務，該事件對公司營運、資訊安全、個資等無重大影…</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麗清</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3346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07/02</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目前初步評估對公司運作無重大影響。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GOGOLOOK</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6902</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07/01</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網家</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8044</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07/01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a:t>
                      </a:r>
                    </a:p>
                  </a:txBody>
                  <a:tcPr anchor="ctr" marL="73152" marT="9144" marB="9144">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4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松上、優盛、麗清、網家</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3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淳安、淳安、GOGOLOOK</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3657600"/>
        </p:xfrm>
        <a:graphic>
          <a:graphicData uri="http://schemas.openxmlformats.org/drawingml/2006/table">
            <a:tbl>
              <a:tblPr>
                <a:tableStyleId>{5C22544A-7EE6-4342-B048-85BDC9FD1C3A}</a:tableStyleId>
              </a:tblPr>
              <a:tblGrid>
                <a:gridCol w="1828800"/>
                <a:gridCol w="868680"/>
                <a:gridCol w="2103120"/>
                <a:gridCol w="3383280"/>
                <a:gridCol w="2606040"/>
              </a:tblGrid>
              <a:tr h="457200">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457200">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林永智、廖福銘</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林永智、廖福銘</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松上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6156</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羅筱靖、陳國帥</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優盛</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4121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鄒依芸、毛聖崴</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麗清</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3346</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陳致源、黃堯麟</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GOGOLOOK</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6902</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吳尚燉、王昱欣</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網家</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8044</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廖容翎、梁嬋女</a:t>
                      </a:r>
                    </a:p>
                  </a:txBody>
                  <a:tcPr anchor="ctr" marL="73152" marT="9144" marB="914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淳安 </a:t>
            </a:r>
            <a:r>
              <a:rPr sz="1300" b="0">
                <a:solidFill>
                  <a:srgbClr val="5C6679"/>
                </a:solidFill>
                <a:latin typeface="Microsoft JhengHei"/>
                <a:ea typeface="Microsoft JhengHei"/>
                <a:cs typeface="Microsoft JhengHei"/>
              </a:rPr>
              <a:t>6283</a:t>
            </a:r>
          </a:p>
        </p:txBody>
      </p:sp>
      <p:sp>
        <p:nvSpPr>
          <p:cNvPr id="8" name="Rounded Rectangle 7"/>
          <p:cNvSpPr/>
          <p:nvPr/>
        </p:nvSpPr>
        <p:spPr>
          <a:xfrm>
            <a:off x="452628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本公司網路資安事件說明</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淳安 </a:t>
            </a:r>
            <a:r>
              <a:rPr sz="1300" b="0">
                <a:solidFill>
                  <a:srgbClr val="5C6679"/>
                </a:solidFill>
                <a:latin typeface="Microsoft JhengHei"/>
                <a:ea typeface="Microsoft JhengHei"/>
                <a:cs typeface="Microsoft JhengHei"/>
              </a:rPr>
              <a:t>6283</a:t>
            </a:r>
          </a:p>
        </p:txBody>
      </p:sp>
      <p:sp>
        <p:nvSpPr>
          <p:cNvPr id="15" name="Rounded Rectangle 14"/>
          <p:cNvSpPr/>
          <p:nvPr/>
        </p:nvSpPr>
        <p:spPr>
          <a:xfrm>
            <a:off x="1014984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本公司網路資安事件說明</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松上 </a:t>
            </a:r>
            <a:r>
              <a:rPr sz="1300" b="0">
                <a:solidFill>
                  <a:srgbClr val="5C6679"/>
                </a:solidFill>
                <a:latin typeface="Microsoft JhengHei"/>
                <a:ea typeface="Microsoft JhengHei"/>
                <a:cs typeface="Microsoft JhengHei"/>
              </a:rPr>
              <a:t>6156</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本公司使用之部分資訊系統遭受駭客網路攻擊。</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本公司後續仍將持續提升網路與資訊基礎架構之安全管控以確保資訊安全。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優盛 </a:t>
            </a:r>
            <a:r>
              <a:rPr sz="1300" b="0">
                <a:solidFill>
                  <a:srgbClr val="5C6679"/>
                </a:solidFill>
                <a:latin typeface="Microsoft JhengHei"/>
                <a:ea typeface="Microsoft JhengHei"/>
                <a:cs typeface="Microsoft JhengHei"/>
              </a:rPr>
              <a:t>4121</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本公司之官網於今天下午遭受網路駭客攻擊</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麗清 </a:t>
            </a:r>
            <a:r>
              <a:rPr sz="1300" b="0">
                <a:solidFill>
                  <a:srgbClr val="5C6679"/>
                </a:solidFill>
                <a:latin typeface="Microsoft JhengHei"/>
                <a:ea typeface="Microsoft JhengHei"/>
                <a:cs typeface="Microsoft JhengHei"/>
              </a:rPr>
              <a:t>3346</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本公司部份資訊系統遭受駭客網路攻擊。</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修復安全漏洞並持續提升網路與資訊基礎架構之安全管控以確保資訊安全。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GOGOLOOK </a:t>
            </a:r>
            <a:r>
              <a:rPr sz="1300" b="0">
                <a:solidFill>
                  <a:srgbClr val="5C6679"/>
                </a:solidFill>
                <a:latin typeface="Microsoft JhengHei"/>
                <a:ea typeface="Microsoft JhengHei"/>
                <a:cs typeface="Microsoft JhengHei"/>
              </a:rPr>
              <a:t>6902</a:t>
            </a:r>
          </a:p>
        </p:txBody>
      </p:sp>
      <p:sp>
        <p:nvSpPr>
          <p:cNvPr id="15" name="Rounded Rectangle 14"/>
          <p:cNvSpPr/>
          <p:nvPr/>
        </p:nvSpPr>
        <p:spPr>
          <a:xfrm>
            <a:off x="1014984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本公司發生網路資安事件。</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本公司後續仍持續強化資安管控及防禦機制，確保資訊安全與服務體驗。</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網家 </a:t>
            </a:r>
            <a:r>
              <a:rPr sz="1300" b="0">
                <a:solidFill>
                  <a:srgbClr val="5C6679"/>
                </a:solidFill>
                <a:latin typeface="Microsoft JhengHei"/>
                <a:ea typeface="Microsoft JhengHei"/>
                <a:cs typeface="Microsoft JhengHei"/>
              </a:rPr>
              <a:t>8044</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公司對該等報導或提供訊息之說明:(1)資訊安全防線：本公司及各轉投資事業係依不同服務型態各自營運…</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(1)全面啟動應變與調查：拍付國際獲悉駭客聲稱之入侵及勒索訊息後，已立即啟動資安應變程序，會同資安專家進行全面系統檢測與…</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