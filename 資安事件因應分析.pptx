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F4A261"/>
              </a:solidFill>
            </c:spPr>
          </c:dPt>
          <c:cat>
            <c:strRef>
              <c:f>Sheet1!$A$2:$A$3</c:f>
              <c:strCache>
                <c:ptCount val="2"/>
                <c:pt idx="0">
                  <c:v>駭客攻擊</c:v>
                </c:pt>
                <c:pt idx="1">
                  <c:v>勒索病毒/加密</c:v>
                </c:pt>
              </c:strCache>
            </c:strRef>
          </c:cat>
          <c:val>
            <c:numRef>
              <c:f>Sheet1!$B$2:$B$3</c:f>
              <c:numCache>
                <c:formatCode>General</c:formatCode>
                <c:ptCount val="2"/>
                <c:pt idx="0">
                  <c:v>5</c:v>
                </c:pt>
                <c:pt idx="1">
                  <c:v>2</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2026-08-12 ~ 2026-09-12　｜　MOPS 重大訊息全文檢索　｜　7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7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7</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2</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072384"/>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09/11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受影響系統非屬公司現行主要營運系統，亦非對外提供服務之系統，目前評估…</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09/09</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經初步評估，本事件目前尚未對本公司整體營運及財務造成重大影響。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09/07</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09/02</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目前受影響之系統正陸續復原中，對公司整體營運及財務之影響程度尚不致有…</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08/31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本公司目前正積極會同技術專家協助調查，初步評估對公司營運暫無重大影響…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08/20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08/19</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5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達爾膚、大車隊、杭特、數字、上詮</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勒索病毒/加密</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F4A261"/>
                </a:solidFill>
                <a:latin typeface="Microsoft JhengHei"/>
                <a:ea typeface="Microsoft JhengHei"/>
                <a:cs typeface="Microsoft JhengHei"/>
              </a:rPr>
              <a:t>2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富爾特、創新服務</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伺服器資料遭加密，須系統隔離與資料復原</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36576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達爾膚</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6523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于智帆、葉翠苗</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大車隊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2640</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支秉鈞、涂展源</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富爾特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6136</a:t>
                      </a:r>
                    </a:p>
                  </a:txBody>
                  <a:tcPr anchor="ctr" marL="73152" marT="9144" marB="9144">
                    <a:solidFill>
                      <a:srgbClr val="FFFFFF"/>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許新民、余倩如</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創新服務</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7828</a:t>
                      </a:r>
                    </a:p>
                  </a:txBody>
                  <a:tcPr anchor="ctr" marL="73152" marT="9144" marB="9144">
                    <a:solidFill>
                      <a:srgbClr val="EEF2F9"/>
                    </a:solidFill>
                  </a:tcPr>
                </a:tc>
                <a:tc>
                  <a:txBody>
                    <a:bodyPr/>
                    <a:lstStyle/>
                    <a:p>
                      <a:r>
                        <a:rPr sz="1150" b="1">
                          <a:solidFill>
                            <a:srgbClr val="F4A261"/>
                          </a:solidFill>
                          <a:latin typeface="Microsoft JhengHei"/>
                          <a:ea typeface="Microsoft JhengHei"/>
                          <a:cs typeface="Microsoft JhengHei"/>
                        </a:rPr>
                        <a:t>勒索病毒/加密</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蔡欣怡、白淑蒨</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杭特</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3297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陳憲正、林瑟凱</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數字</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5287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羅瑞芝、余聖河</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上詮</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3363</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白淑蒨、李典易</a:t>
                      </a:r>
                    </a:p>
                  </a:txBody>
                  <a:tcPr anchor="ctr" marL="73152" marT="9144" marB="914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達爾膚 </a:t>
            </a:r>
            <a:r>
              <a:rPr sz="1300" b="0">
                <a:solidFill>
                  <a:srgbClr val="5C6679"/>
                </a:solidFill>
                <a:latin typeface="Microsoft JhengHei"/>
                <a:ea typeface="Microsoft JhengHei"/>
                <a:cs typeface="Microsoft JhengHei"/>
              </a:rPr>
              <a:t>6523</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本公司部分內部資訊系統遭受網路攻擊事件，初步評估對公司營運無重大影響。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本公司將持續強化網路與資訊基礎架構之安全管控，以確保資訊安全。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大車隊 </a:t>
            </a:r>
            <a:r>
              <a:rPr sz="1300" b="0">
                <a:solidFill>
                  <a:srgbClr val="5C6679"/>
                </a:solidFill>
                <a:latin typeface="Microsoft JhengHei"/>
                <a:ea typeface="Microsoft JhengHei"/>
                <a:cs typeface="Microsoft JhengHei"/>
              </a:rPr>
              <a:t>2640</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本公司重要子公司全球商務科技股份有限公司於今日發現部分資訊系統遭受網路攻擊，已立即啟動資安應變機…</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公司將持續進行資安鑑識、系統安全強化及相關風險控管作業，受影響系統預期可於短期內逐步恢復正常運作；後續如調查結果或事件發…</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富爾特 </a:t>
            </a:r>
            <a:r>
              <a:rPr sz="1300" b="0">
                <a:solidFill>
                  <a:srgbClr val="5C6679"/>
                </a:solidFill>
                <a:latin typeface="Microsoft JhengHei"/>
                <a:ea typeface="Microsoft JhengHei"/>
                <a:cs typeface="Microsoft JhengHei"/>
              </a:rPr>
              <a:t>6136</a:t>
            </a:r>
          </a:p>
        </p:txBody>
      </p:sp>
      <p:sp>
        <p:nvSpPr>
          <p:cNvPr id="22" name="Rounded Rectangle 21"/>
          <p:cNvSpPr/>
          <p:nvPr/>
        </p:nvSpPr>
        <p:spPr>
          <a:xfrm>
            <a:off x="452628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本公司之子公司格帝控股股份有限公司偵測到部份伺服器遭受網路勒索病毒攻擊，致使包含ERP在內之部份…</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本公司及所屬子公司將持續密集監控，並強化網路與資訊基礎架構之管控，以確保資訊系統安全。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創新服務 </a:t>
            </a:r>
            <a:r>
              <a:rPr sz="1300" b="0">
                <a:solidFill>
                  <a:srgbClr val="5C6679"/>
                </a:solidFill>
                <a:latin typeface="Microsoft JhengHei"/>
                <a:ea typeface="Microsoft JhengHei"/>
                <a:cs typeface="Microsoft JhengHei"/>
              </a:rPr>
              <a:t>7828</a:t>
            </a:r>
          </a:p>
        </p:txBody>
      </p:sp>
      <p:sp>
        <p:nvSpPr>
          <p:cNvPr id="29" name="Rounded Rectangle 28"/>
          <p:cNvSpPr/>
          <p:nvPr/>
        </p:nvSpPr>
        <p:spPr>
          <a:xfrm>
            <a:off x="10149840" y="4123944"/>
            <a:ext cx="1234440" cy="347472"/>
          </a:xfrm>
          <a:prstGeom prst="roundRect">
            <a:avLst/>
          </a:prstGeom>
          <a:solidFill>
            <a:srgbClr val="F4A2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勒索病毒/加密</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本公司於今日偵測到部份伺服器遭受網路勒索病毒攻擊，致使包含ERP在內之部份資訊系統無法正常運作。</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F4A261"/>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本公司將持續密集監控，並強化網路與資訊基礎架構之管控，以確保資訊系統安全。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杭特 </a:t>
            </a:r>
            <a:r>
              <a:rPr sz="1300" b="0">
                <a:solidFill>
                  <a:srgbClr val="5C6679"/>
                </a:solidFill>
                <a:latin typeface="Microsoft JhengHei"/>
                <a:ea typeface="Microsoft JhengHei"/>
                <a:cs typeface="Microsoft JhengHei"/>
              </a:rPr>
              <a:t>3297</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本公司資訊系統遭受駭客網路攻擊，初步評估對公司營運暫無重大影響。</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數字 </a:t>
            </a:r>
            <a:r>
              <a:rPr sz="1300" b="0">
                <a:solidFill>
                  <a:srgbClr val="5C6679"/>
                </a:solidFill>
                <a:latin typeface="Microsoft JhengHei"/>
                <a:ea typeface="Microsoft JhengHei"/>
                <a:cs typeface="Microsoft JhengHei"/>
              </a:rPr>
              <a:t>5287</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本公司於115年8月20日發現591網站登入行為異常，經查發現外部攻擊者利用登入機制之弱點，繞過…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(1)依據安全軟體發展生命週期（SSDLC）框架，持續優化系統開發流程及資安檢視機制。(2)強化登入驗證、存取控制及異常…</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上詮 </a:t>
            </a:r>
            <a:r>
              <a:rPr sz="1300" b="0">
                <a:solidFill>
                  <a:srgbClr val="5C6679"/>
                </a:solidFill>
                <a:latin typeface="Microsoft JhengHei"/>
                <a:ea typeface="Microsoft JhengHei"/>
                <a:cs typeface="Microsoft JhengHei"/>
              </a:rPr>
              <a:t>3363</a:t>
            </a:r>
          </a:p>
        </p:txBody>
      </p:sp>
      <p:sp>
        <p:nvSpPr>
          <p:cNvPr id="22" name="Rounded Rectangle 21"/>
          <p:cNvSpPr/>
          <p:nvPr/>
        </p:nvSpPr>
        <p:spPr>
          <a:xfrm>
            <a:off x="452628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本公司資訊系統遭受駭客網路攻擊，部分主機與電腦遭受病毒攻擊。</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本公司已於第一時間啟動資安防禦，並對網路攻擊進行清查，亦同步持續檢視與提升網路與資訊基礎架構之安全控管，以確保資訊安全。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